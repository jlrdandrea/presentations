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33"/>
                </a:solidFill>
                <a:latin typeface="Arial"/>
              </a:defRPr>
            </a:pPr>
            <a:r>
              <a:rPr sz="1200" b="0" i="0" u="none" strike="noStrike">
                <a:solidFill>
                  <a:srgbClr val="0B1F33"/>
                </a:solidFill>
                <a:latin typeface="Arial"/>
              </a:rPr>
              <a:t>Remaining work (story points)</a:t>
            </a:r>
          </a:p>
        </c:rich>
      </c:tx>
      <c:layout/>
      <c:overlay val="0"/>
    </c:title>
    <c:autoTitleDeleted val="0"/>
    <c:plotArea>
      <c:layout/>
      <c:lineChart>
        <c:varyColors val="0"/>
        <c:ser>
          <c:idx val="0"/>
          <c:order val="0"/>
          <c:tx>
            <c:strRef>
              <c:f>Sheet1!$B$1</c:f>
              <c:strCache>
                <c:ptCount val="1"/>
                <c:pt idx="0">
                  <c:v>Ideal</c:v>
                </c:pt>
              </c:strCache>
            </c:strRef>
          </c:tx>
          <c:spPr>
            <a:solidFill>
              <a:srgbClr val="9AA8B5"/>
            </a:solidFill>
            <a:ln w="31750" cap="flat">
              <a:solidFill>
                <a:srgbClr val="9AA8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9AA8B5"/>
              </a:solidFill>
              <a:ln w="9525" cap="flat">
                <a:solidFill>
                  <a:srgbClr val="9AA8B5"/>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Sheet1!$B$2:$B$11</c:f>
              <c:numCache>
                <c:formatCode>General</c:formatCode>
                <c:ptCount val="10"/>
                <c:pt idx="0">
                  <c:v>40</c:v>
                </c:pt>
                <c:pt idx="1">
                  <c:v>36</c:v>
                </c:pt>
                <c:pt idx="2">
                  <c:v>32</c:v>
                </c:pt>
                <c:pt idx="3">
                  <c:v>28</c:v>
                </c:pt>
                <c:pt idx="4">
                  <c:v>24</c:v>
                </c:pt>
                <c:pt idx="5">
                  <c:v>20</c:v>
                </c:pt>
                <c:pt idx="6">
                  <c:v>16</c:v>
                </c:pt>
                <c:pt idx="7">
                  <c:v>12</c:v>
                </c:pt>
                <c:pt idx="8">
                  <c:v>8</c:v>
                </c:pt>
                <c:pt idx="9">
                  <c:v>4</c:v>
                </c:pt>
              </c:numCache>
            </c:numRef>
          </c:val>
          <c:smooth val="0"/>
        </c:ser>
        <c:ser>
          <c:idx val="1"/>
          <c:order val="1"/>
          <c:tx>
            <c:strRef>
              <c:f>Sheet1!$C$1</c:f>
              <c:strCache>
                <c:ptCount val="1"/>
                <c:pt idx="0">
                  <c:v>Actual</c:v>
                </c:pt>
              </c:strCache>
            </c:strRef>
          </c:tx>
          <c:spPr>
            <a:solidFill>
              <a:srgbClr val="0A8F8F"/>
            </a:solidFill>
            <a:ln w="31750" cap="flat">
              <a:solidFill>
                <a:srgbClr val="0A8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A8F8F"/>
              </a:solidFill>
              <a:ln w="9525" cap="flat">
                <a:solidFill>
                  <a:srgbClr val="0A8F8F"/>
                </a:solidFill>
                <a:prstDash val="solid"/>
                <a:round/>
              </a:ln>
              <a:effectLst/>
            </c:spPr>
          </c:marker>
          <c:cat>
            <c:multiLvlStrRef>
              <c:f>Sheet1!$A$2:$A$11</c:f>
              <c:multiLvlStrCache>
                <c:ptCount val="10"/>
                <c:lvl>
                  <c:pt idx="0">
                    <c:v>D1</c:v>
                  </c:pt>
                  <c:pt idx="1">
                    <c:v>D2</c:v>
                  </c:pt>
                  <c:pt idx="2">
                    <c:v>D3</c:v>
                  </c:pt>
                  <c:pt idx="3">
                    <c:v>D4</c:v>
                  </c:pt>
                  <c:pt idx="4">
                    <c:v>D5</c:v>
                  </c:pt>
                  <c:pt idx="5">
                    <c:v>D6</c:v>
                  </c:pt>
                  <c:pt idx="6">
                    <c:v>D7</c:v>
                  </c:pt>
                  <c:pt idx="7">
                    <c:v>D8</c:v>
                  </c:pt>
                  <c:pt idx="8">
                    <c:v>D9</c:v>
                  </c:pt>
                  <c:pt idx="9">
                    <c:v>D10</c:v>
                  </c:pt>
                </c:lvl>
              </c:multiLvlStrCache>
            </c:multiLvlStrRef>
          </c:cat>
          <c:val>
            <c:numRef>
              <c:f>Sheet1!$C$2:$C$11</c:f>
              <c:numCache>
                <c:formatCode>General</c:formatCode>
                <c:ptCount val="10"/>
                <c:pt idx="0">
                  <c:v>40</c:v>
                </c:pt>
                <c:pt idx="1">
                  <c:v>39</c:v>
                </c:pt>
                <c:pt idx="2">
                  <c:v>35</c:v>
                </c:pt>
                <c:pt idx="3">
                  <c:v>34</c:v>
                </c:pt>
                <c:pt idx="4">
                  <c:v>33</c:v>
                </c:pt>
                <c:pt idx="5">
                  <c:v>27</c:v>
                </c:pt>
                <c:pt idx="6">
                  <c:v>22</c:v>
                </c:pt>
                <c:pt idx="7">
                  <c:v>15</c:v>
                </c:pt>
                <c:pt idx="8">
                  <c:v>9</c:v>
                </c:pt>
                <c:pt idx="9">
                  <c:v>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E7E"/>
                </a:solidFill>
                <a:latin typeface="Arial"/>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36"/>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group. Purpose: give every new joiner a shared, accurate understanding of Scrum as defined in the 2020 Scrum Guide, and how we apply it on our projects. Duration: approximately 90 minutes including 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Emphasise that the session is practical: by the end, participants should be able to take part in every Scrum event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Scrum does not remove planning, it distributes planning across the project. Ask the group for an example of a project where late feedback caused rework.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of the module. Trace one backlog item from the Product Backlog through to the Increment and then show how Review and Retrospective feed the next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pillars are the mechanism and the values are the behaviours. Without openness and courage, transparency collapses and inspection becomes theatre.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these are accountabilities, not job titles. "Developers" includes anyone doing the work: analysts, testers, designers, engineers. There are no sub-teams or hierarchies within the Scrum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Timeboxes are maximums, not targets. Shorter Sprints usually mean proportionally shorter events. Our projects default to two-week Sprints unless agreed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Sprint Goal is outcome-focused, e.g. "Customers can reset their own password" rather than "Complete stories 101 to 107". Give the group two minutes to rewrite a weak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Timeboxes shown are maxima for a one-month Sprint. Common trap: the Daily Scrum turning into a round-robin status update to the Scrum Master. Encourage the team to talk to each other about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Definition of Done: if a backlog item does not meet it, it cannot be released or even presented at the Sprint Review. It returns to the Product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Scrum Guide does not mandate user stories or story points; they are complementary practices we use on our projects. Exercise: in pairs, write one story for a feature on your current project and test it against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metrics for the team's own learning, not for comparing teams. Velocity is a planning aid for a single team, not a performance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which of these they have experienced before. Invite them to raise any of these patterns with the Scrum Master when they see them on 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 the plan to the individual; experienced practitioners may move faster. The Scrum Master is the first point of contact for any questions about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Q&amp;A. Share the Scrum Guide link and point participants to Module 2 (Scrum in our delivery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200" b="1" spc="300" kern="0" dirty="0">
                <a:solidFill>
                  <a:srgbClr val="7FD1D1"/>
                </a:solidFill>
                <a:latin typeface="Arial" pitchFamily="34" charset="0"/>
                <a:ea typeface="Arial" pitchFamily="34" charset="-122"/>
                <a:cs typeface="Arial" pitchFamily="34" charset="-120"/>
              </a:rPr>
              <a:t>ONBOARDING PROGRAMME  |  MODULE 1</a:t>
            </a:r>
            <a:endParaRPr lang="en-US" sz="1200" dirty="0"/>
          </a:p>
        </p:txBody>
      </p:sp>
      <p:sp>
        <p:nvSpPr>
          <p:cNvPr id="3" name="Text 1"/>
          <p:cNvSpPr txBox="1"/>
          <p:nvPr/>
        </p:nvSpPr>
        <p:spPr>
          <a:xfrm>
            <a:off x="731520" y="1737360"/>
            <a:ext cx="9144000" cy="10972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Scrum Fundamentals</a:t>
            </a:r>
            <a:endParaRPr lang="en-US" sz="4800" dirty="0"/>
          </a:p>
        </p:txBody>
      </p:sp>
      <p:sp>
        <p:nvSpPr>
          <p:cNvPr id="4" name="Text 2"/>
          <p:cNvSpPr txBox="1"/>
          <p:nvPr/>
        </p:nvSpPr>
        <p:spPr>
          <a:xfrm>
            <a:off x="731520" y="2880360"/>
            <a:ext cx="8229600" cy="822960"/>
          </a:xfrm>
          <a:prstGeom prst="rect">
            <a:avLst/>
          </a:prstGeom>
          <a:noFill/>
          <a:ln/>
        </p:spPr>
        <p:txBody>
          <a:bodyPr wrap="square" lIns="0" tIns="0" rIns="0" bIns="0" rtlCol="0" anchor="t"/>
          <a:lstStyle/>
          <a:p>
            <a:pPr indent="0" marL="0">
              <a:buNone/>
            </a:pPr>
            <a:r>
              <a:rPr lang="en-US" sz="2000" dirty="0">
                <a:solidFill>
                  <a:srgbClr val="C8D6E3"/>
                </a:solidFill>
                <a:latin typeface="Arial" pitchFamily="34" charset="0"/>
                <a:ea typeface="Arial" pitchFamily="34" charset="-122"/>
                <a:cs typeface="Arial" pitchFamily="34" charset="-120"/>
              </a:rPr>
              <a:t>How we plan, deliver and continuously improve value in short, focused Sprints</a:t>
            </a:r>
            <a:endParaRPr lang="en-US" sz="2000" dirty="0"/>
          </a:p>
        </p:txBody>
      </p:sp>
      <p:sp>
        <p:nvSpPr>
          <p:cNvPr id="5" name="Shape 3"/>
          <p:cNvSpPr/>
          <p:nvPr/>
        </p:nvSpPr>
        <p:spPr>
          <a:xfrm>
            <a:off x="9052560" y="3291840"/>
            <a:ext cx="4206240" cy="4206240"/>
          </a:xfrm>
          <a:prstGeom prst="ellipse">
            <a:avLst/>
          </a:prstGeom>
          <a:solidFill>
            <a:srgbClr val="12355B"/>
          </a:solidFill>
          <a:ln w="12700">
            <a:solidFill>
              <a:srgbClr val="12355B"/>
            </a:solidFill>
            <a:prstDash val="solid"/>
          </a:ln>
        </p:spPr>
      </p:sp>
      <p:sp>
        <p:nvSpPr>
          <p:cNvPr id="6" name="Shape 4"/>
          <p:cNvSpPr/>
          <p:nvPr/>
        </p:nvSpPr>
        <p:spPr>
          <a:xfrm>
            <a:off x="10149840" y="2194560"/>
            <a:ext cx="2377440" cy="2377440"/>
          </a:xfrm>
          <a:prstGeom prst="ellipse">
            <a:avLst/>
          </a:prstGeom>
          <a:solidFill>
            <a:srgbClr val="0A8F8F">
              <a:alpha val="70000"/>
            </a:srgbClr>
          </a:solidFill>
          <a:ln w="12700">
            <a:solidFill>
              <a:srgbClr val="0A8F8F">
                <a:alpha val="70000"/>
              </a:srgbClr>
            </a:solidFill>
            <a:prstDash val="solid"/>
          </a:ln>
        </p:spPr>
      </p:sp>
      <p:sp>
        <p:nvSpPr>
          <p:cNvPr id="7" name="Text 5"/>
          <p:cNvSpPr txBox="1"/>
          <p:nvPr/>
        </p:nvSpPr>
        <p:spPr>
          <a:xfrm>
            <a:off x="731520" y="5120640"/>
            <a:ext cx="6400800" cy="73152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Training pack for new project team members</a:t>
            </a:r>
            <a:endParaRPr lang="en-US" sz="1300" dirty="0"/>
          </a:p>
          <a:p>
            <a:pPr indent="0" marL="0">
              <a:buNone/>
            </a:pPr>
            <a:r>
              <a:rPr lang="en-US" sz="1300" dirty="0">
                <a:solidFill>
                  <a:srgbClr val="C8D6E3"/>
                </a:solidFill>
                <a:latin typeface="Arial" pitchFamily="34" charset="0"/>
                <a:ea typeface="Arial" pitchFamily="34" charset="-122"/>
                <a:cs typeface="Arial"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AGENDA</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This module covers the Scrum framework end to end, from principles to your first 30 days</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2</a:t>
            </a:r>
            <a:endParaRPr lang="en-US" sz="900" dirty="0"/>
          </a:p>
        </p:txBody>
      </p:sp>
      <p:sp>
        <p:nvSpPr>
          <p:cNvPr id="7" name="Text 5"/>
          <p:cNvSpPr txBox="1"/>
          <p:nvPr/>
        </p:nvSpPr>
        <p:spPr>
          <a:xfrm>
            <a:off x="548640" y="1783080"/>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01</a:t>
            </a:r>
            <a:endParaRPr lang="en-US" sz="2200" dirty="0"/>
          </a:p>
        </p:txBody>
      </p:sp>
      <p:sp>
        <p:nvSpPr>
          <p:cNvPr id="8" name="Text 6"/>
          <p:cNvSpPr txBox="1"/>
          <p:nvPr/>
        </p:nvSpPr>
        <p:spPr>
          <a:xfrm>
            <a:off x="1371600" y="1783080"/>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Why Scrum</a:t>
            </a:r>
            <a:endParaRPr lang="en-US" sz="1600" dirty="0"/>
          </a:p>
        </p:txBody>
      </p:sp>
      <p:sp>
        <p:nvSpPr>
          <p:cNvPr id="9" name="Text 7"/>
          <p:cNvSpPr txBox="1"/>
          <p:nvPr/>
        </p:nvSpPr>
        <p:spPr>
          <a:xfrm>
            <a:off x="5303520" y="1783080"/>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How empirical delivery differs from predictive planning</a:t>
            </a:r>
            <a:endParaRPr lang="en-US" sz="1400" dirty="0"/>
          </a:p>
        </p:txBody>
      </p:sp>
      <p:sp>
        <p:nvSpPr>
          <p:cNvPr id="10" name="Shape 8"/>
          <p:cNvSpPr/>
          <p:nvPr/>
        </p:nvSpPr>
        <p:spPr>
          <a:xfrm>
            <a:off x="548640" y="2313432"/>
            <a:ext cx="11064240" cy="0"/>
          </a:xfrm>
          <a:prstGeom prst="line">
            <a:avLst/>
          </a:prstGeom>
          <a:noFill/>
          <a:ln w="9525">
            <a:solidFill>
              <a:srgbClr val="C9D3DC"/>
            </a:solidFill>
            <a:prstDash val="solid"/>
          </a:ln>
        </p:spPr>
      </p:sp>
      <p:sp>
        <p:nvSpPr>
          <p:cNvPr id="11" name="Text 9"/>
          <p:cNvSpPr txBox="1"/>
          <p:nvPr/>
        </p:nvSpPr>
        <p:spPr>
          <a:xfrm>
            <a:off x="548640" y="2386584"/>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02</a:t>
            </a:r>
            <a:endParaRPr lang="en-US" sz="2200" dirty="0"/>
          </a:p>
        </p:txBody>
      </p:sp>
      <p:sp>
        <p:nvSpPr>
          <p:cNvPr id="12" name="Text 10"/>
          <p:cNvSpPr txBox="1"/>
          <p:nvPr/>
        </p:nvSpPr>
        <p:spPr>
          <a:xfrm>
            <a:off x="1371600" y="2386584"/>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The framework at a glance</a:t>
            </a:r>
            <a:endParaRPr lang="en-US" sz="1600" dirty="0"/>
          </a:p>
        </p:txBody>
      </p:sp>
      <p:sp>
        <p:nvSpPr>
          <p:cNvPr id="13" name="Text 11"/>
          <p:cNvSpPr txBox="1"/>
          <p:nvPr/>
        </p:nvSpPr>
        <p:spPr>
          <a:xfrm>
            <a:off x="5303520" y="2386584"/>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One view of how the pieces connect</a:t>
            </a:r>
            <a:endParaRPr lang="en-US" sz="1400" dirty="0"/>
          </a:p>
        </p:txBody>
      </p:sp>
      <p:sp>
        <p:nvSpPr>
          <p:cNvPr id="14" name="Shape 12"/>
          <p:cNvSpPr/>
          <p:nvPr/>
        </p:nvSpPr>
        <p:spPr>
          <a:xfrm>
            <a:off x="548640" y="2916936"/>
            <a:ext cx="11064240" cy="0"/>
          </a:xfrm>
          <a:prstGeom prst="line">
            <a:avLst/>
          </a:prstGeom>
          <a:noFill/>
          <a:ln w="9525">
            <a:solidFill>
              <a:srgbClr val="C9D3DC"/>
            </a:solidFill>
            <a:prstDash val="solid"/>
          </a:ln>
        </p:spPr>
      </p:sp>
      <p:sp>
        <p:nvSpPr>
          <p:cNvPr id="15" name="Text 13"/>
          <p:cNvSpPr txBox="1"/>
          <p:nvPr/>
        </p:nvSpPr>
        <p:spPr>
          <a:xfrm>
            <a:off x="548640" y="2990088"/>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03</a:t>
            </a:r>
            <a:endParaRPr lang="en-US" sz="2200" dirty="0"/>
          </a:p>
        </p:txBody>
      </p:sp>
      <p:sp>
        <p:nvSpPr>
          <p:cNvPr id="16" name="Text 14"/>
          <p:cNvSpPr txBox="1"/>
          <p:nvPr/>
        </p:nvSpPr>
        <p:spPr>
          <a:xfrm>
            <a:off x="1371600" y="2990088"/>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Foundations</a:t>
            </a:r>
            <a:endParaRPr lang="en-US" sz="1600" dirty="0"/>
          </a:p>
        </p:txBody>
      </p:sp>
      <p:sp>
        <p:nvSpPr>
          <p:cNvPr id="17" name="Text 15"/>
          <p:cNvSpPr txBox="1"/>
          <p:nvPr/>
        </p:nvSpPr>
        <p:spPr>
          <a:xfrm>
            <a:off x="5303520" y="2990088"/>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Three pillars and five values</a:t>
            </a:r>
            <a:endParaRPr lang="en-US" sz="1400" dirty="0"/>
          </a:p>
        </p:txBody>
      </p:sp>
      <p:sp>
        <p:nvSpPr>
          <p:cNvPr id="18" name="Shape 16"/>
          <p:cNvSpPr/>
          <p:nvPr/>
        </p:nvSpPr>
        <p:spPr>
          <a:xfrm>
            <a:off x="548640" y="3520440"/>
            <a:ext cx="11064240" cy="0"/>
          </a:xfrm>
          <a:prstGeom prst="line">
            <a:avLst/>
          </a:prstGeom>
          <a:noFill/>
          <a:ln w="9525">
            <a:solidFill>
              <a:srgbClr val="C9D3DC"/>
            </a:solidFill>
            <a:prstDash val="solid"/>
          </a:ln>
        </p:spPr>
      </p:sp>
      <p:sp>
        <p:nvSpPr>
          <p:cNvPr id="19" name="Text 17"/>
          <p:cNvSpPr txBox="1"/>
          <p:nvPr/>
        </p:nvSpPr>
        <p:spPr>
          <a:xfrm>
            <a:off x="548640" y="3593592"/>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04</a:t>
            </a:r>
            <a:endParaRPr lang="en-US" sz="2200" dirty="0"/>
          </a:p>
        </p:txBody>
      </p:sp>
      <p:sp>
        <p:nvSpPr>
          <p:cNvPr id="20" name="Text 18"/>
          <p:cNvSpPr txBox="1"/>
          <p:nvPr/>
        </p:nvSpPr>
        <p:spPr>
          <a:xfrm>
            <a:off x="1371600" y="3593592"/>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The Scrum Team</a:t>
            </a:r>
            <a:endParaRPr lang="en-US" sz="1600" dirty="0"/>
          </a:p>
        </p:txBody>
      </p:sp>
      <p:sp>
        <p:nvSpPr>
          <p:cNvPr id="21" name="Text 19"/>
          <p:cNvSpPr txBox="1"/>
          <p:nvPr/>
        </p:nvSpPr>
        <p:spPr>
          <a:xfrm>
            <a:off x="5303520" y="3593592"/>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Product Owner, Scrum Master and Developers</a:t>
            </a:r>
            <a:endParaRPr lang="en-US" sz="1400" dirty="0"/>
          </a:p>
        </p:txBody>
      </p:sp>
      <p:sp>
        <p:nvSpPr>
          <p:cNvPr id="22" name="Shape 20"/>
          <p:cNvSpPr/>
          <p:nvPr/>
        </p:nvSpPr>
        <p:spPr>
          <a:xfrm>
            <a:off x="548640" y="4123944"/>
            <a:ext cx="11064240" cy="0"/>
          </a:xfrm>
          <a:prstGeom prst="line">
            <a:avLst/>
          </a:prstGeom>
          <a:noFill/>
          <a:ln w="9525">
            <a:solidFill>
              <a:srgbClr val="C9D3DC"/>
            </a:solidFill>
            <a:prstDash val="solid"/>
          </a:ln>
        </p:spPr>
      </p:sp>
      <p:sp>
        <p:nvSpPr>
          <p:cNvPr id="23" name="Text 21"/>
          <p:cNvSpPr txBox="1"/>
          <p:nvPr/>
        </p:nvSpPr>
        <p:spPr>
          <a:xfrm>
            <a:off x="548640" y="4197096"/>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05</a:t>
            </a:r>
            <a:endParaRPr lang="en-US" sz="2200" dirty="0"/>
          </a:p>
        </p:txBody>
      </p:sp>
      <p:sp>
        <p:nvSpPr>
          <p:cNvPr id="24" name="Text 22"/>
          <p:cNvSpPr txBox="1"/>
          <p:nvPr/>
        </p:nvSpPr>
        <p:spPr>
          <a:xfrm>
            <a:off x="1371600" y="4197096"/>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Events and artefacts</a:t>
            </a:r>
            <a:endParaRPr lang="en-US" sz="1600" dirty="0"/>
          </a:p>
        </p:txBody>
      </p:sp>
      <p:sp>
        <p:nvSpPr>
          <p:cNvPr id="25" name="Text 23"/>
          <p:cNvSpPr txBox="1"/>
          <p:nvPr/>
        </p:nvSpPr>
        <p:spPr>
          <a:xfrm>
            <a:off x="5303520" y="4197096"/>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Timeboxes, purposes and commitments</a:t>
            </a:r>
            <a:endParaRPr lang="en-US" sz="1400" dirty="0"/>
          </a:p>
        </p:txBody>
      </p:sp>
      <p:sp>
        <p:nvSpPr>
          <p:cNvPr id="26" name="Shape 24"/>
          <p:cNvSpPr/>
          <p:nvPr/>
        </p:nvSpPr>
        <p:spPr>
          <a:xfrm>
            <a:off x="548640" y="4727448"/>
            <a:ext cx="11064240" cy="0"/>
          </a:xfrm>
          <a:prstGeom prst="line">
            <a:avLst/>
          </a:prstGeom>
          <a:noFill/>
          <a:ln w="9525">
            <a:solidFill>
              <a:srgbClr val="C9D3DC"/>
            </a:solidFill>
            <a:prstDash val="solid"/>
          </a:ln>
        </p:spPr>
      </p:sp>
      <p:sp>
        <p:nvSpPr>
          <p:cNvPr id="27" name="Text 25"/>
          <p:cNvSpPr txBox="1"/>
          <p:nvPr/>
        </p:nvSpPr>
        <p:spPr>
          <a:xfrm>
            <a:off x="548640" y="4800600"/>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06</a:t>
            </a:r>
            <a:endParaRPr lang="en-US" sz="2200" dirty="0"/>
          </a:p>
        </p:txBody>
      </p:sp>
      <p:sp>
        <p:nvSpPr>
          <p:cNvPr id="28" name="Text 26"/>
          <p:cNvSpPr txBox="1"/>
          <p:nvPr/>
        </p:nvSpPr>
        <p:spPr>
          <a:xfrm>
            <a:off x="1371600" y="4800600"/>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Working in practice</a:t>
            </a:r>
            <a:endParaRPr lang="en-US" sz="1600" dirty="0"/>
          </a:p>
        </p:txBody>
      </p:sp>
      <p:sp>
        <p:nvSpPr>
          <p:cNvPr id="29" name="Text 27"/>
          <p:cNvSpPr txBox="1"/>
          <p:nvPr/>
        </p:nvSpPr>
        <p:spPr>
          <a:xfrm>
            <a:off x="5303520" y="4800600"/>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User stories, metrics and common pitfalls</a:t>
            </a:r>
            <a:endParaRPr lang="en-US" sz="1400" dirty="0"/>
          </a:p>
        </p:txBody>
      </p:sp>
      <p:sp>
        <p:nvSpPr>
          <p:cNvPr id="30" name="Shape 28"/>
          <p:cNvSpPr/>
          <p:nvPr/>
        </p:nvSpPr>
        <p:spPr>
          <a:xfrm>
            <a:off x="548640" y="5330952"/>
            <a:ext cx="11064240" cy="0"/>
          </a:xfrm>
          <a:prstGeom prst="line">
            <a:avLst/>
          </a:prstGeom>
          <a:noFill/>
          <a:ln w="9525">
            <a:solidFill>
              <a:srgbClr val="C9D3DC"/>
            </a:solidFill>
            <a:prstDash val="solid"/>
          </a:ln>
        </p:spPr>
      </p:sp>
      <p:sp>
        <p:nvSpPr>
          <p:cNvPr id="31" name="Text 29"/>
          <p:cNvSpPr txBox="1"/>
          <p:nvPr/>
        </p:nvSpPr>
        <p:spPr>
          <a:xfrm>
            <a:off x="548640" y="5404104"/>
            <a:ext cx="731520" cy="457200"/>
          </a:xfrm>
          <a:prstGeom prst="rect">
            <a:avLst/>
          </a:prstGeom>
          <a:noFill/>
          <a:ln/>
        </p:spPr>
        <p:txBody>
          <a:bodyPr wrap="square" lIns="0" tIns="0" rIns="0" bIns="0" rtlCol="0" anchor="ctr"/>
          <a:lstStyle/>
          <a:p>
            <a:pPr indent="0" marL="0">
              <a:buNone/>
            </a:pPr>
            <a:r>
              <a:rPr lang="en-US" sz="2200" b="1" dirty="0">
                <a:solidFill>
                  <a:srgbClr val="0A8F8F"/>
                </a:solidFill>
                <a:latin typeface="Cambria" pitchFamily="34" charset="0"/>
                <a:ea typeface="Cambria" pitchFamily="34" charset="-122"/>
                <a:cs typeface="Cambria" pitchFamily="34" charset="-120"/>
              </a:rPr>
              <a:t>07</a:t>
            </a:r>
            <a:endParaRPr lang="en-US" sz="2200" dirty="0"/>
          </a:p>
        </p:txBody>
      </p:sp>
      <p:sp>
        <p:nvSpPr>
          <p:cNvPr id="32" name="Text 30"/>
          <p:cNvSpPr txBox="1"/>
          <p:nvPr/>
        </p:nvSpPr>
        <p:spPr>
          <a:xfrm>
            <a:off x="1371600" y="5404104"/>
            <a:ext cx="3840480" cy="457200"/>
          </a:xfrm>
          <a:prstGeom prst="rect">
            <a:avLst/>
          </a:prstGeom>
          <a:noFill/>
          <a:ln/>
        </p:spPr>
        <p:txBody>
          <a:bodyPr wrap="square" lIns="0" tIns="0" rIns="0" bIns="0" rtlCol="0" anchor="ctr"/>
          <a:lstStyle/>
          <a:p>
            <a:pPr indent="0" marL="0">
              <a:buNone/>
            </a:pPr>
            <a:r>
              <a:rPr lang="en-US" sz="1600" b="1" dirty="0">
                <a:solidFill>
                  <a:srgbClr val="0B1F33"/>
                </a:solidFill>
                <a:latin typeface="Arial" pitchFamily="34" charset="0"/>
                <a:ea typeface="Arial" pitchFamily="34" charset="-122"/>
                <a:cs typeface="Arial" pitchFamily="34" charset="-120"/>
              </a:rPr>
              <a:t>Your first 30 days</a:t>
            </a:r>
            <a:endParaRPr lang="en-US" sz="1600" dirty="0"/>
          </a:p>
        </p:txBody>
      </p:sp>
      <p:sp>
        <p:nvSpPr>
          <p:cNvPr id="33" name="Text 31"/>
          <p:cNvSpPr txBox="1"/>
          <p:nvPr/>
        </p:nvSpPr>
        <p:spPr>
          <a:xfrm>
            <a:off x="5303520" y="5404104"/>
            <a:ext cx="6309360" cy="457200"/>
          </a:xfrm>
          <a:prstGeom prst="rect">
            <a:avLst/>
          </a:prstGeom>
          <a:noFill/>
          <a:ln/>
        </p:spPr>
        <p:txBody>
          <a:bodyPr wrap="square" lIns="0" tIns="0" rIns="0" bIns="0" rtlCol="0" anchor="ctr"/>
          <a:lstStyle/>
          <a:p>
            <a:pPr indent="0" marL="0">
              <a:buNone/>
            </a:pPr>
            <a:r>
              <a:rPr lang="en-US" sz="1400" dirty="0">
                <a:solidFill>
                  <a:srgbClr val="5E6E7E"/>
                </a:solidFill>
                <a:latin typeface="Arial" pitchFamily="34" charset="0"/>
                <a:ea typeface="Arial" pitchFamily="34" charset="-122"/>
                <a:cs typeface="Arial" pitchFamily="34" charset="-120"/>
              </a:rPr>
              <a:t>What to expect and what we expect of you</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WHY SCRUM</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Scrum replaces up-front prediction with short feedback loops, reducing delivery risk in complex work</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3</a:t>
            </a:r>
            <a:endParaRPr lang="en-US" sz="900" dirty="0"/>
          </a:p>
        </p:txBody>
      </p:sp>
      <p:sp>
        <p:nvSpPr>
          <p:cNvPr id="7" name="Shape 5"/>
          <p:cNvSpPr/>
          <p:nvPr/>
        </p:nvSpPr>
        <p:spPr>
          <a:xfrm>
            <a:off x="7040880" y="1737360"/>
            <a:ext cx="4572000" cy="3794760"/>
          </a:xfrm>
          <a:prstGeom prst="rect">
            <a:avLst/>
          </a:prstGeom>
          <a:solidFill>
            <a:srgbClr val="DDF0F0"/>
          </a:solidFill>
          <a:ln w="12700">
            <a:solidFill>
              <a:srgbClr val="DDF0F0"/>
            </a:solidFill>
            <a:prstDash val="solid"/>
          </a:ln>
        </p:spPr>
      </p:sp>
      <p:sp>
        <p:nvSpPr>
          <p:cNvPr id="8" name="Text 6"/>
          <p:cNvSpPr txBox="1"/>
          <p:nvPr/>
        </p:nvSpPr>
        <p:spPr>
          <a:xfrm>
            <a:off x="2926080" y="1783080"/>
            <a:ext cx="4114800" cy="411480"/>
          </a:xfrm>
          <a:prstGeom prst="rect">
            <a:avLst/>
          </a:prstGeom>
          <a:noFill/>
          <a:ln/>
        </p:spPr>
        <p:txBody>
          <a:bodyPr wrap="square" lIns="0" tIns="0" rIns="0" bIns="0" rtlCol="0" anchor="ctr"/>
          <a:lstStyle/>
          <a:p>
            <a:pPr indent="0" marL="0">
              <a:buNone/>
            </a:pPr>
            <a:r>
              <a:rPr lang="en-US" sz="1400" b="1" dirty="0">
                <a:solidFill>
                  <a:srgbClr val="5E6E7E"/>
                </a:solidFill>
                <a:latin typeface="Arial" pitchFamily="34" charset="0"/>
                <a:ea typeface="Arial" pitchFamily="34" charset="-122"/>
                <a:cs typeface="Arial" pitchFamily="34" charset="-120"/>
              </a:rPr>
              <a:t>Predictive (traditional)</a:t>
            </a:r>
            <a:endParaRPr lang="en-US" sz="1400" dirty="0"/>
          </a:p>
        </p:txBody>
      </p:sp>
      <p:sp>
        <p:nvSpPr>
          <p:cNvPr id="9" name="Text 7"/>
          <p:cNvSpPr txBox="1"/>
          <p:nvPr/>
        </p:nvSpPr>
        <p:spPr>
          <a:xfrm>
            <a:off x="7223760" y="1783080"/>
            <a:ext cx="4389120" cy="411480"/>
          </a:xfrm>
          <a:prstGeom prst="rect">
            <a:avLst/>
          </a:prstGeom>
          <a:noFill/>
          <a:ln/>
        </p:spPr>
        <p:txBody>
          <a:bodyPr wrap="square" lIns="0" tIns="0" rIns="0" bIns="0" rtlCol="0" anchor="ctr"/>
          <a:lstStyle/>
          <a:p>
            <a:pPr indent="0" marL="0">
              <a:buNone/>
            </a:pPr>
            <a:r>
              <a:rPr lang="en-US" sz="1400" b="1" dirty="0">
                <a:solidFill>
                  <a:srgbClr val="0A8F8F"/>
                </a:solidFill>
                <a:latin typeface="Arial" pitchFamily="34" charset="0"/>
                <a:ea typeface="Arial" pitchFamily="34" charset="-122"/>
                <a:cs typeface="Arial" pitchFamily="34" charset="-120"/>
              </a:rPr>
              <a:t>Empirical (Scrum)</a:t>
            </a:r>
            <a:endParaRPr lang="en-US" sz="1400" dirty="0"/>
          </a:p>
        </p:txBody>
      </p:sp>
      <p:sp>
        <p:nvSpPr>
          <p:cNvPr id="10" name="Shape 8"/>
          <p:cNvSpPr/>
          <p:nvPr/>
        </p:nvSpPr>
        <p:spPr>
          <a:xfrm>
            <a:off x="548640" y="2240280"/>
            <a:ext cx="11064240" cy="0"/>
          </a:xfrm>
          <a:prstGeom prst="line">
            <a:avLst/>
          </a:prstGeom>
          <a:noFill/>
          <a:ln w="9525">
            <a:solidFill>
              <a:srgbClr val="C9D3DC"/>
            </a:solidFill>
            <a:prstDash val="solid"/>
          </a:ln>
        </p:spPr>
      </p:sp>
      <p:sp>
        <p:nvSpPr>
          <p:cNvPr id="11" name="Text 9"/>
          <p:cNvSpPr txBox="1"/>
          <p:nvPr/>
        </p:nvSpPr>
        <p:spPr>
          <a:xfrm>
            <a:off x="548640" y="2240280"/>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Planning</a:t>
            </a:r>
            <a:endParaRPr lang="en-US" sz="1400" dirty="0"/>
          </a:p>
        </p:txBody>
      </p:sp>
      <p:sp>
        <p:nvSpPr>
          <p:cNvPr id="12" name="Text 10"/>
          <p:cNvSpPr txBox="1"/>
          <p:nvPr/>
        </p:nvSpPr>
        <p:spPr>
          <a:xfrm>
            <a:off x="2926080" y="2240280"/>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Detailed plan fixed at the start</a:t>
            </a:r>
            <a:endParaRPr lang="en-US" sz="1300" dirty="0"/>
          </a:p>
        </p:txBody>
      </p:sp>
      <p:sp>
        <p:nvSpPr>
          <p:cNvPr id="13" name="Text 11"/>
          <p:cNvSpPr txBox="1"/>
          <p:nvPr/>
        </p:nvSpPr>
        <p:spPr>
          <a:xfrm>
            <a:off x="7223760" y="2240280"/>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Plan refined every Sprint as we learn</a:t>
            </a:r>
            <a:endParaRPr lang="en-US" sz="1300" dirty="0"/>
          </a:p>
        </p:txBody>
      </p:sp>
      <p:sp>
        <p:nvSpPr>
          <p:cNvPr id="14" name="Shape 12"/>
          <p:cNvSpPr/>
          <p:nvPr/>
        </p:nvSpPr>
        <p:spPr>
          <a:xfrm>
            <a:off x="548640" y="2898648"/>
            <a:ext cx="11064240" cy="0"/>
          </a:xfrm>
          <a:prstGeom prst="line">
            <a:avLst/>
          </a:prstGeom>
          <a:noFill/>
          <a:ln w="9525">
            <a:solidFill>
              <a:srgbClr val="C9D3DC"/>
            </a:solidFill>
            <a:prstDash val="solid"/>
          </a:ln>
        </p:spPr>
      </p:sp>
      <p:sp>
        <p:nvSpPr>
          <p:cNvPr id="15" name="Text 13"/>
          <p:cNvSpPr txBox="1"/>
          <p:nvPr/>
        </p:nvSpPr>
        <p:spPr>
          <a:xfrm>
            <a:off x="548640" y="2898648"/>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Scope</a:t>
            </a:r>
            <a:endParaRPr lang="en-US" sz="1400" dirty="0"/>
          </a:p>
        </p:txBody>
      </p:sp>
      <p:sp>
        <p:nvSpPr>
          <p:cNvPr id="16" name="Text 14"/>
          <p:cNvSpPr txBox="1"/>
          <p:nvPr/>
        </p:nvSpPr>
        <p:spPr>
          <a:xfrm>
            <a:off x="2926080" y="2898648"/>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Locked early; change is costly</a:t>
            </a:r>
            <a:endParaRPr lang="en-US" sz="1300" dirty="0"/>
          </a:p>
        </p:txBody>
      </p:sp>
      <p:sp>
        <p:nvSpPr>
          <p:cNvPr id="17" name="Text 15"/>
          <p:cNvSpPr txBox="1"/>
          <p:nvPr/>
        </p:nvSpPr>
        <p:spPr>
          <a:xfrm>
            <a:off x="7223760" y="2898648"/>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Emerges and is reprioritised by value</a:t>
            </a:r>
            <a:endParaRPr lang="en-US" sz="1300" dirty="0"/>
          </a:p>
        </p:txBody>
      </p:sp>
      <p:sp>
        <p:nvSpPr>
          <p:cNvPr id="18" name="Shape 16"/>
          <p:cNvSpPr/>
          <p:nvPr/>
        </p:nvSpPr>
        <p:spPr>
          <a:xfrm>
            <a:off x="548640" y="3557016"/>
            <a:ext cx="11064240" cy="0"/>
          </a:xfrm>
          <a:prstGeom prst="line">
            <a:avLst/>
          </a:prstGeom>
          <a:noFill/>
          <a:ln w="9525">
            <a:solidFill>
              <a:srgbClr val="C9D3DC"/>
            </a:solidFill>
            <a:prstDash val="solid"/>
          </a:ln>
        </p:spPr>
      </p:sp>
      <p:sp>
        <p:nvSpPr>
          <p:cNvPr id="19" name="Text 17"/>
          <p:cNvSpPr txBox="1"/>
          <p:nvPr/>
        </p:nvSpPr>
        <p:spPr>
          <a:xfrm>
            <a:off x="548640" y="3557016"/>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Feedback</a:t>
            </a:r>
            <a:endParaRPr lang="en-US" sz="1400" dirty="0"/>
          </a:p>
        </p:txBody>
      </p:sp>
      <p:sp>
        <p:nvSpPr>
          <p:cNvPr id="20" name="Text 18"/>
          <p:cNvSpPr txBox="1"/>
          <p:nvPr/>
        </p:nvSpPr>
        <p:spPr>
          <a:xfrm>
            <a:off x="2926080" y="3557016"/>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Arrives late, often at user testing</a:t>
            </a:r>
            <a:endParaRPr lang="en-US" sz="1300" dirty="0"/>
          </a:p>
        </p:txBody>
      </p:sp>
      <p:sp>
        <p:nvSpPr>
          <p:cNvPr id="21" name="Text 19"/>
          <p:cNvSpPr txBox="1"/>
          <p:nvPr/>
        </p:nvSpPr>
        <p:spPr>
          <a:xfrm>
            <a:off x="7223760" y="3557016"/>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Every Sprint, from real stakeholders</a:t>
            </a:r>
            <a:endParaRPr lang="en-US" sz="1300" dirty="0"/>
          </a:p>
        </p:txBody>
      </p:sp>
      <p:sp>
        <p:nvSpPr>
          <p:cNvPr id="22" name="Shape 20"/>
          <p:cNvSpPr/>
          <p:nvPr/>
        </p:nvSpPr>
        <p:spPr>
          <a:xfrm>
            <a:off x="548640" y="4215384"/>
            <a:ext cx="11064240" cy="0"/>
          </a:xfrm>
          <a:prstGeom prst="line">
            <a:avLst/>
          </a:prstGeom>
          <a:noFill/>
          <a:ln w="9525">
            <a:solidFill>
              <a:srgbClr val="C9D3DC"/>
            </a:solidFill>
            <a:prstDash val="solid"/>
          </a:ln>
        </p:spPr>
      </p:sp>
      <p:sp>
        <p:nvSpPr>
          <p:cNvPr id="23" name="Text 21"/>
          <p:cNvSpPr txBox="1"/>
          <p:nvPr/>
        </p:nvSpPr>
        <p:spPr>
          <a:xfrm>
            <a:off x="548640" y="4215384"/>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Risk</a:t>
            </a:r>
            <a:endParaRPr lang="en-US" sz="1400" dirty="0"/>
          </a:p>
        </p:txBody>
      </p:sp>
      <p:sp>
        <p:nvSpPr>
          <p:cNvPr id="24" name="Text 22"/>
          <p:cNvSpPr txBox="1"/>
          <p:nvPr/>
        </p:nvSpPr>
        <p:spPr>
          <a:xfrm>
            <a:off x="2926080" y="4215384"/>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Discovered late, when it is expensive</a:t>
            </a:r>
            <a:endParaRPr lang="en-US" sz="1300" dirty="0"/>
          </a:p>
        </p:txBody>
      </p:sp>
      <p:sp>
        <p:nvSpPr>
          <p:cNvPr id="25" name="Text 23"/>
          <p:cNvSpPr txBox="1"/>
          <p:nvPr/>
        </p:nvSpPr>
        <p:spPr>
          <a:xfrm>
            <a:off x="7223760" y="4215384"/>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Surfaced early through working increments</a:t>
            </a:r>
            <a:endParaRPr lang="en-US" sz="1300" dirty="0"/>
          </a:p>
        </p:txBody>
      </p:sp>
      <p:sp>
        <p:nvSpPr>
          <p:cNvPr id="26" name="Shape 24"/>
          <p:cNvSpPr/>
          <p:nvPr/>
        </p:nvSpPr>
        <p:spPr>
          <a:xfrm>
            <a:off x="548640" y="4873752"/>
            <a:ext cx="11064240" cy="0"/>
          </a:xfrm>
          <a:prstGeom prst="line">
            <a:avLst/>
          </a:prstGeom>
          <a:noFill/>
          <a:ln w="9525">
            <a:solidFill>
              <a:srgbClr val="C9D3DC"/>
            </a:solidFill>
            <a:prstDash val="solid"/>
          </a:ln>
        </p:spPr>
      </p:sp>
      <p:sp>
        <p:nvSpPr>
          <p:cNvPr id="27" name="Text 25"/>
          <p:cNvSpPr txBox="1"/>
          <p:nvPr/>
        </p:nvSpPr>
        <p:spPr>
          <a:xfrm>
            <a:off x="548640" y="4873752"/>
            <a:ext cx="2194560" cy="658368"/>
          </a:xfrm>
          <a:prstGeom prst="rect">
            <a:avLst/>
          </a:prstGeom>
          <a:noFill/>
          <a:ln/>
        </p:spPr>
        <p:txBody>
          <a:bodyPr wrap="square" lIns="0" tIns="0" rIns="0" bIns="0" rtlCol="0" anchor="ctr"/>
          <a:lstStyle/>
          <a:p>
            <a:pPr indent="0" marL="0">
              <a:buNone/>
            </a:pPr>
            <a:r>
              <a:rPr lang="en-US" sz="1400" b="1" dirty="0">
                <a:solidFill>
                  <a:srgbClr val="0B1F33"/>
                </a:solidFill>
                <a:latin typeface="Arial" pitchFamily="34" charset="0"/>
                <a:ea typeface="Arial" pitchFamily="34" charset="-122"/>
                <a:cs typeface="Arial" pitchFamily="34" charset="-120"/>
              </a:rPr>
              <a:t>Value</a:t>
            </a:r>
            <a:endParaRPr lang="en-US" sz="1400" dirty="0"/>
          </a:p>
        </p:txBody>
      </p:sp>
      <p:sp>
        <p:nvSpPr>
          <p:cNvPr id="28" name="Text 26"/>
          <p:cNvSpPr txBox="1"/>
          <p:nvPr/>
        </p:nvSpPr>
        <p:spPr>
          <a:xfrm>
            <a:off x="2926080" y="4873752"/>
            <a:ext cx="4023360" cy="658368"/>
          </a:xfrm>
          <a:prstGeom prst="rect">
            <a:avLst/>
          </a:prstGeom>
          <a:noFill/>
          <a:ln/>
        </p:spPr>
        <p:txBody>
          <a:bodyPr wrap="square" lIns="0" tIns="0" rIns="0" bIns="0" rtlCol="0" anchor="ctr"/>
          <a:lstStyle/>
          <a:p>
            <a:pPr indent="0" marL="0">
              <a:buNone/>
            </a:pPr>
            <a:r>
              <a:rPr lang="en-US" sz="1300" dirty="0">
                <a:solidFill>
                  <a:srgbClr val="1F2A36"/>
                </a:solidFill>
                <a:latin typeface="Arial" pitchFamily="34" charset="0"/>
                <a:ea typeface="Arial" pitchFamily="34" charset="-122"/>
                <a:cs typeface="Arial" pitchFamily="34" charset="-120"/>
              </a:rPr>
              <a:t>Delivered in one release at the end</a:t>
            </a:r>
            <a:endParaRPr lang="en-US" sz="1300" dirty="0"/>
          </a:p>
        </p:txBody>
      </p:sp>
      <p:sp>
        <p:nvSpPr>
          <p:cNvPr id="29" name="Text 27"/>
          <p:cNvSpPr txBox="1"/>
          <p:nvPr/>
        </p:nvSpPr>
        <p:spPr>
          <a:xfrm>
            <a:off x="7223760" y="4873752"/>
            <a:ext cx="4297680" cy="658368"/>
          </a:xfrm>
          <a:prstGeom prst="rect">
            <a:avLst/>
          </a:prstGeom>
          <a:noFill/>
          <a:ln/>
        </p:spPr>
        <p:txBody>
          <a:bodyPr wrap="square" lIns="0" tIns="0" rIns="0" bIns="0" rtlCol="0" anchor="ctr"/>
          <a:lstStyle/>
          <a:p>
            <a:pPr indent="0" marL="0">
              <a:buNone/>
            </a:pPr>
            <a:r>
              <a:rPr lang="en-US" sz="1300" b="1" dirty="0">
                <a:solidFill>
                  <a:srgbClr val="0B1F33"/>
                </a:solidFill>
                <a:latin typeface="Arial" pitchFamily="34" charset="0"/>
                <a:ea typeface="Arial" pitchFamily="34" charset="-122"/>
                <a:cs typeface="Arial" pitchFamily="34" charset="-120"/>
              </a:rPr>
              <a:t>Delivered incrementally, from Sprint 1</a:t>
            </a:r>
            <a:endParaRPr lang="en-US" sz="1300" dirty="0"/>
          </a:p>
        </p:txBody>
      </p:sp>
      <p:sp>
        <p:nvSpPr>
          <p:cNvPr id="30" name="Text 28"/>
          <p:cNvSpPr txBox="1"/>
          <p:nvPr/>
        </p:nvSpPr>
        <p:spPr>
          <a:xfrm>
            <a:off x="548640" y="5715000"/>
            <a:ext cx="11064240" cy="457200"/>
          </a:xfrm>
          <a:prstGeom prst="rect">
            <a:avLst/>
          </a:prstGeom>
          <a:noFill/>
          <a:ln/>
        </p:spPr>
        <p:txBody>
          <a:bodyPr wrap="square" lIns="0" tIns="0" rIns="0" bIns="0" rtlCol="0" anchor="t"/>
          <a:lstStyle/>
          <a:p>
            <a:pPr indent="0" marL="0">
              <a:buNone/>
            </a:pPr>
            <a:r>
              <a:rPr lang="en-US" sz="1200" i="1" dirty="0">
                <a:solidFill>
                  <a:srgbClr val="5E6E7E"/>
                </a:solidFill>
                <a:latin typeface="Arial" pitchFamily="34" charset="0"/>
                <a:ea typeface="Arial" pitchFamily="34" charset="-122"/>
                <a:cs typeface="Arial" pitchFamily="34" charset="-120"/>
              </a:rPr>
              <a:t>Scrum is best suited to complex work where requirements and solutions are uncertain; it is a lightweight framework, not a full methodology.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THE FRAMEWORK AT A GLANCE</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Each Sprint is a complete inspect-and-adapt cycle that turns backlog items into a usable Increment</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4</a:t>
            </a:r>
            <a:endParaRPr lang="en-US" sz="900" dirty="0"/>
          </a:p>
        </p:txBody>
      </p:sp>
      <p:sp>
        <p:nvSpPr>
          <p:cNvPr id="7" name="Shape 5"/>
          <p:cNvSpPr/>
          <p:nvPr/>
        </p:nvSpPr>
        <p:spPr>
          <a:xfrm>
            <a:off x="548640" y="1874520"/>
            <a:ext cx="1828800" cy="1325880"/>
          </a:xfrm>
          <a:prstGeom prst="roundRect">
            <a:avLst>
              <a:gd name="adj" fmla="val 5517"/>
            </a:avLst>
          </a:prstGeom>
          <a:solidFill>
            <a:srgbClr val="EEF3F6"/>
          </a:solidFill>
          <a:ln w="12700">
            <a:solidFill>
              <a:srgbClr val="EEF3F6"/>
            </a:solidFill>
            <a:prstDash val="solid"/>
          </a:ln>
        </p:spPr>
      </p:sp>
      <p:sp>
        <p:nvSpPr>
          <p:cNvPr id="8" name="Text 6"/>
          <p:cNvSpPr txBox="1"/>
          <p:nvPr/>
        </p:nvSpPr>
        <p:spPr>
          <a:xfrm>
            <a:off x="685800" y="2011680"/>
            <a:ext cx="155448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Product Backlog</a:t>
            </a:r>
            <a:endParaRPr lang="en-US" sz="1300" dirty="0"/>
          </a:p>
        </p:txBody>
      </p:sp>
      <p:sp>
        <p:nvSpPr>
          <p:cNvPr id="9" name="Text 7"/>
          <p:cNvSpPr txBox="1"/>
          <p:nvPr/>
        </p:nvSpPr>
        <p:spPr>
          <a:xfrm>
            <a:off x="685800" y="2350008"/>
            <a:ext cx="1554480" cy="777240"/>
          </a:xfrm>
          <a:prstGeom prst="rect">
            <a:avLst/>
          </a:prstGeom>
          <a:noFill/>
          <a:ln/>
        </p:spPr>
        <p:txBody>
          <a:bodyPr wrap="square" lIns="0" tIns="0" rIns="0" bIns="0" rtlCol="0" anchor="t"/>
          <a:lstStyle/>
          <a:p>
            <a:pPr indent="0" marL="0">
              <a:buNone/>
            </a:pPr>
            <a:r>
              <a:rPr lang="en-US" sz="1050" dirty="0">
                <a:solidFill>
                  <a:srgbClr val="0B1F33"/>
                </a:solidFill>
                <a:latin typeface="Arial" pitchFamily="34" charset="0"/>
                <a:ea typeface="Arial" pitchFamily="34" charset="-122"/>
                <a:cs typeface="Arial" pitchFamily="34" charset="-120"/>
              </a:rPr>
              <a:t>Ordered list of everything the product needs</a:t>
            </a:r>
            <a:endParaRPr lang="en-US" sz="1050" dirty="0"/>
          </a:p>
        </p:txBody>
      </p:sp>
      <p:sp>
        <p:nvSpPr>
          <p:cNvPr id="10" name="Shape 8"/>
          <p:cNvSpPr/>
          <p:nvPr/>
        </p:nvSpPr>
        <p:spPr>
          <a:xfrm>
            <a:off x="2441448" y="2537460"/>
            <a:ext cx="374904" cy="0"/>
          </a:xfrm>
          <a:prstGeom prst="line">
            <a:avLst/>
          </a:prstGeom>
          <a:noFill/>
          <a:ln w="19050">
            <a:solidFill>
              <a:srgbClr val="5E6E7E"/>
            </a:solidFill>
            <a:prstDash val="solid"/>
            <a:tailEnd type="triangle"/>
          </a:ln>
        </p:spPr>
      </p:sp>
      <p:sp>
        <p:nvSpPr>
          <p:cNvPr id="11" name="Shape 9"/>
          <p:cNvSpPr/>
          <p:nvPr/>
        </p:nvSpPr>
        <p:spPr>
          <a:xfrm>
            <a:off x="2880360" y="1874520"/>
            <a:ext cx="1828800" cy="1325880"/>
          </a:xfrm>
          <a:prstGeom prst="roundRect">
            <a:avLst>
              <a:gd name="adj" fmla="val 5517"/>
            </a:avLst>
          </a:prstGeom>
          <a:solidFill>
            <a:srgbClr val="EEF3F6"/>
          </a:solidFill>
          <a:ln w="12700">
            <a:solidFill>
              <a:srgbClr val="EEF3F6"/>
            </a:solidFill>
            <a:prstDash val="solid"/>
          </a:ln>
        </p:spPr>
      </p:sp>
      <p:sp>
        <p:nvSpPr>
          <p:cNvPr id="12" name="Text 10"/>
          <p:cNvSpPr txBox="1"/>
          <p:nvPr/>
        </p:nvSpPr>
        <p:spPr>
          <a:xfrm>
            <a:off x="3017520" y="2011680"/>
            <a:ext cx="155448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Sprint Planning</a:t>
            </a:r>
            <a:endParaRPr lang="en-US" sz="1300" dirty="0"/>
          </a:p>
        </p:txBody>
      </p:sp>
      <p:sp>
        <p:nvSpPr>
          <p:cNvPr id="13" name="Text 11"/>
          <p:cNvSpPr txBox="1"/>
          <p:nvPr/>
        </p:nvSpPr>
        <p:spPr>
          <a:xfrm>
            <a:off x="3017520" y="2350008"/>
            <a:ext cx="1554480" cy="777240"/>
          </a:xfrm>
          <a:prstGeom prst="rect">
            <a:avLst/>
          </a:prstGeom>
          <a:noFill/>
          <a:ln/>
        </p:spPr>
        <p:txBody>
          <a:bodyPr wrap="square" lIns="0" tIns="0" rIns="0" bIns="0" rtlCol="0" anchor="t"/>
          <a:lstStyle/>
          <a:p>
            <a:pPr indent="0" marL="0">
              <a:buNone/>
            </a:pPr>
            <a:r>
              <a:rPr lang="en-US" sz="1050" dirty="0">
                <a:solidFill>
                  <a:srgbClr val="0B1F33"/>
                </a:solidFill>
                <a:latin typeface="Arial" pitchFamily="34" charset="0"/>
                <a:ea typeface="Arial" pitchFamily="34" charset="-122"/>
                <a:cs typeface="Arial" pitchFamily="34" charset="-120"/>
              </a:rPr>
              <a:t>Team agrees the Sprint Goal and selects work</a:t>
            </a:r>
            <a:endParaRPr lang="en-US" sz="1050" dirty="0"/>
          </a:p>
        </p:txBody>
      </p:sp>
      <p:sp>
        <p:nvSpPr>
          <p:cNvPr id="14" name="Shape 12"/>
          <p:cNvSpPr/>
          <p:nvPr/>
        </p:nvSpPr>
        <p:spPr>
          <a:xfrm>
            <a:off x="4773168" y="2537460"/>
            <a:ext cx="374904" cy="0"/>
          </a:xfrm>
          <a:prstGeom prst="line">
            <a:avLst/>
          </a:prstGeom>
          <a:noFill/>
          <a:ln w="19050">
            <a:solidFill>
              <a:srgbClr val="5E6E7E"/>
            </a:solidFill>
            <a:prstDash val="solid"/>
            <a:tailEnd type="triangle"/>
          </a:ln>
        </p:spPr>
      </p:sp>
      <p:sp>
        <p:nvSpPr>
          <p:cNvPr id="15" name="Shape 13"/>
          <p:cNvSpPr/>
          <p:nvPr/>
        </p:nvSpPr>
        <p:spPr>
          <a:xfrm>
            <a:off x="5212080" y="1874520"/>
            <a:ext cx="1828800" cy="1325880"/>
          </a:xfrm>
          <a:prstGeom prst="roundRect">
            <a:avLst>
              <a:gd name="adj" fmla="val 5517"/>
            </a:avLst>
          </a:prstGeom>
          <a:solidFill>
            <a:srgbClr val="EEF3F6"/>
          </a:solidFill>
          <a:ln w="12700">
            <a:solidFill>
              <a:srgbClr val="EEF3F6"/>
            </a:solidFill>
            <a:prstDash val="solid"/>
          </a:ln>
        </p:spPr>
      </p:sp>
      <p:sp>
        <p:nvSpPr>
          <p:cNvPr id="16" name="Text 14"/>
          <p:cNvSpPr txBox="1"/>
          <p:nvPr/>
        </p:nvSpPr>
        <p:spPr>
          <a:xfrm>
            <a:off x="5349240" y="2011680"/>
            <a:ext cx="155448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Sprint Backlog</a:t>
            </a:r>
            <a:endParaRPr lang="en-US" sz="1300" dirty="0"/>
          </a:p>
        </p:txBody>
      </p:sp>
      <p:sp>
        <p:nvSpPr>
          <p:cNvPr id="17" name="Text 15"/>
          <p:cNvSpPr txBox="1"/>
          <p:nvPr/>
        </p:nvSpPr>
        <p:spPr>
          <a:xfrm>
            <a:off x="5349240" y="2350008"/>
            <a:ext cx="1554480" cy="777240"/>
          </a:xfrm>
          <a:prstGeom prst="rect">
            <a:avLst/>
          </a:prstGeom>
          <a:noFill/>
          <a:ln/>
        </p:spPr>
        <p:txBody>
          <a:bodyPr wrap="square" lIns="0" tIns="0" rIns="0" bIns="0" rtlCol="0" anchor="t"/>
          <a:lstStyle/>
          <a:p>
            <a:pPr indent="0" marL="0">
              <a:buNone/>
            </a:pPr>
            <a:r>
              <a:rPr lang="en-US" sz="1050" dirty="0">
                <a:solidFill>
                  <a:srgbClr val="0B1F33"/>
                </a:solidFill>
                <a:latin typeface="Arial" pitchFamily="34" charset="0"/>
                <a:ea typeface="Arial" pitchFamily="34" charset="-122"/>
                <a:cs typeface="Arial" pitchFamily="34" charset="-120"/>
              </a:rPr>
              <a:t>Sprint Goal, selected items and delivery plan</a:t>
            </a:r>
            <a:endParaRPr lang="en-US" sz="1050" dirty="0"/>
          </a:p>
        </p:txBody>
      </p:sp>
      <p:sp>
        <p:nvSpPr>
          <p:cNvPr id="18" name="Shape 16"/>
          <p:cNvSpPr/>
          <p:nvPr/>
        </p:nvSpPr>
        <p:spPr>
          <a:xfrm>
            <a:off x="7104888" y="2537460"/>
            <a:ext cx="374904" cy="0"/>
          </a:xfrm>
          <a:prstGeom prst="line">
            <a:avLst/>
          </a:prstGeom>
          <a:noFill/>
          <a:ln w="19050">
            <a:solidFill>
              <a:srgbClr val="5E6E7E"/>
            </a:solidFill>
            <a:prstDash val="solid"/>
            <a:tailEnd type="triangle"/>
          </a:ln>
        </p:spPr>
      </p:sp>
      <p:sp>
        <p:nvSpPr>
          <p:cNvPr id="19" name="Shape 17"/>
          <p:cNvSpPr/>
          <p:nvPr/>
        </p:nvSpPr>
        <p:spPr>
          <a:xfrm>
            <a:off x="7543800" y="1874520"/>
            <a:ext cx="1828800" cy="1325880"/>
          </a:xfrm>
          <a:prstGeom prst="roundRect">
            <a:avLst>
              <a:gd name="adj" fmla="val 5517"/>
            </a:avLst>
          </a:prstGeom>
          <a:solidFill>
            <a:srgbClr val="12355B"/>
          </a:solidFill>
          <a:ln w="12700">
            <a:solidFill>
              <a:srgbClr val="12355B"/>
            </a:solidFill>
            <a:prstDash val="solid"/>
          </a:ln>
        </p:spPr>
      </p:sp>
      <p:sp>
        <p:nvSpPr>
          <p:cNvPr id="20" name="Text 18"/>
          <p:cNvSpPr txBox="1"/>
          <p:nvPr/>
        </p:nvSpPr>
        <p:spPr>
          <a:xfrm>
            <a:off x="7680960" y="2011680"/>
            <a:ext cx="155448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The Sprint</a:t>
            </a:r>
            <a:endParaRPr lang="en-US" sz="1300" dirty="0"/>
          </a:p>
        </p:txBody>
      </p:sp>
      <p:sp>
        <p:nvSpPr>
          <p:cNvPr id="21" name="Text 19"/>
          <p:cNvSpPr txBox="1"/>
          <p:nvPr/>
        </p:nvSpPr>
        <p:spPr>
          <a:xfrm>
            <a:off x="7680960" y="2350008"/>
            <a:ext cx="1554480" cy="7772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1–4 weeks, with a 15-minute Daily Scrum every day</a:t>
            </a:r>
            <a:endParaRPr lang="en-US" sz="1050" dirty="0"/>
          </a:p>
        </p:txBody>
      </p:sp>
      <p:sp>
        <p:nvSpPr>
          <p:cNvPr id="22" name="Shape 20"/>
          <p:cNvSpPr/>
          <p:nvPr/>
        </p:nvSpPr>
        <p:spPr>
          <a:xfrm>
            <a:off x="9436608" y="2537460"/>
            <a:ext cx="374904" cy="0"/>
          </a:xfrm>
          <a:prstGeom prst="line">
            <a:avLst/>
          </a:prstGeom>
          <a:noFill/>
          <a:ln w="19050">
            <a:solidFill>
              <a:srgbClr val="5E6E7E"/>
            </a:solidFill>
            <a:prstDash val="solid"/>
            <a:tailEnd type="triangle"/>
          </a:ln>
        </p:spPr>
      </p:sp>
      <p:sp>
        <p:nvSpPr>
          <p:cNvPr id="23" name="Shape 21"/>
          <p:cNvSpPr/>
          <p:nvPr/>
        </p:nvSpPr>
        <p:spPr>
          <a:xfrm>
            <a:off x="9875520" y="1874520"/>
            <a:ext cx="1828800" cy="1325880"/>
          </a:xfrm>
          <a:prstGeom prst="roundRect">
            <a:avLst>
              <a:gd name="adj" fmla="val 5517"/>
            </a:avLst>
          </a:prstGeom>
          <a:solidFill>
            <a:srgbClr val="0A8F8F"/>
          </a:solidFill>
          <a:ln w="12700">
            <a:solidFill>
              <a:srgbClr val="0A8F8F"/>
            </a:solidFill>
            <a:prstDash val="solid"/>
          </a:ln>
        </p:spPr>
      </p:sp>
      <p:sp>
        <p:nvSpPr>
          <p:cNvPr id="24" name="Text 22"/>
          <p:cNvSpPr txBox="1"/>
          <p:nvPr/>
        </p:nvSpPr>
        <p:spPr>
          <a:xfrm>
            <a:off x="10012680" y="2011680"/>
            <a:ext cx="155448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Increment</a:t>
            </a:r>
            <a:endParaRPr lang="en-US" sz="1300" dirty="0"/>
          </a:p>
        </p:txBody>
      </p:sp>
      <p:sp>
        <p:nvSpPr>
          <p:cNvPr id="25" name="Text 23"/>
          <p:cNvSpPr txBox="1"/>
          <p:nvPr/>
        </p:nvSpPr>
        <p:spPr>
          <a:xfrm>
            <a:off x="10012680" y="2350008"/>
            <a:ext cx="1554480" cy="77724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Usable output that meets the Definition of Done</a:t>
            </a:r>
            <a:endParaRPr lang="en-US" sz="1050" dirty="0"/>
          </a:p>
        </p:txBody>
      </p:sp>
      <p:sp>
        <p:nvSpPr>
          <p:cNvPr id="26" name="Shape 24"/>
          <p:cNvSpPr/>
          <p:nvPr/>
        </p:nvSpPr>
        <p:spPr>
          <a:xfrm>
            <a:off x="7543800" y="3931920"/>
            <a:ext cx="1828800" cy="1005840"/>
          </a:xfrm>
          <a:prstGeom prst="roundRect">
            <a:avLst>
              <a:gd name="adj" fmla="val 7273"/>
            </a:avLst>
          </a:prstGeom>
          <a:solidFill>
            <a:srgbClr val="FFFFFF"/>
          </a:solidFill>
          <a:ln w="19050">
            <a:solidFill>
              <a:srgbClr val="0A8F8F"/>
            </a:solidFill>
            <a:prstDash val="solid"/>
          </a:ln>
        </p:spPr>
      </p:sp>
      <p:sp>
        <p:nvSpPr>
          <p:cNvPr id="27" name="Text 25"/>
          <p:cNvSpPr txBox="1"/>
          <p:nvPr/>
        </p:nvSpPr>
        <p:spPr>
          <a:xfrm>
            <a:off x="7680960" y="4069080"/>
            <a:ext cx="1554480" cy="320040"/>
          </a:xfrm>
          <a:prstGeom prst="rect">
            <a:avLst/>
          </a:prstGeom>
          <a:noFill/>
          <a:ln/>
        </p:spPr>
        <p:txBody>
          <a:bodyPr wrap="square" lIns="0" tIns="0" rIns="0" bIns="0" rtlCol="0" anchor="t"/>
          <a:lstStyle/>
          <a:p>
            <a:pPr indent="0" marL="0">
              <a:buNone/>
            </a:pPr>
            <a:r>
              <a:rPr lang="en-US" sz="1250" b="1" dirty="0">
                <a:solidFill>
                  <a:srgbClr val="0B1F33"/>
                </a:solidFill>
                <a:latin typeface="Arial" pitchFamily="34" charset="0"/>
                <a:ea typeface="Arial" pitchFamily="34" charset="-122"/>
                <a:cs typeface="Arial" pitchFamily="34" charset="-120"/>
              </a:rPr>
              <a:t>Sprint Retrospective</a:t>
            </a:r>
            <a:endParaRPr lang="en-US" sz="1250" dirty="0"/>
          </a:p>
        </p:txBody>
      </p:sp>
      <p:sp>
        <p:nvSpPr>
          <p:cNvPr id="28" name="Text 26"/>
          <p:cNvSpPr txBox="1"/>
          <p:nvPr/>
        </p:nvSpPr>
        <p:spPr>
          <a:xfrm>
            <a:off x="7680960" y="4407408"/>
            <a:ext cx="1554480" cy="457200"/>
          </a:xfrm>
          <a:prstGeom prst="rect">
            <a:avLst/>
          </a:prstGeom>
          <a:noFill/>
          <a:ln/>
        </p:spPr>
        <p:txBody>
          <a:bodyPr wrap="square" lIns="0" tIns="0" rIns="0" bIns="0" rtlCol="0" anchor="t"/>
          <a:lstStyle/>
          <a:p>
            <a:pPr indent="0" marL="0">
              <a:buNone/>
            </a:pPr>
            <a:r>
              <a:rPr lang="en-US" sz="1050" dirty="0">
                <a:solidFill>
                  <a:srgbClr val="5E6E7E"/>
                </a:solidFill>
                <a:latin typeface="Arial" pitchFamily="34" charset="0"/>
                <a:ea typeface="Arial" pitchFamily="34" charset="-122"/>
                <a:cs typeface="Arial" pitchFamily="34" charset="-120"/>
              </a:rPr>
              <a:t>Improve how we work</a:t>
            </a:r>
            <a:endParaRPr lang="en-US" sz="1050" dirty="0"/>
          </a:p>
        </p:txBody>
      </p:sp>
      <p:sp>
        <p:nvSpPr>
          <p:cNvPr id="29" name="Shape 27"/>
          <p:cNvSpPr/>
          <p:nvPr/>
        </p:nvSpPr>
        <p:spPr>
          <a:xfrm>
            <a:off x="9875520" y="3931920"/>
            <a:ext cx="1828800" cy="1005840"/>
          </a:xfrm>
          <a:prstGeom prst="roundRect">
            <a:avLst>
              <a:gd name="adj" fmla="val 7273"/>
            </a:avLst>
          </a:prstGeom>
          <a:solidFill>
            <a:srgbClr val="FFFFFF"/>
          </a:solidFill>
          <a:ln w="19050">
            <a:solidFill>
              <a:srgbClr val="0A8F8F"/>
            </a:solidFill>
            <a:prstDash val="solid"/>
          </a:ln>
        </p:spPr>
      </p:sp>
      <p:sp>
        <p:nvSpPr>
          <p:cNvPr id="30" name="Text 28"/>
          <p:cNvSpPr txBox="1"/>
          <p:nvPr/>
        </p:nvSpPr>
        <p:spPr>
          <a:xfrm>
            <a:off x="10012680" y="4069080"/>
            <a:ext cx="1554480" cy="320040"/>
          </a:xfrm>
          <a:prstGeom prst="rect">
            <a:avLst/>
          </a:prstGeom>
          <a:noFill/>
          <a:ln/>
        </p:spPr>
        <p:txBody>
          <a:bodyPr wrap="square" lIns="0" tIns="0" rIns="0" bIns="0" rtlCol="0" anchor="t"/>
          <a:lstStyle/>
          <a:p>
            <a:pPr indent="0" marL="0">
              <a:buNone/>
            </a:pPr>
            <a:r>
              <a:rPr lang="en-US" sz="1250" b="1" dirty="0">
                <a:solidFill>
                  <a:srgbClr val="0B1F33"/>
                </a:solidFill>
                <a:latin typeface="Arial" pitchFamily="34" charset="0"/>
                <a:ea typeface="Arial" pitchFamily="34" charset="-122"/>
                <a:cs typeface="Arial" pitchFamily="34" charset="-120"/>
              </a:rPr>
              <a:t>Sprint Review</a:t>
            </a:r>
            <a:endParaRPr lang="en-US" sz="1250" dirty="0"/>
          </a:p>
        </p:txBody>
      </p:sp>
      <p:sp>
        <p:nvSpPr>
          <p:cNvPr id="31" name="Text 29"/>
          <p:cNvSpPr txBox="1"/>
          <p:nvPr/>
        </p:nvSpPr>
        <p:spPr>
          <a:xfrm>
            <a:off x="10012680" y="4407408"/>
            <a:ext cx="1554480" cy="457200"/>
          </a:xfrm>
          <a:prstGeom prst="rect">
            <a:avLst/>
          </a:prstGeom>
          <a:noFill/>
          <a:ln/>
        </p:spPr>
        <p:txBody>
          <a:bodyPr wrap="square" lIns="0" tIns="0" rIns="0" bIns="0" rtlCol="0" anchor="t"/>
          <a:lstStyle/>
          <a:p>
            <a:pPr indent="0" marL="0">
              <a:buNone/>
            </a:pPr>
            <a:r>
              <a:rPr lang="en-US" sz="1050" dirty="0">
                <a:solidFill>
                  <a:srgbClr val="5E6E7E"/>
                </a:solidFill>
                <a:latin typeface="Arial" pitchFamily="34" charset="0"/>
                <a:ea typeface="Arial" pitchFamily="34" charset="-122"/>
                <a:cs typeface="Arial" pitchFamily="34" charset="-120"/>
              </a:rPr>
              <a:t>Inspect outcome with stakeholders</a:t>
            </a:r>
            <a:endParaRPr lang="en-US" sz="1050" dirty="0"/>
          </a:p>
        </p:txBody>
      </p:sp>
      <p:sp>
        <p:nvSpPr>
          <p:cNvPr id="32" name="Shape 30"/>
          <p:cNvSpPr/>
          <p:nvPr/>
        </p:nvSpPr>
        <p:spPr>
          <a:xfrm>
            <a:off x="10789920" y="3246120"/>
            <a:ext cx="0" cy="640080"/>
          </a:xfrm>
          <a:prstGeom prst="line">
            <a:avLst/>
          </a:prstGeom>
          <a:noFill/>
          <a:ln w="19050">
            <a:solidFill>
              <a:srgbClr val="5E6E7E"/>
            </a:solidFill>
            <a:prstDash val="solid"/>
            <a:tailEnd type="triangle"/>
          </a:ln>
        </p:spPr>
      </p:sp>
      <p:sp>
        <p:nvSpPr>
          <p:cNvPr id="33" name="Shape 31"/>
          <p:cNvSpPr/>
          <p:nvPr/>
        </p:nvSpPr>
        <p:spPr>
          <a:xfrm>
            <a:off x="9418320" y="4434840"/>
            <a:ext cx="411480" cy="0"/>
          </a:xfrm>
          <a:prstGeom prst="line">
            <a:avLst/>
          </a:prstGeom>
          <a:noFill/>
          <a:ln w="19050">
            <a:solidFill>
              <a:srgbClr val="5E6E7E"/>
            </a:solidFill>
            <a:prstDash val="solid"/>
            <a:headEnd type="triangle"/>
          </a:ln>
        </p:spPr>
      </p:sp>
      <p:sp>
        <p:nvSpPr>
          <p:cNvPr id="34" name="Shape 32"/>
          <p:cNvSpPr/>
          <p:nvPr/>
        </p:nvSpPr>
        <p:spPr>
          <a:xfrm>
            <a:off x="1463040" y="4434840"/>
            <a:ext cx="6035040" cy="0"/>
          </a:xfrm>
          <a:prstGeom prst="line">
            <a:avLst/>
          </a:prstGeom>
          <a:noFill/>
          <a:ln w="19050">
            <a:solidFill>
              <a:srgbClr val="0A8F8F"/>
            </a:solidFill>
            <a:prstDash val="dash"/>
          </a:ln>
        </p:spPr>
      </p:sp>
      <p:sp>
        <p:nvSpPr>
          <p:cNvPr id="35" name="Shape 33"/>
          <p:cNvSpPr/>
          <p:nvPr/>
        </p:nvSpPr>
        <p:spPr>
          <a:xfrm>
            <a:off x="1463040" y="3246120"/>
            <a:ext cx="0" cy="1188720"/>
          </a:xfrm>
          <a:prstGeom prst="line">
            <a:avLst/>
          </a:prstGeom>
          <a:noFill/>
          <a:ln w="19050">
            <a:solidFill>
              <a:srgbClr val="0A8F8F"/>
            </a:solidFill>
            <a:prstDash val="dash"/>
            <a:headEnd type="triangle"/>
          </a:ln>
        </p:spPr>
      </p:sp>
      <p:sp>
        <p:nvSpPr>
          <p:cNvPr id="36" name="Text 34"/>
          <p:cNvSpPr txBox="1"/>
          <p:nvPr/>
        </p:nvSpPr>
        <p:spPr>
          <a:xfrm>
            <a:off x="1828800" y="4005072"/>
            <a:ext cx="5303520" cy="320040"/>
          </a:xfrm>
          <a:prstGeom prst="rect">
            <a:avLst/>
          </a:prstGeom>
          <a:noFill/>
          <a:ln/>
        </p:spPr>
        <p:txBody>
          <a:bodyPr wrap="square" lIns="0" tIns="0" rIns="0" bIns="0" rtlCol="0" anchor="t"/>
          <a:lstStyle/>
          <a:p>
            <a:pPr algn="ctr" indent="0" marL="0">
              <a:buNone/>
            </a:pPr>
            <a:r>
              <a:rPr lang="en-US" sz="1100" i="1" dirty="0">
                <a:solidFill>
                  <a:srgbClr val="0A8F8F"/>
                </a:solidFill>
                <a:latin typeface="Arial" pitchFamily="34" charset="0"/>
                <a:ea typeface="Arial" pitchFamily="34" charset="-122"/>
                <a:cs typeface="Arial" pitchFamily="34" charset="-120"/>
              </a:rPr>
              <a:t>Feedback and improvements feed the next Sprint</a:t>
            </a:r>
            <a:endParaRPr lang="en-US" sz="1100" dirty="0"/>
          </a:p>
        </p:txBody>
      </p:sp>
      <p:sp>
        <p:nvSpPr>
          <p:cNvPr id="37" name="Shape 35"/>
          <p:cNvSpPr/>
          <p:nvPr/>
        </p:nvSpPr>
        <p:spPr>
          <a:xfrm>
            <a:off x="548640" y="5303520"/>
            <a:ext cx="11064240" cy="777240"/>
          </a:xfrm>
          <a:prstGeom prst="rect">
            <a:avLst/>
          </a:prstGeom>
          <a:solidFill>
            <a:srgbClr val="EEF3F6"/>
          </a:solidFill>
          <a:ln w="12700">
            <a:solidFill>
              <a:srgbClr val="EEF3F6"/>
            </a:solidFill>
            <a:prstDash val="solid"/>
          </a:ln>
        </p:spPr>
      </p:sp>
      <p:sp>
        <p:nvSpPr>
          <p:cNvPr id="38" name="Text 36"/>
          <p:cNvSpPr txBox="1"/>
          <p:nvPr/>
        </p:nvSpPr>
        <p:spPr>
          <a:xfrm>
            <a:off x="777240" y="5303520"/>
            <a:ext cx="10607040" cy="777240"/>
          </a:xfrm>
          <a:prstGeom prst="rect">
            <a:avLst/>
          </a:prstGeom>
          <a:noFill/>
          <a:ln/>
        </p:spPr>
        <p:txBody>
          <a:bodyPr wrap="square" lIns="0" tIns="0" rIns="0" bIns="0" rtlCol="0" anchor="ctr"/>
          <a:lstStyle/>
          <a:p>
            <a:pPr indent="0" marL="0">
              <a:buNone/>
            </a:pPr>
            <a:r>
              <a:rPr lang="en-US" sz="1300" b="1" dirty="0">
                <a:solidFill>
                  <a:srgbClr val="0A8F8F"/>
                </a:solidFill>
                <a:latin typeface="Arial" pitchFamily="34" charset="0"/>
                <a:ea typeface="Arial" pitchFamily="34" charset="-122"/>
                <a:cs typeface="Arial" pitchFamily="34" charset="-120"/>
              </a:rPr>
              <a:t>So what? </a:t>
            </a:r>
            <a:pPr indent="0" marL="0">
              <a:buNone/>
            </a:pPr>
            <a:r>
              <a:rPr lang="en-US" sz="1300" dirty="0">
                <a:solidFill>
                  <a:srgbClr val="1F2A36"/>
                </a:solidFill>
                <a:latin typeface="Arial" pitchFamily="34" charset="0"/>
                <a:ea typeface="Arial" pitchFamily="34" charset="-122"/>
                <a:cs typeface="Arial" pitchFamily="34" charset="-120"/>
              </a:rPr>
              <a:t>Refinement of the Product Backlog happens continuously throughout the Sprint, so that the next Sprint Planning starts with items that are clear, small and ready.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FOUNDATIONS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Three empirical pillars make Scrum work; five shared values make the pillars possible</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5</a:t>
            </a:r>
            <a:endParaRPr lang="en-US" sz="900" dirty="0"/>
          </a:p>
        </p:txBody>
      </p:sp>
      <p:sp>
        <p:nvSpPr>
          <p:cNvPr id="7" name="Shape 5"/>
          <p:cNvSpPr/>
          <p:nvPr/>
        </p:nvSpPr>
        <p:spPr>
          <a:xfrm>
            <a:off x="548640" y="1783080"/>
            <a:ext cx="3474720" cy="251460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8" name="Shape 6"/>
          <p:cNvSpPr/>
          <p:nvPr/>
        </p:nvSpPr>
        <p:spPr>
          <a:xfrm>
            <a:off x="822960" y="2057400"/>
            <a:ext cx="685800" cy="685800"/>
          </a:xfrm>
          <a:prstGeom prst="ellipse">
            <a:avLst/>
          </a:prstGeom>
          <a:solidFill>
            <a:srgbClr val="0A8F8F"/>
          </a:solidFill>
          <a:ln w="12700">
            <a:solidFill>
              <a:srgbClr val="0A8F8F"/>
            </a:solidFill>
            <a:prstDash val="solid"/>
          </a:ln>
        </p:spPr>
      </p:sp>
      <p:pic>
        <p:nvPicPr>
          <p:cNvPr id="9" name="Image 0" descr="preencoded.png">    </p:cNvPr>
          <p:cNvPicPr>
            <a:picLocks noChangeAspect="1"/>
          </p:cNvPicPr>
          <p:nvPr/>
        </p:nvPicPr>
        <p:blipFill>
          <a:blip r:embed="rId1"/>
          <a:stretch>
            <a:fillRect/>
          </a:stretch>
        </p:blipFill>
        <p:spPr>
          <a:xfrm>
            <a:off x="994410" y="2228850"/>
            <a:ext cx="342900" cy="342900"/>
          </a:xfrm>
          <a:prstGeom prst="rect">
            <a:avLst/>
          </a:prstGeom>
        </p:spPr>
      </p:pic>
      <p:sp>
        <p:nvSpPr>
          <p:cNvPr id="10" name="Text 7"/>
          <p:cNvSpPr txBox="1"/>
          <p:nvPr/>
        </p:nvSpPr>
        <p:spPr>
          <a:xfrm>
            <a:off x="82296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Cambria" pitchFamily="34" charset="0"/>
                <a:ea typeface="Cambria" pitchFamily="34" charset="-122"/>
                <a:cs typeface="Cambria" pitchFamily="34" charset="-120"/>
              </a:rPr>
              <a:t>Transparency</a:t>
            </a:r>
            <a:endParaRPr lang="en-US" sz="1700" dirty="0"/>
          </a:p>
        </p:txBody>
      </p:sp>
      <p:sp>
        <p:nvSpPr>
          <p:cNvPr id="11" name="Text 8"/>
          <p:cNvSpPr txBox="1"/>
          <p:nvPr/>
        </p:nvSpPr>
        <p:spPr>
          <a:xfrm>
            <a:off x="822960" y="3291840"/>
            <a:ext cx="2926080" cy="91440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Work and progress are visible to those doing it and those receiving it. Hidden problems cannot be fixed.</a:t>
            </a:r>
            <a:endParaRPr lang="en-US" sz="1200" dirty="0"/>
          </a:p>
        </p:txBody>
      </p:sp>
      <p:sp>
        <p:nvSpPr>
          <p:cNvPr id="12" name="Shape 9"/>
          <p:cNvSpPr/>
          <p:nvPr/>
        </p:nvSpPr>
        <p:spPr>
          <a:xfrm>
            <a:off x="4297680" y="1783080"/>
            <a:ext cx="3474720" cy="251460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13" name="Shape 10"/>
          <p:cNvSpPr/>
          <p:nvPr/>
        </p:nvSpPr>
        <p:spPr>
          <a:xfrm>
            <a:off x="4572000" y="2057400"/>
            <a:ext cx="685800" cy="685800"/>
          </a:xfrm>
          <a:prstGeom prst="ellipse">
            <a:avLst/>
          </a:prstGeom>
          <a:solidFill>
            <a:srgbClr val="0A8F8F"/>
          </a:solidFill>
          <a:ln w="12700">
            <a:solidFill>
              <a:srgbClr val="0A8F8F"/>
            </a:solidFill>
            <a:prstDash val="solid"/>
          </a:ln>
        </p:spPr>
      </p:sp>
      <p:pic>
        <p:nvPicPr>
          <p:cNvPr id="14" name="Image 1" descr="preencoded.png">    </p:cNvPr>
          <p:cNvPicPr>
            <a:picLocks noChangeAspect="1"/>
          </p:cNvPicPr>
          <p:nvPr/>
        </p:nvPicPr>
        <p:blipFill>
          <a:blip r:embed="rId2"/>
          <a:stretch>
            <a:fillRect/>
          </a:stretch>
        </p:blipFill>
        <p:spPr>
          <a:xfrm>
            <a:off x="4743450" y="2228850"/>
            <a:ext cx="342900" cy="342900"/>
          </a:xfrm>
          <a:prstGeom prst="rect">
            <a:avLst/>
          </a:prstGeom>
        </p:spPr>
      </p:pic>
      <p:sp>
        <p:nvSpPr>
          <p:cNvPr id="15" name="Text 11"/>
          <p:cNvSpPr txBox="1"/>
          <p:nvPr/>
        </p:nvSpPr>
        <p:spPr>
          <a:xfrm>
            <a:off x="457200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Cambria" pitchFamily="34" charset="0"/>
                <a:ea typeface="Cambria" pitchFamily="34" charset="-122"/>
                <a:cs typeface="Cambria" pitchFamily="34" charset="-120"/>
              </a:rPr>
              <a:t>Inspection</a:t>
            </a:r>
            <a:endParaRPr lang="en-US" sz="1700" dirty="0"/>
          </a:p>
        </p:txBody>
      </p:sp>
      <p:sp>
        <p:nvSpPr>
          <p:cNvPr id="16" name="Text 12"/>
          <p:cNvSpPr txBox="1"/>
          <p:nvPr/>
        </p:nvSpPr>
        <p:spPr>
          <a:xfrm>
            <a:off x="4572000" y="3291840"/>
            <a:ext cx="2926080" cy="91440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Artefacts and progress towards goals are inspected frequently to detect variances early.</a:t>
            </a:r>
            <a:endParaRPr lang="en-US" sz="1200" dirty="0"/>
          </a:p>
        </p:txBody>
      </p:sp>
      <p:sp>
        <p:nvSpPr>
          <p:cNvPr id="17" name="Shape 13"/>
          <p:cNvSpPr/>
          <p:nvPr/>
        </p:nvSpPr>
        <p:spPr>
          <a:xfrm>
            <a:off x="8046720" y="1783080"/>
            <a:ext cx="3474720" cy="251460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18" name="Shape 14"/>
          <p:cNvSpPr/>
          <p:nvPr/>
        </p:nvSpPr>
        <p:spPr>
          <a:xfrm>
            <a:off x="8321040" y="2057400"/>
            <a:ext cx="685800" cy="685800"/>
          </a:xfrm>
          <a:prstGeom prst="ellipse">
            <a:avLst/>
          </a:prstGeom>
          <a:solidFill>
            <a:srgbClr val="0A8F8F"/>
          </a:solidFill>
          <a:ln w="12700">
            <a:solidFill>
              <a:srgbClr val="0A8F8F"/>
            </a:solidFill>
            <a:prstDash val="solid"/>
          </a:ln>
        </p:spPr>
      </p:sp>
      <p:pic>
        <p:nvPicPr>
          <p:cNvPr id="19" name="Image 2" descr="preencoded.png">    </p:cNvPr>
          <p:cNvPicPr>
            <a:picLocks noChangeAspect="1"/>
          </p:cNvPicPr>
          <p:nvPr/>
        </p:nvPicPr>
        <p:blipFill>
          <a:blip r:embed="rId3"/>
          <a:stretch>
            <a:fillRect/>
          </a:stretch>
        </p:blipFill>
        <p:spPr>
          <a:xfrm>
            <a:off x="8492490" y="2228850"/>
            <a:ext cx="342900" cy="342900"/>
          </a:xfrm>
          <a:prstGeom prst="rect">
            <a:avLst/>
          </a:prstGeom>
        </p:spPr>
      </p:pic>
      <p:sp>
        <p:nvSpPr>
          <p:cNvPr id="20" name="Text 15"/>
          <p:cNvSpPr txBox="1"/>
          <p:nvPr/>
        </p:nvSpPr>
        <p:spPr>
          <a:xfrm>
            <a:off x="832104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Cambria" pitchFamily="34" charset="0"/>
                <a:ea typeface="Cambria" pitchFamily="34" charset="-122"/>
                <a:cs typeface="Cambria" pitchFamily="34" charset="-120"/>
              </a:rPr>
              <a:t>Adaptation</a:t>
            </a:r>
            <a:endParaRPr lang="en-US" sz="1700" dirty="0"/>
          </a:p>
        </p:txBody>
      </p:sp>
      <p:sp>
        <p:nvSpPr>
          <p:cNvPr id="21" name="Text 16"/>
          <p:cNvSpPr txBox="1"/>
          <p:nvPr/>
        </p:nvSpPr>
        <p:spPr>
          <a:xfrm>
            <a:off x="8321040" y="3291840"/>
            <a:ext cx="2926080" cy="91440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When something drifts off course, the team adjusts as soon as possible to minimise deviation.</a:t>
            </a:r>
            <a:endParaRPr lang="en-US" sz="1200" dirty="0"/>
          </a:p>
        </p:txBody>
      </p:sp>
      <p:sp>
        <p:nvSpPr>
          <p:cNvPr id="22" name="Text 17"/>
          <p:cNvSpPr txBox="1"/>
          <p:nvPr/>
        </p:nvSpPr>
        <p:spPr>
          <a:xfrm>
            <a:off x="548640" y="4617720"/>
            <a:ext cx="4572000" cy="274320"/>
          </a:xfrm>
          <a:prstGeom prst="rect">
            <a:avLst/>
          </a:prstGeom>
          <a:noFill/>
          <a:ln/>
        </p:spPr>
        <p:txBody>
          <a:bodyPr wrap="square" lIns="0" tIns="0" rIns="0" bIns="0" rtlCol="0" anchor="t"/>
          <a:lstStyle/>
          <a:p>
            <a:pPr indent="0" marL="0">
              <a:buNone/>
            </a:pPr>
            <a:r>
              <a:rPr lang="en-US" sz="1000" b="1" spc="200" kern="0" dirty="0">
                <a:solidFill>
                  <a:srgbClr val="5E6E7E"/>
                </a:solidFill>
                <a:latin typeface="Arial" pitchFamily="34" charset="0"/>
                <a:ea typeface="Arial" pitchFamily="34" charset="-122"/>
                <a:cs typeface="Arial" pitchFamily="34" charset="-120"/>
              </a:rPr>
              <a:t>SCRUM VALUES</a:t>
            </a:r>
            <a:endParaRPr lang="en-US" sz="1000" dirty="0"/>
          </a:p>
        </p:txBody>
      </p:sp>
      <p:sp>
        <p:nvSpPr>
          <p:cNvPr id="23" name="Shape 18"/>
          <p:cNvSpPr/>
          <p:nvPr/>
        </p:nvSpPr>
        <p:spPr>
          <a:xfrm>
            <a:off x="548640" y="4983480"/>
            <a:ext cx="2103120" cy="1051560"/>
          </a:xfrm>
          <a:prstGeom prst="rect">
            <a:avLst/>
          </a:prstGeom>
          <a:solidFill>
            <a:srgbClr val="12355B"/>
          </a:solidFill>
          <a:ln w="12700">
            <a:solidFill>
              <a:srgbClr val="12355B"/>
            </a:solidFill>
            <a:prstDash val="solid"/>
          </a:ln>
        </p:spPr>
      </p:sp>
      <p:sp>
        <p:nvSpPr>
          <p:cNvPr id="24" name="Text 19"/>
          <p:cNvSpPr txBox="1"/>
          <p:nvPr/>
        </p:nvSpPr>
        <p:spPr>
          <a:xfrm>
            <a:off x="731520" y="5120640"/>
            <a:ext cx="1737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Commitment</a:t>
            </a:r>
            <a:endParaRPr lang="en-US" sz="1400" dirty="0"/>
          </a:p>
        </p:txBody>
      </p:sp>
      <p:sp>
        <p:nvSpPr>
          <p:cNvPr id="25" name="Text 20"/>
          <p:cNvSpPr txBox="1"/>
          <p:nvPr/>
        </p:nvSpPr>
        <p:spPr>
          <a:xfrm>
            <a:off x="731520" y="5468112"/>
            <a:ext cx="1737360" cy="457200"/>
          </a:xfrm>
          <a:prstGeom prst="rect">
            <a:avLst/>
          </a:prstGeom>
          <a:noFill/>
          <a:ln/>
        </p:spPr>
        <p:txBody>
          <a:bodyPr wrap="square" lIns="0" tIns="0" rIns="0" bIns="0" rtlCol="0" anchor="t"/>
          <a:lstStyle/>
          <a:p>
            <a:pPr indent="0" marL="0">
              <a:buNone/>
            </a:pPr>
            <a:r>
              <a:rPr lang="en-US" sz="1100" dirty="0">
                <a:solidFill>
                  <a:srgbClr val="C8D6E3"/>
                </a:solidFill>
                <a:latin typeface="Arial" pitchFamily="34" charset="0"/>
                <a:ea typeface="Arial" pitchFamily="34" charset="-122"/>
                <a:cs typeface="Arial" pitchFamily="34" charset="-120"/>
              </a:rPr>
              <a:t>to the team's goals</a:t>
            </a:r>
            <a:endParaRPr lang="en-US" sz="1100" dirty="0"/>
          </a:p>
        </p:txBody>
      </p:sp>
      <p:sp>
        <p:nvSpPr>
          <p:cNvPr id="26" name="Shape 21"/>
          <p:cNvSpPr/>
          <p:nvPr/>
        </p:nvSpPr>
        <p:spPr>
          <a:xfrm>
            <a:off x="2798064" y="4983480"/>
            <a:ext cx="2103120" cy="1051560"/>
          </a:xfrm>
          <a:prstGeom prst="rect">
            <a:avLst/>
          </a:prstGeom>
          <a:solidFill>
            <a:srgbClr val="12355B"/>
          </a:solidFill>
          <a:ln w="12700">
            <a:solidFill>
              <a:srgbClr val="12355B"/>
            </a:solidFill>
            <a:prstDash val="solid"/>
          </a:ln>
        </p:spPr>
      </p:sp>
      <p:sp>
        <p:nvSpPr>
          <p:cNvPr id="27" name="Text 22"/>
          <p:cNvSpPr txBox="1"/>
          <p:nvPr/>
        </p:nvSpPr>
        <p:spPr>
          <a:xfrm>
            <a:off x="2980944" y="5120640"/>
            <a:ext cx="1737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Focus</a:t>
            </a:r>
            <a:endParaRPr lang="en-US" sz="1400" dirty="0"/>
          </a:p>
        </p:txBody>
      </p:sp>
      <p:sp>
        <p:nvSpPr>
          <p:cNvPr id="28" name="Text 23"/>
          <p:cNvSpPr txBox="1"/>
          <p:nvPr/>
        </p:nvSpPr>
        <p:spPr>
          <a:xfrm>
            <a:off x="2980944" y="5468112"/>
            <a:ext cx="1737360" cy="457200"/>
          </a:xfrm>
          <a:prstGeom prst="rect">
            <a:avLst/>
          </a:prstGeom>
          <a:noFill/>
          <a:ln/>
        </p:spPr>
        <p:txBody>
          <a:bodyPr wrap="square" lIns="0" tIns="0" rIns="0" bIns="0" rtlCol="0" anchor="t"/>
          <a:lstStyle/>
          <a:p>
            <a:pPr indent="0" marL="0">
              <a:buNone/>
            </a:pPr>
            <a:r>
              <a:rPr lang="en-US" sz="1100" dirty="0">
                <a:solidFill>
                  <a:srgbClr val="C8D6E3"/>
                </a:solidFill>
                <a:latin typeface="Arial" pitchFamily="34" charset="0"/>
                <a:ea typeface="Arial" pitchFamily="34" charset="-122"/>
                <a:cs typeface="Arial" pitchFamily="34" charset="-120"/>
              </a:rPr>
              <a:t>on the Sprint's work</a:t>
            </a:r>
            <a:endParaRPr lang="en-US" sz="1100" dirty="0"/>
          </a:p>
        </p:txBody>
      </p:sp>
      <p:sp>
        <p:nvSpPr>
          <p:cNvPr id="29" name="Shape 24"/>
          <p:cNvSpPr/>
          <p:nvPr/>
        </p:nvSpPr>
        <p:spPr>
          <a:xfrm>
            <a:off x="5047488" y="4983480"/>
            <a:ext cx="2103120" cy="1051560"/>
          </a:xfrm>
          <a:prstGeom prst="rect">
            <a:avLst/>
          </a:prstGeom>
          <a:solidFill>
            <a:srgbClr val="12355B"/>
          </a:solidFill>
          <a:ln w="12700">
            <a:solidFill>
              <a:srgbClr val="12355B"/>
            </a:solidFill>
            <a:prstDash val="solid"/>
          </a:ln>
        </p:spPr>
      </p:sp>
      <p:sp>
        <p:nvSpPr>
          <p:cNvPr id="30" name="Text 25"/>
          <p:cNvSpPr txBox="1"/>
          <p:nvPr/>
        </p:nvSpPr>
        <p:spPr>
          <a:xfrm>
            <a:off x="5230368" y="5120640"/>
            <a:ext cx="1737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Openness</a:t>
            </a:r>
            <a:endParaRPr lang="en-US" sz="1400" dirty="0"/>
          </a:p>
        </p:txBody>
      </p:sp>
      <p:sp>
        <p:nvSpPr>
          <p:cNvPr id="31" name="Text 26"/>
          <p:cNvSpPr txBox="1"/>
          <p:nvPr/>
        </p:nvSpPr>
        <p:spPr>
          <a:xfrm>
            <a:off x="5230368" y="5468112"/>
            <a:ext cx="1737360" cy="457200"/>
          </a:xfrm>
          <a:prstGeom prst="rect">
            <a:avLst/>
          </a:prstGeom>
          <a:noFill/>
          <a:ln/>
        </p:spPr>
        <p:txBody>
          <a:bodyPr wrap="square" lIns="0" tIns="0" rIns="0" bIns="0" rtlCol="0" anchor="t"/>
          <a:lstStyle/>
          <a:p>
            <a:pPr indent="0" marL="0">
              <a:buNone/>
            </a:pPr>
            <a:r>
              <a:rPr lang="en-US" sz="1100" dirty="0">
                <a:solidFill>
                  <a:srgbClr val="C8D6E3"/>
                </a:solidFill>
                <a:latin typeface="Arial" pitchFamily="34" charset="0"/>
                <a:ea typeface="Arial" pitchFamily="34" charset="-122"/>
                <a:cs typeface="Arial" pitchFamily="34" charset="-120"/>
              </a:rPr>
              <a:t>about work and challenges</a:t>
            </a:r>
            <a:endParaRPr lang="en-US" sz="1100" dirty="0"/>
          </a:p>
        </p:txBody>
      </p:sp>
      <p:sp>
        <p:nvSpPr>
          <p:cNvPr id="32" name="Shape 27"/>
          <p:cNvSpPr/>
          <p:nvPr/>
        </p:nvSpPr>
        <p:spPr>
          <a:xfrm>
            <a:off x="7296912" y="4983480"/>
            <a:ext cx="2103120" cy="1051560"/>
          </a:xfrm>
          <a:prstGeom prst="rect">
            <a:avLst/>
          </a:prstGeom>
          <a:solidFill>
            <a:srgbClr val="12355B"/>
          </a:solidFill>
          <a:ln w="12700">
            <a:solidFill>
              <a:srgbClr val="12355B"/>
            </a:solidFill>
            <a:prstDash val="solid"/>
          </a:ln>
        </p:spPr>
      </p:sp>
      <p:sp>
        <p:nvSpPr>
          <p:cNvPr id="33" name="Text 28"/>
          <p:cNvSpPr txBox="1"/>
          <p:nvPr/>
        </p:nvSpPr>
        <p:spPr>
          <a:xfrm>
            <a:off x="7479792" y="5120640"/>
            <a:ext cx="1737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Respect</a:t>
            </a:r>
            <a:endParaRPr lang="en-US" sz="1400" dirty="0"/>
          </a:p>
        </p:txBody>
      </p:sp>
      <p:sp>
        <p:nvSpPr>
          <p:cNvPr id="34" name="Text 29"/>
          <p:cNvSpPr txBox="1"/>
          <p:nvPr/>
        </p:nvSpPr>
        <p:spPr>
          <a:xfrm>
            <a:off x="7479792" y="5468112"/>
            <a:ext cx="1737360" cy="457200"/>
          </a:xfrm>
          <a:prstGeom prst="rect">
            <a:avLst/>
          </a:prstGeom>
          <a:noFill/>
          <a:ln/>
        </p:spPr>
        <p:txBody>
          <a:bodyPr wrap="square" lIns="0" tIns="0" rIns="0" bIns="0" rtlCol="0" anchor="t"/>
          <a:lstStyle/>
          <a:p>
            <a:pPr indent="0" marL="0">
              <a:buNone/>
            </a:pPr>
            <a:r>
              <a:rPr lang="en-US" sz="1100" dirty="0">
                <a:solidFill>
                  <a:srgbClr val="C8D6E3"/>
                </a:solidFill>
                <a:latin typeface="Arial" pitchFamily="34" charset="0"/>
                <a:ea typeface="Arial" pitchFamily="34" charset="-122"/>
                <a:cs typeface="Arial" pitchFamily="34" charset="-120"/>
              </a:rPr>
              <a:t>for each other's skills</a:t>
            </a:r>
            <a:endParaRPr lang="en-US" sz="1100" dirty="0"/>
          </a:p>
        </p:txBody>
      </p:sp>
      <p:sp>
        <p:nvSpPr>
          <p:cNvPr id="35" name="Shape 30"/>
          <p:cNvSpPr/>
          <p:nvPr/>
        </p:nvSpPr>
        <p:spPr>
          <a:xfrm>
            <a:off x="9546336" y="4983480"/>
            <a:ext cx="2103120" cy="1051560"/>
          </a:xfrm>
          <a:prstGeom prst="rect">
            <a:avLst/>
          </a:prstGeom>
          <a:solidFill>
            <a:srgbClr val="12355B"/>
          </a:solidFill>
          <a:ln w="12700">
            <a:solidFill>
              <a:srgbClr val="12355B"/>
            </a:solidFill>
            <a:prstDash val="solid"/>
          </a:ln>
        </p:spPr>
      </p:sp>
      <p:sp>
        <p:nvSpPr>
          <p:cNvPr id="36" name="Text 31"/>
          <p:cNvSpPr txBox="1"/>
          <p:nvPr/>
        </p:nvSpPr>
        <p:spPr>
          <a:xfrm>
            <a:off x="9729216" y="5120640"/>
            <a:ext cx="1737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Courage</a:t>
            </a:r>
            <a:endParaRPr lang="en-US" sz="1400" dirty="0"/>
          </a:p>
        </p:txBody>
      </p:sp>
      <p:sp>
        <p:nvSpPr>
          <p:cNvPr id="37" name="Text 32"/>
          <p:cNvSpPr txBox="1"/>
          <p:nvPr/>
        </p:nvSpPr>
        <p:spPr>
          <a:xfrm>
            <a:off x="9729216" y="5468112"/>
            <a:ext cx="1737360" cy="457200"/>
          </a:xfrm>
          <a:prstGeom prst="rect">
            <a:avLst/>
          </a:prstGeom>
          <a:noFill/>
          <a:ln/>
        </p:spPr>
        <p:txBody>
          <a:bodyPr wrap="square" lIns="0" tIns="0" rIns="0" bIns="0" rtlCol="0" anchor="t"/>
          <a:lstStyle/>
          <a:p>
            <a:pPr indent="0" marL="0">
              <a:buNone/>
            </a:pPr>
            <a:r>
              <a:rPr lang="en-US" sz="1100" dirty="0">
                <a:solidFill>
                  <a:srgbClr val="C8D6E3"/>
                </a:solidFill>
                <a:latin typeface="Arial" pitchFamily="34" charset="0"/>
                <a:ea typeface="Arial" pitchFamily="34" charset="-122"/>
                <a:cs typeface="Arial" pitchFamily="34" charset="-120"/>
              </a:rPr>
              <a:t>to do the right thing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THE SCRUM TEAM</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 small, self-managing team of typically ten or fewer people, with three distinct accountabilities</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6</a:t>
            </a:r>
            <a:endParaRPr lang="en-US" sz="900" dirty="0"/>
          </a:p>
        </p:txBody>
      </p:sp>
      <p:sp>
        <p:nvSpPr>
          <p:cNvPr id="7" name="Shape 5"/>
          <p:cNvSpPr/>
          <p:nvPr/>
        </p:nvSpPr>
        <p:spPr>
          <a:xfrm>
            <a:off x="548640" y="1783080"/>
            <a:ext cx="3474720" cy="4251960"/>
          </a:xfrm>
          <a:prstGeom prst="rect">
            <a:avLst/>
          </a:prstGeom>
          <a:solidFill>
            <a:srgbClr val="EEF3F6"/>
          </a:solidFill>
          <a:ln w="12700">
            <a:solidFill>
              <a:srgbClr val="EEF3F6"/>
            </a:solidFill>
            <a:prstDash val="solid"/>
          </a:ln>
        </p:spPr>
      </p:sp>
      <p:sp>
        <p:nvSpPr>
          <p:cNvPr id="8" name="Shape 6"/>
          <p:cNvSpPr/>
          <p:nvPr/>
        </p:nvSpPr>
        <p:spPr>
          <a:xfrm>
            <a:off x="822960" y="2057400"/>
            <a:ext cx="731520" cy="731520"/>
          </a:xfrm>
          <a:prstGeom prst="ellipse">
            <a:avLst/>
          </a:prstGeom>
          <a:solidFill>
            <a:srgbClr val="12355B"/>
          </a:solidFill>
          <a:ln w="12700">
            <a:solidFill>
              <a:srgbClr val="12355B"/>
            </a:solidFill>
            <a:prstDash val="solid"/>
          </a:ln>
        </p:spPr>
      </p:sp>
      <p:pic>
        <p:nvPicPr>
          <p:cNvPr id="9" name="Image 0" descr="preencoded.png">    </p:cNvPr>
          <p:cNvPicPr>
            <a:picLocks noChangeAspect="1"/>
          </p:cNvPicPr>
          <p:nvPr/>
        </p:nvPicPr>
        <p:blipFill>
          <a:blip r:embed="rId1"/>
          <a:stretch>
            <a:fillRect/>
          </a:stretch>
        </p:blipFill>
        <p:spPr>
          <a:xfrm>
            <a:off x="1005840" y="2240280"/>
            <a:ext cx="365760" cy="365760"/>
          </a:xfrm>
          <a:prstGeom prst="rect">
            <a:avLst/>
          </a:prstGeom>
        </p:spPr>
      </p:pic>
      <p:sp>
        <p:nvSpPr>
          <p:cNvPr id="10" name="Text 7"/>
          <p:cNvSpPr txBox="1"/>
          <p:nvPr/>
        </p:nvSpPr>
        <p:spPr>
          <a:xfrm>
            <a:off x="822960" y="292608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Product Owner</a:t>
            </a:r>
            <a:endParaRPr lang="en-US" sz="1900" dirty="0"/>
          </a:p>
        </p:txBody>
      </p:sp>
      <p:sp>
        <p:nvSpPr>
          <p:cNvPr id="11" name="Text 8"/>
          <p:cNvSpPr txBox="1"/>
          <p:nvPr/>
        </p:nvSpPr>
        <p:spPr>
          <a:xfrm>
            <a:off x="822960" y="3355848"/>
            <a:ext cx="2926080" cy="54864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Maximises the value of the product</a:t>
            </a:r>
            <a:endParaRPr lang="en-US" sz="1200" dirty="0"/>
          </a:p>
        </p:txBody>
      </p:sp>
      <p:sp>
        <p:nvSpPr>
          <p:cNvPr id="12" name="Text 9"/>
          <p:cNvSpPr txBox="1"/>
          <p:nvPr/>
        </p:nvSpPr>
        <p:spPr>
          <a:xfrm>
            <a:off x="822960" y="402336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Owns and orders the Product Backlog</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Develops and communicates the Product Goal</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Is one person, not a committee</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Represents stakeholder needs</a:t>
            </a:r>
            <a:endParaRPr lang="en-US" sz="1300" dirty="0"/>
          </a:p>
        </p:txBody>
      </p:sp>
      <p:sp>
        <p:nvSpPr>
          <p:cNvPr id="13" name="Shape 10"/>
          <p:cNvSpPr/>
          <p:nvPr/>
        </p:nvSpPr>
        <p:spPr>
          <a:xfrm>
            <a:off x="4297680" y="1783080"/>
            <a:ext cx="3474720" cy="4251960"/>
          </a:xfrm>
          <a:prstGeom prst="rect">
            <a:avLst/>
          </a:prstGeom>
          <a:solidFill>
            <a:srgbClr val="EEF3F6"/>
          </a:solidFill>
          <a:ln w="12700">
            <a:solidFill>
              <a:srgbClr val="EEF3F6"/>
            </a:solidFill>
            <a:prstDash val="solid"/>
          </a:ln>
        </p:spPr>
      </p:sp>
      <p:sp>
        <p:nvSpPr>
          <p:cNvPr id="14" name="Shape 11"/>
          <p:cNvSpPr/>
          <p:nvPr/>
        </p:nvSpPr>
        <p:spPr>
          <a:xfrm>
            <a:off x="4572000" y="2057400"/>
            <a:ext cx="731520" cy="731520"/>
          </a:xfrm>
          <a:prstGeom prst="ellipse">
            <a:avLst/>
          </a:prstGeom>
          <a:solidFill>
            <a:srgbClr val="0A8F8F"/>
          </a:solidFill>
          <a:ln w="12700">
            <a:solidFill>
              <a:srgbClr val="0A8F8F"/>
            </a:solidFill>
            <a:prstDash val="solid"/>
          </a:ln>
        </p:spPr>
      </p:sp>
      <p:pic>
        <p:nvPicPr>
          <p:cNvPr id="15" name="Image 1" descr="preencoded.png">    </p:cNvPr>
          <p:cNvPicPr>
            <a:picLocks noChangeAspect="1"/>
          </p:cNvPicPr>
          <p:nvPr/>
        </p:nvPicPr>
        <p:blipFill>
          <a:blip r:embed="rId2"/>
          <a:stretch>
            <a:fillRect/>
          </a:stretch>
        </p:blipFill>
        <p:spPr>
          <a:xfrm>
            <a:off x="4754880" y="2240280"/>
            <a:ext cx="365760" cy="365760"/>
          </a:xfrm>
          <a:prstGeom prst="rect">
            <a:avLst/>
          </a:prstGeom>
        </p:spPr>
      </p:pic>
      <p:sp>
        <p:nvSpPr>
          <p:cNvPr id="16" name="Text 12"/>
          <p:cNvSpPr txBox="1"/>
          <p:nvPr/>
        </p:nvSpPr>
        <p:spPr>
          <a:xfrm>
            <a:off x="4572000" y="292608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Scrum Master</a:t>
            </a:r>
            <a:endParaRPr lang="en-US" sz="1900" dirty="0"/>
          </a:p>
        </p:txBody>
      </p:sp>
      <p:sp>
        <p:nvSpPr>
          <p:cNvPr id="17" name="Text 13"/>
          <p:cNvSpPr txBox="1"/>
          <p:nvPr/>
        </p:nvSpPr>
        <p:spPr>
          <a:xfrm>
            <a:off x="4572000" y="3355848"/>
            <a:ext cx="2926080" cy="54864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Establishes Scrum and team effectiveness</a:t>
            </a:r>
            <a:endParaRPr lang="en-US" sz="1200" dirty="0"/>
          </a:p>
        </p:txBody>
      </p:sp>
      <p:sp>
        <p:nvSpPr>
          <p:cNvPr id="18" name="Text 14"/>
          <p:cNvSpPr txBox="1"/>
          <p:nvPr/>
        </p:nvSpPr>
        <p:spPr>
          <a:xfrm>
            <a:off x="4572000" y="402336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Coaches the team in self-management</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Removes impediments to progress</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Ensures events are held and productive</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Helps the organisation adopt Scrum</a:t>
            </a:r>
            <a:endParaRPr lang="en-US" sz="1300" dirty="0"/>
          </a:p>
        </p:txBody>
      </p:sp>
      <p:sp>
        <p:nvSpPr>
          <p:cNvPr id="19" name="Shape 15"/>
          <p:cNvSpPr/>
          <p:nvPr/>
        </p:nvSpPr>
        <p:spPr>
          <a:xfrm>
            <a:off x="8046720" y="1783080"/>
            <a:ext cx="3474720" cy="4251960"/>
          </a:xfrm>
          <a:prstGeom prst="rect">
            <a:avLst/>
          </a:prstGeom>
          <a:solidFill>
            <a:srgbClr val="EEF3F6"/>
          </a:solidFill>
          <a:ln w="12700">
            <a:solidFill>
              <a:srgbClr val="EEF3F6"/>
            </a:solidFill>
            <a:prstDash val="solid"/>
          </a:ln>
        </p:spPr>
      </p:sp>
      <p:sp>
        <p:nvSpPr>
          <p:cNvPr id="20" name="Shape 16"/>
          <p:cNvSpPr/>
          <p:nvPr/>
        </p:nvSpPr>
        <p:spPr>
          <a:xfrm>
            <a:off x="8321040" y="2057400"/>
            <a:ext cx="731520" cy="731520"/>
          </a:xfrm>
          <a:prstGeom prst="ellipse">
            <a:avLst/>
          </a:prstGeom>
          <a:solidFill>
            <a:srgbClr val="12355B"/>
          </a:solidFill>
          <a:ln w="12700">
            <a:solidFill>
              <a:srgbClr val="12355B"/>
            </a:solidFill>
            <a:prstDash val="solid"/>
          </a:ln>
        </p:spPr>
      </p:sp>
      <p:pic>
        <p:nvPicPr>
          <p:cNvPr id="21" name="Image 2" descr="preencoded.png">    </p:cNvPr>
          <p:cNvPicPr>
            <a:picLocks noChangeAspect="1"/>
          </p:cNvPicPr>
          <p:nvPr/>
        </p:nvPicPr>
        <p:blipFill>
          <a:blip r:embed="rId3"/>
          <a:stretch>
            <a:fillRect/>
          </a:stretch>
        </p:blipFill>
        <p:spPr>
          <a:xfrm>
            <a:off x="8503920" y="2240280"/>
            <a:ext cx="365760" cy="365760"/>
          </a:xfrm>
          <a:prstGeom prst="rect">
            <a:avLst/>
          </a:prstGeom>
        </p:spPr>
      </p:pic>
      <p:sp>
        <p:nvSpPr>
          <p:cNvPr id="22" name="Text 17"/>
          <p:cNvSpPr txBox="1"/>
          <p:nvPr/>
        </p:nvSpPr>
        <p:spPr>
          <a:xfrm>
            <a:off x="8321040" y="2926080"/>
            <a:ext cx="2926080" cy="411480"/>
          </a:xfrm>
          <a:prstGeom prst="rect">
            <a:avLst/>
          </a:prstGeom>
          <a:noFill/>
          <a:ln/>
        </p:spPr>
        <p:txBody>
          <a:bodyPr wrap="square" lIns="0" tIns="0" rIns="0" bIns="0" rtlCol="0" anchor="t"/>
          <a:lstStyle/>
          <a:p>
            <a:pPr indent="0" marL="0">
              <a:buNone/>
            </a:pPr>
            <a:r>
              <a:rPr lang="en-US" sz="1900" b="1" dirty="0">
                <a:solidFill>
                  <a:srgbClr val="0B1F33"/>
                </a:solidFill>
                <a:latin typeface="Cambria" pitchFamily="34" charset="0"/>
                <a:ea typeface="Cambria" pitchFamily="34" charset="-122"/>
                <a:cs typeface="Cambria" pitchFamily="34" charset="-120"/>
              </a:rPr>
              <a:t>Developers</a:t>
            </a:r>
            <a:endParaRPr lang="en-US" sz="1900" dirty="0"/>
          </a:p>
        </p:txBody>
      </p:sp>
      <p:sp>
        <p:nvSpPr>
          <p:cNvPr id="23" name="Text 18"/>
          <p:cNvSpPr txBox="1"/>
          <p:nvPr/>
        </p:nvSpPr>
        <p:spPr>
          <a:xfrm>
            <a:off x="8321040" y="3355848"/>
            <a:ext cx="2926080" cy="548640"/>
          </a:xfrm>
          <a:prstGeom prst="rect">
            <a:avLst/>
          </a:prstGeom>
          <a:noFill/>
          <a:ln/>
        </p:spPr>
        <p:txBody>
          <a:bodyPr wrap="square" lIns="0" tIns="0" rIns="0" bIns="0" rtlCol="0" anchor="t"/>
          <a:lstStyle/>
          <a:p>
            <a:pPr indent="0" marL="0">
              <a:buNone/>
            </a:pPr>
            <a:r>
              <a:rPr lang="en-US" sz="1200" i="1" dirty="0">
                <a:solidFill>
                  <a:srgbClr val="0A8F8F"/>
                </a:solidFill>
                <a:latin typeface="Arial" pitchFamily="34" charset="0"/>
                <a:ea typeface="Arial" pitchFamily="34" charset="-122"/>
                <a:cs typeface="Arial" pitchFamily="34" charset="-120"/>
              </a:rPr>
              <a:t>Create a usable Increment every Sprint</a:t>
            </a:r>
            <a:endParaRPr lang="en-US" sz="1200" dirty="0"/>
          </a:p>
        </p:txBody>
      </p:sp>
      <p:sp>
        <p:nvSpPr>
          <p:cNvPr id="24" name="Text 19"/>
          <p:cNvSpPr txBox="1"/>
          <p:nvPr/>
        </p:nvSpPr>
        <p:spPr>
          <a:xfrm>
            <a:off x="8321040" y="4023360"/>
            <a:ext cx="2971800" cy="19202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Create the plan for the Sprint</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Instil quality via the Definition of Done</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Adapt their plan daily</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Hold each other accountable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SCRUM EVENTS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Five events create a regular cadence; every event is timeboxed to keep the team focused</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011680"/>
                <a:gridCol w="3657600"/>
                <a:gridCol w="2286000"/>
                <a:gridCol w="1554480"/>
                <a:gridCol w="1554480"/>
              </a:tblGrid>
              <a:tr h="640080">
                <a:tc>
                  <a:txBody>
                    <a:bodyPr/>
                    <a:lstStyle/>
                    <a:p>
                      <a:pPr indent="0" marL="0">
                        <a:buNone/>
                      </a:pPr>
                      <a:r>
                        <a:rPr lang="en-US" sz="1200" b="1" dirty="0">
                          <a:solidFill>
                            <a:srgbClr val="FFFFFF"/>
                          </a:solidFill>
                          <a:latin typeface="Arial" pitchFamily="34" charset="0"/>
                          <a:ea typeface="Arial" pitchFamily="34" charset="-122"/>
                          <a:cs typeface="Arial" pitchFamily="34" charset="-120"/>
                        </a:rPr>
                        <a:t>Event</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Purpose</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Who attends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Maximum timebox</a:t>
                      </a:r>
                      <a:endParaRPr lang="en-US" sz="1200" dirty="0">
                        <a:latin typeface="Arial" charset="0"/>
                        <a:ea typeface="Arial" charset="0"/>
                        <a:cs typeface="Arial" charset="0"/>
                      </a:endParaRPr>
                    </a:p>
                    <a:p>
                      <a:pPr indent="0" marL="0">
                        <a:buNone/>
                      </a:pPr>
                      <a:r>
                        <a:rPr lang="en-US" sz="1200" b="1" dirty="0">
                          <a:solidFill>
                            <a:srgbClr val="FFFFFF"/>
                          </a:solidFill>
                          <a:latin typeface="Arial" pitchFamily="34" charset="0"/>
                          <a:ea typeface="Arial" pitchFamily="34" charset="-122"/>
                          <a:cs typeface="Arial" pitchFamily="34" charset="-120"/>
                        </a:rPr>
                        <a:t>(1-month Sprint)</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Typical</a:t>
                      </a:r>
                      <a:endParaRPr lang="en-US" sz="1200" dirty="0">
                        <a:latin typeface="Arial" charset="0"/>
                        <a:ea typeface="Arial" charset="0"/>
                        <a:cs typeface="Arial" charset="0"/>
                      </a:endParaRPr>
                    </a:p>
                    <a:p>
                      <a:pPr indent="0" marL="0">
                        <a:buNone/>
                      </a:pPr>
                      <a:r>
                        <a:rPr lang="en-US" sz="1200" b="1" dirty="0">
                          <a:solidFill>
                            <a:srgbClr val="FFFFFF"/>
                          </a:solidFill>
                          <a:latin typeface="Arial" pitchFamily="34" charset="0"/>
                          <a:ea typeface="Arial" pitchFamily="34" charset="-122"/>
                          <a:cs typeface="Arial" pitchFamily="34" charset="-120"/>
                        </a:rPr>
                        <a:t>(2-week Sprint)</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1F33"/>
                    </a:solidFill>
                  </a:tcPr>
                </a:tc>
              </a:tr>
              <a:tr h="603504">
                <a:tc>
                  <a:txBody>
                    <a:bodyPr/>
                    <a:lstStyle/>
                    <a:p>
                      <a:pPr indent="0" marL="0">
                        <a:buNone/>
                      </a:pPr>
                      <a:r>
                        <a:rPr lang="en-US" sz="1200" b="1" dirty="0">
                          <a:solidFill>
                            <a:srgbClr val="0B1F33"/>
                          </a:solidFill>
                          <a:latin typeface="Arial" pitchFamily="34" charset="0"/>
                          <a:ea typeface="Arial" pitchFamily="34" charset="-122"/>
                          <a:cs typeface="Arial" pitchFamily="34" charset="-120"/>
                        </a:rPr>
                        <a:t>The Sprint</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Container for all other events; turns ideas into value</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Scrum Team</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b="1" dirty="0">
                          <a:solidFill>
                            <a:srgbClr val="1F2A36"/>
                          </a:solidFill>
                          <a:latin typeface="Arial" pitchFamily="34" charset="0"/>
                          <a:ea typeface="Arial" pitchFamily="34" charset="-122"/>
                          <a:cs typeface="Arial" pitchFamily="34" charset="-120"/>
                        </a:rPr>
                        <a:t>1 month</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2 weeks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603504">
                <a:tc>
                  <a:txBody>
                    <a:bodyPr/>
                    <a:lstStyle/>
                    <a:p>
                      <a:pPr indent="0" marL="0">
                        <a:buNone/>
                      </a:pPr>
                      <a:r>
                        <a:rPr lang="en-US" sz="1200" b="1" dirty="0">
                          <a:solidFill>
                            <a:srgbClr val="0B1F33"/>
                          </a:solidFill>
                          <a:latin typeface="Arial" pitchFamily="34" charset="0"/>
                          <a:ea typeface="Arial" pitchFamily="34" charset="-122"/>
                          <a:cs typeface="Arial" pitchFamily="34" charset="-120"/>
                        </a:rPr>
                        <a:t>Sprint Planning</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Define why, what and how for the Sprint</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Scrum Team (+ invited experts)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6"/>
                          </a:solidFill>
                          <a:latin typeface="Arial" pitchFamily="34" charset="0"/>
                          <a:ea typeface="Arial" pitchFamily="34" charset="-122"/>
                          <a:cs typeface="Arial" pitchFamily="34" charset="-120"/>
                        </a:rPr>
                        <a:t>8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4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3"/>
                          </a:solidFill>
                          <a:latin typeface="Arial" pitchFamily="34" charset="0"/>
                          <a:ea typeface="Arial" pitchFamily="34" charset="-122"/>
                          <a:cs typeface="Arial" pitchFamily="34" charset="-120"/>
                        </a:rPr>
                        <a:t>Daily Scrum</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Inspect progress towards the Sprint Goal; adapt the plan</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Developers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b="1" dirty="0">
                          <a:solidFill>
                            <a:srgbClr val="1F2A36"/>
                          </a:solidFill>
                          <a:latin typeface="Arial" pitchFamily="34" charset="0"/>
                          <a:ea typeface="Arial" pitchFamily="34" charset="-122"/>
                          <a:cs typeface="Arial" pitchFamily="34" charset="-120"/>
                        </a:rPr>
                        <a:t>15 minutes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15 minutes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r h="603504">
                <a:tc>
                  <a:txBody>
                    <a:bodyPr/>
                    <a:lstStyle/>
                    <a:p>
                      <a:pPr indent="0" marL="0">
                        <a:buNone/>
                      </a:pPr>
                      <a:r>
                        <a:rPr lang="en-US" sz="1200" b="1" dirty="0">
                          <a:solidFill>
                            <a:srgbClr val="0B1F33"/>
                          </a:solidFill>
                          <a:latin typeface="Arial" pitchFamily="34" charset="0"/>
                          <a:ea typeface="Arial" pitchFamily="34" charset="-122"/>
                          <a:cs typeface="Arial" pitchFamily="34" charset="-120"/>
                        </a:rPr>
                        <a:t>Sprint Review</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Inspect the outcome and adapt the Product Backlog</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Scrum Team + stakeholders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6"/>
                          </a:solidFill>
                          <a:latin typeface="Arial" pitchFamily="34" charset="0"/>
                          <a:ea typeface="Arial" pitchFamily="34" charset="-122"/>
                          <a:cs typeface="Arial" pitchFamily="34" charset="-120"/>
                        </a:rPr>
                        <a:t>4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2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200" b="1" dirty="0">
                          <a:solidFill>
                            <a:srgbClr val="0B1F33"/>
                          </a:solidFill>
                          <a:latin typeface="Arial" pitchFamily="34" charset="0"/>
                          <a:ea typeface="Arial" pitchFamily="34" charset="-122"/>
                          <a:cs typeface="Arial" pitchFamily="34" charset="-120"/>
                        </a:rPr>
                        <a:t>Sprint Retrospective</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Plan ways to increase quality and effectiveness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Scrum Team</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b="1" dirty="0">
                          <a:solidFill>
                            <a:srgbClr val="1F2A36"/>
                          </a:solidFill>
                          <a:latin typeface="Arial" pitchFamily="34" charset="0"/>
                          <a:ea typeface="Arial" pitchFamily="34" charset="-122"/>
                          <a:cs typeface="Arial" pitchFamily="34" charset="-120"/>
                        </a:rPr>
                        <a:t>3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c>
                  <a:txBody>
                    <a:bodyPr/>
                    <a:lstStyle/>
                    <a:p>
                      <a:pPr indent="0" marL="0">
                        <a:buNone/>
                      </a:pPr>
                      <a:r>
                        <a:rPr lang="en-US" sz="1200" dirty="0">
                          <a:solidFill>
                            <a:srgbClr val="1F2A36"/>
                          </a:solidFill>
                          <a:latin typeface="Arial" pitchFamily="34" charset="0"/>
                          <a:ea typeface="Arial" pitchFamily="34" charset="-122"/>
                          <a:cs typeface="Arial" pitchFamily="34" charset="-120"/>
                        </a:rPr>
                        <a:t>1.5 hours</a:t>
                      </a:r>
                      <a:endParaRPr lang="en-US" sz="1200" dirty="0">
                        <a:latin typeface="Arial" charset="0"/>
                        <a:ea typeface="Arial" charset="0"/>
                        <a:cs typeface="Arial" charset="0"/>
                      </a:endParaRPr>
                    </a:p>
                  </a:txBody>
                  <a:tcPr marL="109728" marR="109728"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6"/>
                    </a:solidFill>
                  </a:tcPr>
                </a:tc>
              </a:tr>
            </a:tbl>
          </a:graphicData>
        </a:graphic>
      </p:graphicFrame>
      <p:sp>
        <p:nvSpPr>
          <p:cNvPr id="8" name="Shape 5"/>
          <p:cNvSpPr/>
          <p:nvPr/>
        </p:nvSpPr>
        <p:spPr>
          <a:xfrm>
            <a:off x="548640" y="5486400"/>
            <a:ext cx="11064240" cy="640080"/>
          </a:xfrm>
          <a:prstGeom prst="rect">
            <a:avLst/>
          </a:prstGeom>
          <a:solidFill>
            <a:srgbClr val="DDF0F0"/>
          </a:solidFill>
          <a:ln w="12700">
            <a:solidFill>
              <a:srgbClr val="DDF0F0"/>
            </a:solidFill>
            <a:prstDash val="solid"/>
          </a:ln>
        </p:spPr>
      </p:sp>
      <p:sp>
        <p:nvSpPr>
          <p:cNvPr id="9" name="Text 6"/>
          <p:cNvSpPr txBox="1"/>
          <p:nvPr/>
        </p:nvSpPr>
        <p:spPr>
          <a:xfrm>
            <a:off x="777240" y="5486400"/>
            <a:ext cx="10607040" cy="640080"/>
          </a:xfrm>
          <a:prstGeom prst="rect">
            <a:avLst/>
          </a:prstGeom>
          <a:noFill/>
          <a:ln/>
        </p:spPr>
        <p:txBody>
          <a:bodyPr wrap="square" lIns="0" tIns="0" rIns="0" bIns="0" rtlCol="0" anchor="ctr"/>
          <a:lstStyle/>
          <a:p>
            <a:pPr indent="0" marL="0">
              <a:buNone/>
            </a:pPr>
            <a:r>
              <a:rPr lang="en-US" sz="1200" b="1" dirty="0">
                <a:solidFill>
                  <a:srgbClr val="0A8F8F"/>
                </a:solidFill>
                <a:latin typeface="Arial" pitchFamily="34" charset="0"/>
                <a:ea typeface="Arial" pitchFamily="34" charset="-122"/>
                <a:cs typeface="Arial" pitchFamily="34" charset="-120"/>
              </a:rPr>
              <a:t>Note: </a:t>
            </a:r>
            <a:pPr indent="0" marL="0">
              <a:buNone/>
            </a:pPr>
            <a:r>
              <a:rPr lang="en-US" sz="1200" dirty="0">
                <a:solidFill>
                  <a:srgbClr val="1F2A36"/>
                </a:solidFill>
                <a:latin typeface="Arial" pitchFamily="34" charset="0"/>
                <a:ea typeface="Arial" pitchFamily="34" charset="-122"/>
                <a:cs typeface="Arial" pitchFamily="34" charset="-120"/>
              </a:rPr>
              <a:t>Product Backlog refinement is an ongoing activity, not a formal event. As a guide, teams spend no more than about 10% of their capacity on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SCRUM EVENTS  |  SPRINT PLANNING</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Sprint Planning answers three questions and ends with a committed Sprint Goal</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8</a:t>
            </a:r>
            <a:endParaRPr lang="en-US" sz="900" dirty="0"/>
          </a:p>
        </p:txBody>
      </p:sp>
      <p:sp>
        <p:nvSpPr>
          <p:cNvPr id="7" name="Text 5"/>
          <p:cNvSpPr txBox="1"/>
          <p:nvPr/>
        </p:nvSpPr>
        <p:spPr>
          <a:xfrm>
            <a:off x="548640" y="1783080"/>
            <a:ext cx="822960" cy="1097280"/>
          </a:xfrm>
          <a:prstGeom prst="rect">
            <a:avLst/>
          </a:prstGeom>
          <a:noFill/>
          <a:ln/>
        </p:spPr>
        <p:txBody>
          <a:bodyPr wrap="square" lIns="0" tIns="0" rIns="0" bIns="0" rtlCol="0" anchor="ctr"/>
          <a:lstStyle/>
          <a:p>
            <a:pPr indent="0" marL="0">
              <a:buNone/>
            </a:pPr>
            <a:r>
              <a:rPr lang="en-US" sz="4400" b="1" dirty="0">
                <a:solidFill>
                  <a:srgbClr val="0A8F8F"/>
                </a:solidFill>
                <a:latin typeface="Cambria" pitchFamily="34" charset="0"/>
                <a:ea typeface="Cambria" pitchFamily="34" charset="-122"/>
                <a:cs typeface="Cambria" pitchFamily="34" charset="-120"/>
              </a:rPr>
              <a:t>1</a:t>
            </a:r>
            <a:endParaRPr lang="en-US" sz="4400" dirty="0"/>
          </a:p>
        </p:txBody>
      </p:sp>
      <p:sp>
        <p:nvSpPr>
          <p:cNvPr id="8" name="Text 6"/>
          <p:cNvSpPr txBox="1"/>
          <p:nvPr/>
        </p:nvSpPr>
        <p:spPr>
          <a:xfrm>
            <a:off x="1463040" y="1874520"/>
            <a:ext cx="5852160" cy="365760"/>
          </a:xfrm>
          <a:prstGeom prst="rect">
            <a:avLst/>
          </a:prstGeom>
          <a:noFill/>
          <a:ln/>
        </p:spPr>
        <p:txBody>
          <a:bodyPr wrap="square" lIns="0" tIns="0" rIns="0" bIns="0" rtlCol="0" anchor="t"/>
          <a:lstStyle/>
          <a:p>
            <a:pPr indent="0" marL="0">
              <a:buNone/>
            </a:pPr>
            <a:r>
              <a:rPr lang="en-US" sz="1600" b="1" dirty="0">
                <a:solidFill>
                  <a:srgbClr val="0B1F33"/>
                </a:solidFill>
                <a:latin typeface="Arial" pitchFamily="34" charset="0"/>
                <a:ea typeface="Arial" pitchFamily="34" charset="-122"/>
                <a:cs typeface="Arial" pitchFamily="34" charset="-120"/>
              </a:rPr>
              <a:t>Why is this Sprint valuable?</a:t>
            </a:r>
            <a:endParaRPr lang="en-US" sz="1600" dirty="0"/>
          </a:p>
        </p:txBody>
      </p:sp>
      <p:sp>
        <p:nvSpPr>
          <p:cNvPr id="9" name="Text 7"/>
          <p:cNvSpPr txBox="1"/>
          <p:nvPr/>
        </p:nvSpPr>
        <p:spPr>
          <a:xfrm>
            <a:off x="1463040" y="2258568"/>
            <a:ext cx="5852160" cy="6858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The Product Owner proposes how the product could increase its value; the whole team defines a Sprint Goal.</a:t>
            </a:r>
            <a:endParaRPr lang="en-US" sz="1250" dirty="0"/>
          </a:p>
        </p:txBody>
      </p:sp>
      <p:sp>
        <p:nvSpPr>
          <p:cNvPr id="10" name="Shape 8"/>
          <p:cNvSpPr/>
          <p:nvPr/>
        </p:nvSpPr>
        <p:spPr>
          <a:xfrm>
            <a:off x="548640" y="3044952"/>
            <a:ext cx="6766560" cy="0"/>
          </a:xfrm>
          <a:prstGeom prst="line">
            <a:avLst/>
          </a:prstGeom>
          <a:noFill/>
          <a:ln w="9525">
            <a:solidFill>
              <a:srgbClr val="C9D3DC"/>
            </a:solidFill>
            <a:prstDash val="solid"/>
          </a:ln>
        </p:spPr>
      </p:sp>
      <p:sp>
        <p:nvSpPr>
          <p:cNvPr id="11" name="Text 9"/>
          <p:cNvSpPr txBox="1"/>
          <p:nvPr/>
        </p:nvSpPr>
        <p:spPr>
          <a:xfrm>
            <a:off x="548640" y="3154680"/>
            <a:ext cx="822960" cy="1097280"/>
          </a:xfrm>
          <a:prstGeom prst="rect">
            <a:avLst/>
          </a:prstGeom>
          <a:noFill/>
          <a:ln/>
        </p:spPr>
        <p:txBody>
          <a:bodyPr wrap="square" lIns="0" tIns="0" rIns="0" bIns="0" rtlCol="0" anchor="ctr"/>
          <a:lstStyle/>
          <a:p>
            <a:pPr indent="0" marL="0">
              <a:buNone/>
            </a:pPr>
            <a:r>
              <a:rPr lang="en-US" sz="4400" b="1" dirty="0">
                <a:solidFill>
                  <a:srgbClr val="0A8F8F"/>
                </a:solidFill>
                <a:latin typeface="Cambria" pitchFamily="34" charset="0"/>
                <a:ea typeface="Cambria" pitchFamily="34" charset="-122"/>
                <a:cs typeface="Cambria" pitchFamily="34" charset="-120"/>
              </a:rPr>
              <a:t>2</a:t>
            </a:r>
            <a:endParaRPr lang="en-US" sz="4400" dirty="0"/>
          </a:p>
        </p:txBody>
      </p:sp>
      <p:sp>
        <p:nvSpPr>
          <p:cNvPr id="12" name="Text 10"/>
          <p:cNvSpPr txBox="1"/>
          <p:nvPr/>
        </p:nvSpPr>
        <p:spPr>
          <a:xfrm>
            <a:off x="1463040" y="3246120"/>
            <a:ext cx="5852160" cy="365760"/>
          </a:xfrm>
          <a:prstGeom prst="rect">
            <a:avLst/>
          </a:prstGeom>
          <a:noFill/>
          <a:ln/>
        </p:spPr>
        <p:txBody>
          <a:bodyPr wrap="square" lIns="0" tIns="0" rIns="0" bIns="0" rtlCol="0" anchor="t"/>
          <a:lstStyle/>
          <a:p>
            <a:pPr indent="0" marL="0">
              <a:buNone/>
            </a:pPr>
            <a:r>
              <a:rPr lang="en-US" sz="1600" b="1" dirty="0">
                <a:solidFill>
                  <a:srgbClr val="0B1F33"/>
                </a:solidFill>
                <a:latin typeface="Arial" pitchFamily="34" charset="0"/>
                <a:ea typeface="Arial" pitchFamily="34" charset="-122"/>
                <a:cs typeface="Arial" pitchFamily="34" charset="-120"/>
              </a:rPr>
              <a:t>What can be Done this Sprint?</a:t>
            </a:r>
            <a:endParaRPr lang="en-US" sz="1600" dirty="0"/>
          </a:p>
        </p:txBody>
      </p:sp>
      <p:sp>
        <p:nvSpPr>
          <p:cNvPr id="13" name="Text 11"/>
          <p:cNvSpPr txBox="1"/>
          <p:nvPr/>
        </p:nvSpPr>
        <p:spPr>
          <a:xfrm>
            <a:off x="1463040" y="3630168"/>
            <a:ext cx="5852160" cy="6858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Developers select items from the Product Backlog, based on past performance, capacity and the Definition of Done.</a:t>
            </a:r>
            <a:endParaRPr lang="en-US" sz="1250" dirty="0"/>
          </a:p>
        </p:txBody>
      </p:sp>
      <p:sp>
        <p:nvSpPr>
          <p:cNvPr id="14" name="Shape 12"/>
          <p:cNvSpPr/>
          <p:nvPr/>
        </p:nvSpPr>
        <p:spPr>
          <a:xfrm>
            <a:off x="548640" y="4416552"/>
            <a:ext cx="6766560" cy="0"/>
          </a:xfrm>
          <a:prstGeom prst="line">
            <a:avLst/>
          </a:prstGeom>
          <a:noFill/>
          <a:ln w="9525">
            <a:solidFill>
              <a:srgbClr val="C9D3DC"/>
            </a:solidFill>
            <a:prstDash val="solid"/>
          </a:ln>
        </p:spPr>
      </p:sp>
      <p:sp>
        <p:nvSpPr>
          <p:cNvPr id="15" name="Text 13"/>
          <p:cNvSpPr txBox="1"/>
          <p:nvPr/>
        </p:nvSpPr>
        <p:spPr>
          <a:xfrm>
            <a:off x="548640" y="4526280"/>
            <a:ext cx="822960" cy="1097280"/>
          </a:xfrm>
          <a:prstGeom prst="rect">
            <a:avLst/>
          </a:prstGeom>
          <a:noFill/>
          <a:ln/>
        </p:spPr>
        <p:txBody>
          <a:bodyPr wrap="square" lIns="0" tIns="0" rIns="0" bIns="0" rtlCol="0" anchor="ctr"/>
          <a:lstStyle/>
          <a:p>
            <a:pPr indent="0" marL="0">
              <a:buNone/>
            </a:pPr>
            <a:r>
              <a:rPr lang="en-US" sz="4400" b="1" dirty="0">
                <a:solidFill>
                  <a:srgbClr val="0A8F8F"/>
                </a:solidFill>
                <a:latin typeface="Cambria" pitchFamily="34" charset="0"/>
                <a:ea typeface="Cambria" pitchFamily="34" charset="-122"/>
                <a:cs typeface="Cambria" pitchFamily="34" charset="-120"/>
              </a:rPr>
              <a:t>3</a:t>
            </a:r>
            <a:endParaRPr lang="en-US" sz="4400" dirty="0"/>
          </a:p>
        </p:txBody>
      </p:sp>
      <p:sp>
        <p:nvSpPr>
          <p:cNvPr id="16" name="Text 14"/>
          <p:cNvSpPr txBox="1"/>
          <p:nvPr/>
        </p:nvSpPr>
        <p:spPr>
          <a:xfrm>
            <a:off x="1463040" y="4617720"/>
            <a:ext cx="5852160" cy="365760"/>
          </a:xfrm>
          <a:prstGeom prst="rect">
            <a:avLst/>
          </a:prstGeom>
          <a:noFill/>
          <a:ln/>
        </p:spPr>
        <p:txBody>
          <a:bodyPr wrap="square" lIns="0" tIns="0" rIns="0" bIns="0" rtlCol="0" anchor="t"/>
          <a:lstStyle/>
          <a:p>
            <a:pPr indent="0" marL="0">
              <a:buNone/>
            </a:pPr>
            <a:r>
              <a:rPr lang="en-US" sz="1600" b="1" dirty="0">
                <a:solidFill>
                  <a:srgbClr val="0B1F33"/>
                </a:solidFill>
                <a:latin typeface="Arial" pitchFamily="34" charset="0"/>
                <a:ea typeface="Arial" pitchFamily="34" charset="-122"/>
                <a:cs typeface="Arial" pitchFamily="34" charset="-120"/>
              </a:rPr>
              <a:t>How will the work get done?</a:t>
            </a:r>
            <a:endParaRPr lang="en-US" sz="1600" dirty="0"/>
          </a:p>
        </p:txBody>
      </p:sp>
      <p:sp>
        <p:nvSpPr>
          <p:cNvPr id="17" name="Text 15"/>
          <p:cNvSpPr txBox="1"/>
          <p:nvPr/>
        </p:nvSpPr>
        <p:spPr>
          <a:xfrm>
            <a:off x="1463040" y="5001768"/>
            <a:ext cx="5852160" cy="685800"/>
          </a:xfrm>
          <a:prstGeom prst="rect">
            <a:avLst/>
          </a:prstGeom>
          <a:noFill/>
          <a:ln/>
        </p:spPr>
        <p:txBody>
          <a:bodyPr wrap="square" lIns="0" tIns="0" rIns="0" bIns="0" rtlCol="0" anchor="t"/>
          <a:lstStyle/>
          <a:p>
            <a:pPr indent="0" marL="0">
              <a:buNone/>
            </a:pPr>
            <a:r>
              <a:rPr lang="en-US" sz="1250" dirty="0">
                <a:solidFill>
                  <a:srgbClr val="1F2A36"/>
                </a:solidFill>
                <a:latin typeface="Arial" pitchFamily="34" charset="0"/>
                <a:ea typeface="Arial" pitchFamily="34" charset="-122"/>
                <a:cs typeface="Arial" pitchFamily="34" charset="-120"/>
              </a:rPr>
              <a:t>Developers decompose items into small tasks, often of one day or less, and create their delivery plan.</a:t>
            </a:r>
            <a:endParaRPr lang="en-US" sz="1250" dirty="0"/>
          </a:p>
        </p:txBody>
      </p:sp>
      <p:sp>
        <p:nvSpPr>
          <p:cNvPr id="18" name="Shape 16"/>
          <p:cNvSpPr/>
          <p:nvPr/>
        </p:nvSpPr>
        <p:spPr>
          <a:xfrm>
            <a:off x="7772400" y="1783080"/>
            <a:ext cx="3840480" cy="4206240"/>
          </a:xfrm>
          <a:prstGeom prst="rect">
            <a:avLst/>
          </a:prstGeom>
          <a:solidFill>
            <a:srgbClr val="0B1F33"/>
          </a:solidFill>
          <a:ln w="12700">
            <a:solidFill>
              <a:srgbClr val="0B1F33"/>
            </a:solidFill>
            <a:prstDash val="solid"/>
          </a:ln>
        </p:spPr>
      </p:sp>
      <p:sp>
        <p:nvSpPr>
          <p:cNvPr id="19" name="Text 17"/>
          <p:cNvSpPr txBox="1"/>
          <p:nvPr/>
        </p:nvSpPr>
        <p:spPr>
          <a:xfrm>
            <a:off x="8092440" y="2011680"/>
            <a:ext cx="3200400" cy="274320"/>
          </a:xfrm>
          <a:prstGeom prst="rect">
            <a:avLst/>
          </a:prstGeom>
          <a:noFill/>
          <a:ln/>
        </p:spPr>
        <p:txBody>
          <a:bodyPr wrap="square" lIns="0" tIns="0" rIns="0" bIns="0" rtlCol="0" anchor="t"/>
          <a:lstStyle/>
          <a:p>
            <a:pPr indent="0" marL="0">
              <a:buNone/>
            </a:pPr>
            <a:r>
              <a:rPr lang="en-US" sz="1000" b="1" spc="200" kern="0" dirty="0">
                <a:solidFill>
                  <a:srgbClr val="7FD1D1"/>
                </a:solidFill>
                <a:latin typeface="Arial" pitchFamily="34" charset="0"/>
                <a:ea typeface="Arial" pitchFamily="34" charset="-122"/>
                <a:cs typeface="Arial" pitchFamily="34" charset="-120"/>
              </a:rPr>
              <a:t>OUTPUTS</a:t>
            </a:r>
            <a:endParaRPr lang="en-US" sz="1000" dirty="0"/>
          </a:p>
        </p:txBody>
      </p:sp>
      <p:sp>
        <p:nvSpPr>
          <p:cNvPr id="20" name="Shape 18"/>
          <p:cNvSpPr/>
          <p:nvPr/>
        </p:nvSpPr>
        <p:spPr>
          <a:xfrm>
            <a:off x="8092440" y="2468880"/>
            <a:ext cx="548640" cy="548640"/>
          </a:xfrm>
          <a:prstGeom prst="ellipse">
            <a:avLst/>
          </a:prstGeom>
          <a:solidFill>
            <a:srgbClr val="0A8F8F"/>
          </a:solidFill>
          <a:ln w="12700">
            <a:solidFill>
              <a:srgbClr val="0A8F8F"/>
            </a:solidFill>
            <a:prstDash val="solid"/>
          </a:ln>
        </p:spPr>
      </p:sp>
      <p:pic>
        <p:nvPicPr>
          <p:cNvPr id="21" name="Image 0" descr="preencoded.png">    </p:cNvPr>
          <p:cNvPicPr>
            <a:picLocks noChangeAspect="1"/>
          </p:cNvPicPr>
          <p:nvPr/>
        </p:nvPicPr>
        <p:blipFill>
          <a:blip r:embed="rId1"/>
          <a:stretch>
            <a:fillRect/>
          </a:stretch>
        </p:blipFill>
        <p:spPr>
          <a:xfrm>
            <a:off x="8229600" y="2606040"/>
            <a:ext cx="274320" cy="274320"/>
          </a:xfrm>
          <a:prstGeom prst="rect">
            <a:avLst/>
          </a:prstGeom>
        </p:spPr>
      </p:pic>
      <p:sp>
        <p:nvSpPr>
          <p:cNvPr id="22" name="Text 19"/>
          <p:cNvSpPr txBox="1"/>
          <p:nvPr/>
        </p:nvSpPr>
        <p:spPr>
          <a:xfrm>
            <a:off x="8778240" y="2468880"/>
            <a:ext cx="265176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Sprint Goal</a:t>
            </a:r>
            <a:endParaRPr lang="en-US" sz="1500" dirty="0"/>
          </a:p>
        </p:txBody>
      </p:sp>
      <p:sp>
        <p:nvSpPr>
          <p:cNvPr id="23" name="Text 20"/>
          <p:cNvSpPr txBox="1"/>
          <p:nvPr/>
        </p:nvSpPr>
        <p:spPr>
          <a:xfrm>
            <a:off x="8092440" y="3108960"/>
            <a:ext cx="3291840" cy="640080"/>
          </a:xfrm>
          <a:prstGeom prst="rect">
            <a:avLst/>
          </a:prstGeom>
          <a:noFill/>
          <a:ln/>
        </p:spPr>
        <p:txBody>
          <a:bodyPr wrap="square" lIns="0" tIns="0" rIns="0" bIns="0" rtlCol="0" anchor="t"/>
          <a:lstStyle/>
          <a:p>
            <a:pPr indent="0" marL="0">
              <a:buNone/>
            </a:pPr>
            <a:r>
              <a:rPr lang="en-US" sz="1200" dirty="0">
                <a:solidFill>
                  <a:srgbClr val="C8D6E3"/>
                </a:solidFill>
                <a:latin typeface="Arial" pitchFamily="34" charset="0"/>
                <a:ea typeface="Arial" pitchFamily="34" charset="-122"/>
                <a:cs typeface="Arial" pitchFamily="34" charset="-120"/>
              </a:rPr>
              <a:t>A single objective that gives the Sprint coherence and focus</a:t>
            </a:r>
            <a:endParaRPr lang="en-US" sz="1200" dirty="0"/>
          </a:p>
        </p:txBody>
      </p:sp>
      <p:sp>
        <p:nvSpPr>
          <p:cNvPr id="24" name="Shape 21"/>
          <p:cNvSpPr/>
          <p:nvPr/>
        </p:nvSpPr>
        <p:spPr>
          <a:xfrm>
            <a:off x="8092440" y="3931920"/>
            <a:ext cx="548640" cy="548640"/>
          </a:xfrm>
          <a:prstGeom prst="ellipse">
            <a:avLst/>
          </a:prstGeom>
          <a:solidFill>
            <a:srgbClr val="0A8F8F"/>
          </a:solidFill>
          <a:ln w="12700">
            <a:solidFill>
              <a:srgbClr val="0A8F8F"/>
            </a:solidFill>
            <a:prstDash val="solid"/>
          </a:ln>
        </p:spPr>
      </p:sp>
      <p:pic>
        <p:nvPicPr>
          <p:cNvPr id="25" name="Image 1" descr="preencoded.png">    </p:cNvPr>
          <p:cNvPicPr>
            <a:picLocks noChangeAspect="1"/>
          </p:cNvPicPr>
          <p:nvPr/>
        </p:nvPicPr>
        <p:blipFill>
          <a:blip r:embed="rId2"/>
          <a:stretch>
            <a:fillRect/>
          </a:stretch>
        </p:blipFill>
        <p:spPr>
          <a:xfrm>
            <a:off x="8229600" y="4069080"/>
            <a:ext cx="274320" cy="274320"/>
          </a:xfrm>
          <a:prstGeom prst="rect">
            <a:avLst/>
          </a:prstGeom>
        </p:spPr>
      </p:pic>
      <p:sp>
        <p:nvSpPr>
          <p:cNvPr id="26" name="Text 22"/>
          <p:cNvSpPr txBox="1"/>
          <p:nvPr/>
        </p:nvSpPr>
        <p:spPr>
          <a:xfrm>
            <a:off x="8778240" y="3931920"/>
            <a:ext cx="2651760" cy="54864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Sprint Backlog</a:t>
            </a:r>
            <a:endParaRPr lang="en-US" sz="1500" dirty="0"/>
          </a:p>
        </p:txBody>
      </p:sp>
      <p:sp>
        <p:nvSpPr>
          <p:cNvPr id="27" name="Text 23"/>
          <p:cNvSpPr txBox="1"/>
          <p:nvPr/>
        </p:nvSpPr>
        <p:spPr>
          <a:xfrm>
            <a:off x="8092440" y="4572000"/>
            <a:ext cx="3291840" cy="822960"/>
          </a:xfrm>
          <a:prstGeom prst="rect">
            <a:avLst/>
          </a:prstGeom>
          <a:noFill/>
          <a:ln/>
        </p:spPr>
        <p:txBody>
          <a:bodyPr wrap="square" lIns="0" tIns="0" rIns="0" bIns="0" rtlCol="0" anchor="t"/>
          <a:lstStyle/>
          <a:p>
            <a:pPr indent="0" marL="0">
              <a:buNone/>
            </a:pPr>
            <a:r>
              <a:rPr lang="en-US" sz="1200" dirty="0">
                <a:solidFill>
                  <a:srgbClr val="C8D6E3"/>
                </a:solidFill>
                <a:latin typeface="Arial" pitchFamily="34" charset="0"/>
                <a:ea typeface="Arial" pitchFamily="34" charset="-122"/>
                <a:cs typeface="Arial" pitchFamily="34" charset="-120"/>
              </a:rPr>
              <a:t>The Sprint Goal, the selected items and the plan for delivering them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SCRUM EVENTS  |  INSPECT AND ADAPT</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Three recurring events keep the team aligned daily and improving every Sprint</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9</a:t>
            </a:r>
            <a:endParaRPr lang="en-US" sz="900" dirty="0"/>
          </a:p>
        </p:txBody>
      </p:sp>
      <p:sp>
        <p:nvSpPr>
          <p:cNvPr id="7" name="Shape 5"/>
          <p:cNvSpPr/>
          <p:nvPr/>
        </p:nvSpPr>
        <p:spPr>
          <a:xfrm>
            <a:off x="548640" y="1783080"/>
            <a:ext cx="3474720" cy="42976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8" name="Shape 6"/>
          <p:cNvSpPr/>
          <p:nvPr/>
        </p:nvSpPr>
        <p:spPr>
          <a:xfrm>
            <a:off x="822960" y="2103120"/>
            <a:ext cx="548640" cy="548640"/>
          </a:xfrm>
          <a:prstGeom prst="ellipse">
            <a:avLst/>
          </a:prstGeom>
          <a:solidFill>
            <a:srgbClr val="12355B"/>
          </a:solidFill>
          <a:ln w="12700">
            <a:solidFill>
              <a:srgbClr val="12355B"/>
            </a:solidFill>
            <a:prstDash val="solid"/>
          </a:ln>
        </p:spPr>
      </p:sp>
      <p:pic>
        <p:nvPicPr>
          <p:cNvPr id="9" name="Image 0" descr="preencoded.png">    </p:cNvPr>
          <p:cNvPicPr>
            <a:picLocks noChangeAspect="1"/>
          </p:cNvPicPr>
          <p:nvPr/>
        </p:nvPicPr>
        <p:blipFill>
          <a:blip r:embed="rId1"/>
          <a:stretch>
            <a:fillRect/>
          </a:stretch>
        </p:blipFill>
        <p:spPr>
          <a:xfrm>
            <a:off x="960120" y="2240280"/>
            <a:ext cx="274320" cy="274320"/>
          </a:xfrm>
          <a:prstGeom prst="rect">
            <a:avLst/>
          </a:prstGeom>
        </p:spPr>
      </p:pic>
      <p:sp>
        <p:nvSpPr>
          <p:cNvPr id="10" name="Text 7"/>
          <p:cNvSpPr txBox="1"/>
          <p:nvPr/>
        </p:nvSpPr>
        <p:spPr>
          <a:xfrm>
            <a:off x="1554480" y="2011680"/>
            <a:ext cx="2286000" cy="731520"/>
          </a:xfrm>
          <a:prstGeom prst="rect">
            <a:avLst/>
          </a:prstGeom>
          <a:noFill/>
          <a:ln/>
        </p:spPr>
        <p:txBody>
          <a:bodyPr wrap="square" lIns="0" tIns="0" rIns="0" bIns="0" rtlCol="0" anchor="ctr"/>
          <a:lstStyle/>
          <a:p>
            <a:pPr indent="0" marL="0">
              <a:buNone/>
            </a:pPr>
            <a:r>
              <a:rPr lang="en-US" sz="3200" b="1" dirty="0">
                <a:solidFill>
                  <a:srgbClr val="0A8F8F"/>
                </a:solidFill>
                <a:latin typeface="Cambria" pitchFamily="34" charset="0"/>
                <a:ea typeface="Cambria" pitchFamily="34" charset="-122"/>
                <a:cs typeface="Cambria" pitchFamily="34" charset="-120"/>
              </a:rPr>
              <a:t>15 min</a:t>
            </a:r>
            <a:endParaRPr lang="en-US" sz="3200" dirty="0"/>
          </a:p>
        </p:txBody>
      </p:sp>
      <p:sp>
        <p:nvSpPr>
          <p:cNvPr id="11" name="Text 8"/>
          <p:cNvSpPr txBox="1"/>
          <p:nvPr/>
        </p:nvSpPr>
        <p:spPr>
          <a:xfrm>
            <a:off x="82296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Arial" pitchFamily="34" charset="0"/>
                <a:ea typeface="Arial" pitchFamily="34" charset="-122"/>
                <a:cs typeface="Arial" pitchFamily="34" charset="-120"/>
              </a:rPr>
              <a:t>Daily Scrum</a:t>
            </a:r>
            <a:endParaRPr lang="en-US" sz="1700" dirty="0"/>
          </a:p>
        </p:txBody>
      </p:sp>
      <p:sp>
        <p:nvSpPr>
          <p:cNvPr id="12" name="Text 9"/>
          <p:cNvSpPr txBox="1"/>
          <p:nvPr/>
        </p:nvSpPr>
        <p:spPr>
          <a:xfrm>
            <a:off x="822960" y="3264408"/>
            <a:ext cx="2926080" cy="594360"/>
          </a:xfrm>
          <a:prstGeom prst="rect">
            <a:avLst/>
          </a:prstGeom>
          <a:noFill/>
          <a:ln/>
        </p:spPr>
        <p:txBody>
          <a:bodyPr wrap="square" lIns="0" tIns="0" rIns="0" bIns="0" rtlCol="0" anchor="t"/>
          <a:lstStyle/>
          <a:p>
            <a:pPr indent="0" marL="0">
              <a:buNone/>
            </a:pPr>
            <a:r>
              <a:rPr lang="en-US" sz="1150" i="1" dirty="0">
                <a:solidFill>
                  <a:srgbClr val="5E6E7E"/>
                </a:solidFill>
                <a:latin typeface="Arial" pitchFamily="34" charset="0"/>
                <a:ea typeface="Arial" pitchFamily="34" charset="-122"/>
                <a:cs typeface="Arial" pitchFamily="34" charset="-120"/>
              </a:rPr>
              <a:t>For the Developers, same time and place every working day.</a:t>
            </a:r>
            <a:endParaRPr lang="en-US" sz="1150" dirty="0"/>
          </a:p>
        </p:txBody>
      </p:sp>
      <p:sp>
        <p:nvSpPr>
          <p:cNvPr id="13" name="Text 10"/>
          <p:cNvSpPr txBox="1"/>
          <p:nvPr/>
        </p:nvSpPr>
        <p:spPr>
          <a:xfrm>
            <a:off x="822960" y="4023360"/>
            <a:ext cx="29718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Inspect progress towards the Sprint Goal</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Adapt the Sprint Backlog as needed</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Surface impediments early</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Not a status report to management</a:t>
            </a:r>
            <a:endParaRPr lang="en-US" sz="1300" dirty="0"/>
          </a:p>
        </p:txBody>
      </p:sp>
      <p:sp>
        <p:nvSpPr>
          <p:cNvPr id="14" name="Shape 11"/>
          <p:cNvSpPr/>
          <p:nvPr/>
        </p:nvSpPr>
        <p:spPr>
          <a:xfrm>
            <a:off x="4297680" y="1783080"/>
            <a:ext cx="3474720" cy="42976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15" name="Shape 12"/>
          <p:cNvSpPr/>
          <p:nvPr/>
        </p:nvSpPr>
        <p:spPr>
          <a:xfrm>
            <a:off x="4572000" y="2103120"/>
            <a:ext cx="548640" cy="548640"/>
          </a:xfrm>
          <a:prstGeom prst="ellipse">
            <a:avLst/>
          </a:prstGeom>
          <a:solidFill>
            <a:srgbClr val="12355B"/>
          </a:solidFill>
          <a:ln w="12700">
            <a:solidFill>
              <a:srgbClr val="12355B"/>
            </a:solidFill>
            <a:prstDash val="solid"/>
          </a:ln>
        </p:spPr>
      </p:sp>
      <p:pic>
        <p:nvPicPr>
          <p:cNvPr id="16" name="Image 1" descr="preencoded.png">    </p:cNvPr>
          <p:cNvPicPr>
            <a:picLocks noChangeAspect="1"/>
          </p:cNvPicPr>
          <p:nvPr/>
        </p:nvPicPr>
        <p:blipFill>
          <a:blip r:embed="rId2"/>
          <a:stretch>
            <a:fillRect/>
          </a:stretch>
        </p:blipFill>
        <p:spPr>
          <a:xfrm>
            <a:off x="4709160" y="2240280"/>
            <a:ext cx="274320" cy="274320"/>
          </a:xfrm>
          <a:prstGeom prst="rect">
            <a:avLst/>
          </a:prstGeom>
        </p:spPr>
      </p:pic>
      <p:sp>
        <p:nvSpPr>
          <p:cNvPr id="17" name="Text 13"/>
          <p:cNvSpPr txBox="1"/>
          <p:nvPr/>
        </p:nvSpPr>
        <p:spPr>
          <a:xfrm>
            <a:off x="5303520" y="2011680"/>
            <a:ext cx="2286000" cy="731520"/>
          </a:xfrm>
          <a:prstGeom prst="rect">
            <a:avLst/>
          </a:prstGeom>
          <a:noFill/>
          <a:ln/>
        </p:spPr>
        <p:txBody>
          <a:bodyPr wrap="square" lIns="0" tIns="0" rIns="0" bIns="0" rtlCol="0" anchor="ctr"/>
          <a:lstStyle/>
          <a:p>
            <a:pPr indent="0" marL="0">
              <a:buNone/>
            </a:pPr>
            <a:r>
              <a:rPr lang="en-US" sz="3200" b="1" dirty="0">
                <a:solidFill>
                  <a:srgbClr val="0A8F8F"/>
                </a:solidFill>
                <a:latin typeface="Cambria" pitchFamily="34" charset="0"/>
                <a:ea typeface="Cambria" pitchFamily="34" charset="-122"/>
                <a:cs typeface="Cambria" pitchFamily="34" charset="-120"/>
              </a:rPr>
              <a:t>≤ 4 h</a:t>
            </a:r>
            <a:endParaRPr lang="en-US" sz="3200" dirty="0"/>
          </a:p>
        </p:txBody>
      </p:sp>
      <p:sp>
        <p:nvSpPr>
          <p:cNvPr id="18" name="Text 14"/>
          <p:cNvSpPr txBox="1"/>
          <p:nvPr/>
        </p:nvSpPr>
        <p:spPr>
          <a:xfrm>
            <a:off x="457200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Arial" pitchFamily="34" charset="0"/>
                <a:ea typeface="Arial" pitchFamily="34" charset="-122"/>
                <a:cs typeface="Arial" pitchFamily="34" charset="-120"/>
              </a:rPr>
              <a:t>Sprint Review</a:t>
            </a:r>
            <a:endParaRPr lang="en-US" sz="1700" dirty="0"/>
          </a:p>
        </p:txBody>
      </p:sp>
      <p:sp>
        <p:nvSpPr>
          <p:cNvPr id="19" name="Text 15"/>
          <p:cNvSpPr txBox="1"/>
          <p:nvPr/>
        </p:nvSpPr>
        <p:spPr>
          <a:xfrm>
            <a:off x="4572000" y="3264408"/>
            <a:ext cx="2926080" cy="594360"/>
          </a:xfrm>
          <a:prstGeom prst="rect">
            <a:avLst/>
          </a:prstGeom>
          <a:noFill/>
          <a:ln/>
        </p:spPr>
        <p:txBody>
          <a:bodyPr wrap="square" lIns="0" tIns="0" rIns="0" bIns="0" rtlCol="0" anchor="t"/>
          <a:lstStyle/>
          <a:p>
            <a:pPr indent="0" marL="0">
              <a:buNone/>
            </a:pPr>
            <a:r>
              <a:rPr lang="en-US" sz="1150" i="1" dirty="0">
                <a:solidFill>
                  <a:srgbClr val="5E6E7E"/>
                </a:solidFill>
                <a:latin typeface="Arial" pitchFamily="34" charset="0"/>
                <a:ea typeface="Arial" pitchFamily="34" charset="-122"/>
                <a:cs typeface="Arial" pitchFamily="34" charset="-120"/>
              </a:rPr>
              <a:t>A working session with stakeholders, not a presentation.</a:t>
            </a:r>
            <a:endParaRPr lang="en-US" sz="1150" dirty="0"/>
          </a:p>
        </p:txBody>
      </p:sp>
      <p:sp>
        <p:nvSpPr>
          <p:cNvPr id="20" name="Text 16"/>
          <p:cNvSpPr txBox="1"/>
          <p:nvPr/>
        </p:nvSpPr>
        <p:spPr>
          <a:xfrm>
            <a:off x="4572000" y="4023360"/>
            <a:ext cx="29718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Demonstrate what was accomplished</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Discuss changes in the environment</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Collaborate on what to do next</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Adapt the Product Backlog</a:t>
            </a:r>
            <a:endParaRPr lang="en-US" sz="1300" dirty="0"/>
          </a:p>
        </p:txBody>
      </p:sp>
      <p:sp>
        <p:nvSpPr>
          <p:cNvPr id="21" name="Shape 17"/>
          <p:cNvSpPr/>
          <p:nvPr/>
        </p:nvSpPr>
        <p:spPr>
          <a:xfrm>
            <a:off x="8046720" y="1783080"/>
            <a:ext cx="3474720" cy="429768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22" name="Shape 18"/>
          <p:cNvSpPr/>
          <p:nvPr/>
        </p:nvSpPr>
        <p:spPr>
          <a:xfrm>
            <a:off x="8321040" y="2103120"/>
            <a:ext cx="548640" cy="548640"/>
          </a:xfrm>
          <a:prstGeom prst="ellipse">
            <a:avLst/>
          </a:prstGeom>
          <a:solidFill>
            <a:srgbClr val="12355B"/>
          </a:solidFill>
          <a:ln w="12700">
            <a:solidFill>
              <a:srgbClr val="12355B"/>
            </a:solidFill>
            <a:prstDash val="solid"/>
          </a:ln>
        </p:spPr>
      </p:sp>
      <p:pic>
        <p:nvPicPr>
          <p:cNvPr id="23" name="Image 2" descr="preencoded.png">    </p:cNvPr>
          <p:cNvPicPr>
            <a:picLocks noChangeAspect="1"/>
          </p:cNvPicPr>
          <p:nvPr/>
        </p:nvPicPr>
        <p:blipFill>
          <a:blip r:embed="rId3"/>
          <a:stretch>
            <a:fillRect/>
          </a:stretch>
        </p:blipFill>
        <p:spPr>
          <a:xfrm>
            <a:off x="8458200" y="2240280"/>
            <a:ext cx="274320" cy="274320"/>
          </a:xfrm>
          <a:prstGeom prst="rect">
            <a:avLst/>
          </a:prstGeom>
        </p:spPr>
      </p:pic>
      <p:sp>
        <p:nvSpPr>
          <p:cNvPr id="24" name="Text 19"/>
          <p:cNvSpPr txBox="1"/>
          <p:nvPr/>
        </p:nvSpPr>
        <p:spPr>
          <a:xfrm>
            <a:off x="9052560" y="2011680"/>
            <a:ext cx="2286000" cy="731520"/>
          </a:xfrm>
          <a:prstGeom prst="rect">
            <a:avLst/>
          </a:prstGeom>
          <a:noFill/>
          <a:ln/>
        </p:spPr>
        <p:txBody>
          <a:bodyPr wrap="square" lIns="0" tIns="0" rIns="0" bIns="0" rtlCol="0" anchor="ctr"/>
          <a:lstStyle/>
          <a:p>
            <a:pPr indent="0" marL="0">
              <a:buNone/>
            </a:pPr>
            <a:r>
              <a:rPr lang="en-US" sz="3200" b="1" dirty="0">
                <a:solidFill>
                  <a:srgbClr val="0A8F8F"/>
                </a:solidFill>
                <a:latin typeface="Cambria" pitchFamily="34" charset="0"/>
                <a:ea typeface="Cambria" pitchFamily="34" charset="-122"/>
                <a:cs typeface="Cambria" pitchFamily="34" charset="-120"/>
              </a:rPr>
              <a:t>≤ 3 h</a:t>
            </a:r>
            <a:endParaRPr lang="en-US" sz="3200" dirty="0"/>
          </a:p>
        </p:txBody>
      </p:sp>
      <p:sp>
        <p:nvSpPr>
          <p:cNvPr id="25" name="Text 20"/>
          <p:cNvSpPr txBox="1"/>
          <p:nvPr/>
        </p:nvSpPr>
        <p:spPr>
          <a:xfrm>
            <a:off x="8321040" y="2880360"/>
            <a:ext cx="2926080" cy="365760"/>
          </a:xfrm>
          <a:prstGeom prst="rect">
            <a:avLst/>
          </a:prstGeom>
          <a:noFill/>
          <a:ln/>
        </p:spPr>
        <p:txBody>
          <a:bodyPr wrap="square" lIns="0" tIns="0" rIns="0" bIns="0" rtlCol="0" anchor="t"/>
          <a:lstStyle/>
          <a:p>
            <a:pPr indent="0" marL="0">
              <a:buNone/>
            </a:pPr>
            <a:r>
              <a:rPr lang="en-US" sz="1700" b="1" dirty="0">
                <a:solidFill>
                  <a:srgbClr val="0B1F33"/>
                </a:solidFill>
                <a:latin typeface="Arial" pitchFamily="34" charset="0"/>
                <a:ea typeface="Arial" pitchFamily="34" charset="-122"/>
                <a:cs typeface="Arial" pitchFamily="34" charset="-120"/>
              </a:rPr>
              <a:t>Sprint Retrospective</a:t>
            </a:r>
            <a:endParaRPr lang="en-US" sz="1700" dirty="0"/>
          </a:p>
        </p:txBody>
      </p:sp>
      <p:sp>
        <p:nvSpPr>
          <p:cNvPr id="26" name="Text 21"/>
          <p:cNvSpPr txBox="1"/>
          <p:nvPr/>
        </p:nvSpPr>
        <p:spPr>
          <a:xfrm>
            <a:off x="8321040" y="3264408"/>
            <a:ext cx="2926080" cy="594360"/>
          </a:xfrm>
          <a:prstGeom prst="rect">
            <a:avLst/>
          </a:prstGeom>
          <a:noFill/>
          <a:ln/>
        </p:spPr>
        <p:txBody>
          <a:bodyPr wrap="square" lIns="0" tIns="0" rIns="0" bIns="0" rtlCol="0" anchor="t"/>
          <a:lstStyle/>
          <a:p>
            <a:pPr indent="0" marL="0">
              <a:buNone/>
            </a:pPr>
            <a:r>
              <a:rPr lang="en-US" sz="1150" i="1" dirty="0">
                <a:solidFill>
                  <a:srgbClr val="5E6E7E"/>
                </a:solidFill>
                <a:latin typeface="Arial" pitchFamily="34" charset="0"/>
                <a:ea typeface="Arial" pitchFamily="34" charset="-122"/>
                <a:cs typeface="Arial" pitchFamily="34" charset="-120"/>
              </a:rPr>
              <a:t>Concludes the Sprint; a safe space for the Scrum Team.</a:t>
            </a:r>
            <a:endParaRPr lang="en-US" sz="1150" dirty="0"/>
          </a:p>
        </p:txBody>
      </p:sp>
      <p:sp>
        <p:nvSpPr>
          <p:cNvPr id="27" name="Text 22"/>
          <p:cNvSpPr txBox="1"/>
          <p:nvPr/>
        </p:nvSpPr>
        <p:spPr>
          <a:xfrm>
            <a:off x="8321040" y="4023360"/>
            <a:ext cx="2971800" cy="201168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Review people, interactions, process and tools</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Identify what went well and what did not</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Agree the most impactful improvements</a:t>
            </a:r>
            <a:endParaRPr lang="en-US" sz="1300" dirty="0"/>
          </a:p>
          <a:p>
            <a:pPr marL="342900" indent="-342900">
              <a:spcAft>
                <a:spcPts val="1000"/>
              </a:spcAft>
              <a:buSzPct val="100000"/>
              <a:buChar char="•"/>
            </a:pPr>
            <a:r>
              <a:rPr lang="en-US" sz="1300" dirty="0">
                <a:solidFill>
                  <a:srgbClr val="1F2A36"/>
                </a:solidFill>
                <a:latin typeface="Arial" pitchFamily="34" charset="0"/>
                <a:ea typeface="Arial" pitchFamily="34" charset="-122"/>
                <a:cs typeface="Arial" pitchFamily="34" charset="-120"/>
              </a:rPr>
              <a:t>Add them to the next Sprint Backlog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ARTEFACTS AND COMMITMENTS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Each artefact has a commitment that provides focus and a measure of progress</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10</a:t>
            </a:r>
            <a:endParaRPr lang="en-US" sz="900" dirty="0"/>
          </a:p>
        </p:txBody>
      </p:sp>
      <p:sp>
        <p:nvSpPr>
          <p:cNvPr id="7" name="Text 5"/>
          <p:cNvSpPr txBox="1"/>
          <p:nvPr/>
        </p:nvSpPr>
        <p:spPr>
          <a:xfrm>
            <a:off x="548640" y="1691640"/>
            <a:ext cx="5486400" cy="274320"/>
          </a:xfrm>
          <a:prstGeom prst="rect">
            <a:avLst/>
          </a:prstGeom>
          <a:noFill/>
          <a:ln/>
        </p:spPr>
        <p:txBody>
          <a:bodyPr wrap="square" lIns="0" tIns="0" rIns="0" bIns="0" rtlCol="0" anchor="t"/>
          <a:lstStyle/>
          <a:p>
            <a:pPr indent="0" marL="0">
              <a:buNone/>
            </a:pPr>
            <a:r>
              <a:rPr lang="en-US" sz="1000" b="1" spc="200" kern="0" dirty="0">
                <a:solidFill>
                  <a:srgbClr val="5E6E7E"/>
                </a:solidFill>
                <a:latin typeface="Arial" pitchFamily="34" charset="0"/>
                <a:ea typeface="Arial" pitchFamily="34" charset="-122"/>
                <a:cs typeface="Arial" pitchFamily="34" charset="-120"/>
              </a:rPr>
              <a:t>ARTEFACT</a:t>
            </a:r>
            <a:endParaRPr lang="en-US" sz="1000" dirty="0"/>
          </a:p>
        </p:txBody>
      </p:sp>
      <p:sp>
        <p:nvSpPr>
          <p:cNvPr id="8" name="Text 6"/>
          <p:cNvSpPr txBox="1"/>
          <p:nvPr/>
        </p:nvSpPr>
        <p:spPr>
          <a:xfrm>
            <a:off x="7223760" y="1691640"/>
            <a:ext cx="4389120" cy="274320"/>
          </a:xfrm>
          <a:prstGeom prst="rect">
            <a:avLst/>
          </a:prstGeom>
          <a:noFill/>
          <a:ln/>
        </p:spPr>
        <p:txBody>
          <a:bodyPr wrap="square" lIns="0" tIns="0" rIns="0" bIns="0" rtlCol="0" anchor="t"/>
          <a:lstStyle/>
          <a:p>
            <a:pPr indent="0" marL="0">
              <a:buNone/>
            </a:pPr>
            <a:r>
              <a:rPr lang="en-US" sz="1000" b="1" spc="200" kern="0" dirty="0">
                <a:solidFill>
                  <a:srgbClr val="5E6E7E"/>
                </a:solidFill>
                <a:latin typeface="Arial" pitchFamily="34" charset="0"/>
                <a:ea typeface="Arial" pitchFamily="34" charset="-122"/>
                <a:cs typeface="Arial" pitchFamily="34" charset="-120"/>
              </a:rPr>
              <a:t>COMMITMENT</a:t>
            </a:r>
            <a:endParaRPr lang="en-US" sz="1000" dirty="0"/>
          </a:p>
        </p:txBody>
      </p:sp>
      <p:sp>
        <p:nvSpPr>
          <p:cNvPr id="9" name="Shape 7"/>
          <p:cNvSpPr/>
          <p:nvPr/>
        </p:nvSpPr>
        <p:spPr>
          <a:xfrm>
            <a:off x="548640" y="2057400"/>
            <a:ext cx="6035040" cy="1143000"/>
          </a:xfrm>
          <a:prstGeom prst="rect">
            <a:avLst/>
          </a:prstGeom>
          <a:solidFill>
            <a:srgbClr val="EEF3F6"/>
          </a:solidFill>
          <a:ln w="12700">
            <a:solidFill>
              <a:srgbClr val="EEF3F6"/>
            </a:solidFill>
            <a:prstDash val="solid"/>
          </a:ln>
        </p:spPr>
      </p:sp>
      <p:sp>
        <p:nvSpPr>
          <p:cNvPr id="10" name="Shape 8"/>
          <p:cNvSpPr/>
          <p:nvPr/>
        </p:nvSpPr>
        <p:spPr>
          <a:xfrm>
            <a:off x="777240" y="2331720"/>
            <a:ext cx="594360" cy="594360"/>
          </a:xfrm>
          <a:prstGeom prst="ellipse">
            <a:avLst/>
          </a:prstGeom>
          <a:solidFill>
            <a:srgbClr val="12355B"/>
          </a:solidFill>
          <a:ln w="12700">
            <a:solidFill>
              <a:srgbClr val="12355B"/>
            </a:solidFill>
            <a:prstDash val="solid"/>
          </a:ln>
        </p:spPr>
      </p:sp>
      <p:pic>
        <p:nvPicPr>
          <p:cNvPr id="11" name="Image 0" descr="preencoded.png">    </p:cNvPr>
          <p:cNvPicPr>
            <a:picLocks noChangeAspect="1"/>
          </p:cNvPicPr>
          <p:nvPr/>
        </p:nvPicPr>
        <p:blipFill>
          <a:blip r:embed="rId1"/>
          <a:stretch>
            <a:fillRect/>
          </a:stretch>
        </p:blipFill>
        <p:spPr>
          <a:xfrm>
            <a:off x="925830" y="2480310"/>
            <a:ext cx="297180" cy="297180"/>
          </a:xfrm>
          <a:prstGeom prst="rect">
            <a:avLst/>
          </a:prstGeom>
        </p:spPr>
      </p:pic>
      <p:sp>
        <p:nvSpPr>
          <p:cNvPr id="12" name="Text 9"/>
          <p:cNvSpPr txBox="1"/>
          <p:nvPr/>
        </p:nvSpPr>
        <p:spPr>
          <a:xfrm>
            <a:off x="1600200" y="2194560"/>
            <a:ext cx="4846320" cy="32004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Product Backlog</a:t>
            </a:r>
            <a:endParaRPr lang="en-US" sz="1500" dirty="0"/>
          </a:p>
        </p:txBody>
      </p:sp>
      <p:sp>
        <p:nvSpPr>
          <p:cNvPr id="13" name="Text 10"/>
          <p:cNvSpPr txBox="1"/>
          <p:nvPr/>
        </p:nvSpPr>
        <p:spPr>
          <a:xfrm>
            <a:off x="1600200" y="2532888"/>
            <a:ext cx="4846320" cy="594360"/>
          </a:xfrm>
          <a:prstGeom prst="rect">
            <a:avLst/>
          </a:prstGeom>
          <a:noFill/>
          <a:ln/>
        </p:spPr>
        <p:txBody>
          <a:bodyPr wrap="square" lIns="0" tIns="0" rIns="0" bIns="0" rtlCol="0" anchor="t"/>
          <a:lstStyle/>
          <a:p>
            <a:pPr indent="0" marL="0">
              <a:buNone/>
            </a:pPr>
            <a:r>
              <a:rPr lang="en-US" sz="1150" dirty="0">
                <a:solidFill>
                  <a:srgbClr val="1F2A36"/>
                </a:solidFill>
                <a:latin typeface="Arial" pitchFamily="34" charset="0"/>
                <a:ea typeface="Arial" pitchFamily="34" charset="-122"/>
                <a:cs typeface="Arial" pitchFamily="34" charset="-120"/>
              </a:rPr>
              <a:t>Emergent, ordered list of what is needed to improve the product; the single source of work.</a:t>
            </a:r>
            <a:endParaRPr lang="en-US" sz="1150" dirty="0"/>
          </a:p>
        </p:txBody>
      </p:sp>
      <p:sp>
        <p:nvSpPr>
          <p:cNvPr id="14" name="Shape 11"/>
          <p:cNvSpPr/>
          <p:nvPr/>
        </p:nvSpPr>
        <p:spPr>
          <a:xfrm>
            <a:off x="6675120" y="2628900"/>
            <a:ext cx="457200" cy="0"/>
          </a:xfrm>
          <a:prstGeom prst="line">
            <a:avLst/>
          </a:prstGeom>
          <a:noFill/>
          <a:ln w="25400">
            <a:solidFill>
              <a:srgbClr val="0A8F8F"/>
            </a:solidFill>
            <a:prstDash val="solid"/>
            <a:tailEnd type="triangle"/>
          </a:ln>
        </p:spPr>
      </p:sp>
      <p:sp>
        <p:nvSpPr>
          <p:cNvPr id="15" name="Shape 12"/>
          <p:cNvSpPr/>
          <p:nvPr/>
        </p:nvSpPr>
        <p:spPr>
          <a:xfrm>
            <a:off x="7223760" y="2057400"/>
            <a:ext cx="4389120" cy="1143000"/>
          </a:xfrm>
          <a:prstGeom prst="rect">
            <a:avLst/>
          </a:prstGeom>
          <a:solidFill>
            <a:srgbClr val="0A8F8F"/>
          </a:solidFill>
          <a:ln w="12700">
            <a:solidFill>
              <a:srgbClr val="0A8F8F"/>
            </a:solidFill>
            <a:prstDash val="solid"/>
          </a:ln>
        </p:spPr>
      </p:sp>
      <p:sp>
        <p:nvSpPr>
          <p:cNvPr id="16" name="Text 13"/>
          <p:cNvSpPr txBox="1"/>
          <p:nvPr/>
        </p:nvSpPr>
        <p:spPr>
          <a:xfrm>
            <a:off x="7452360" y="2194560"/>
            <a:ext cx="3931920" cy="32004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Product Goal</a:t>
            </a:r>
            <a:endParaRPr lang="en-US" sz="1500" dirty="0"/>
          </a:p>
        </p:txBody>
      </p:sp>
      <p:sp>
        <p:nvSpPr>
          <p:cNvPr id="17" name="Text 14"/>
          <p:cNvSpPr txBox="1"/>
          <p:nvPr/>
        </p:nvSpPr>
        <p:spPr>
          <a:xfrm>
            <a:off x="7452360" y="2532888"/>
            <a:ext cx="3931920" cy="59436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The long-term objective the Scrum Team plans against.</a:t>
            </a:r>
            <a:endParaRPr lang="en-US" sz="1150" dirty="0"/>
          </a:p>
        </p:txBody>
      </p:sp>
      <p:sp>
        <p:nvSpPr>
          <p:cNvPr id="18" name="Shape 15"/>
          <p:cNvSpPr/>
          <p:nvPr/>
        </p:nvSpPr>
        <p:spPr>
          <a:xfrm>
            <a:off x="548640" y="3429000"/>
            <a:ext cx="6035040" cy="1143000"/>
          </a:xfrm>
          <a:prstGeom prst="rect">
            <a:avLst/>
          </a:prstGeom>
          <a:solidFill>
            <a:srgbClr val="EEF3F6"/>
          </a:solidFill>
          <a:ln w="12700">
            <a:solidFill>
              <a:srgbClr val="EEF3F6"/>
            </a:solidFill>
            <a:prstDash val="solid"/>
          </a:ln>
        </p:spPr>
      </p:sp>
      <p:sp>
        <p:nvSpPr>
          <p:cNvPr id="19" name="Shape 16"/>
          <p:cNvSpPr/>
          <p:nvPr/>
        </p:nvSpPr>
        <p:spPr>
          <a:xfrm>
            <a:off x="777240" y="3703320"/>
            <a:ext cx="594360" cy="594360"/>
          </a:xfrm>
          <a:prstGeom prst="ellipse">
            <a:avLst/>
          </a:prstGeom>
          <a:solidFill>
            <a:srgbClr val="12355B"/>
          </a:solidFill>
          <a:ln w="12700">
            <a:solidFill>
              <a:srgbClr val="12355B"/>
            </a:solidFill>
            <a:prstDash val="solid"/>
          </a:ln>
        </p:spPr>
      </p:sp>
      <p:pic>
        <p:nvPicPr>
          <p:cNvPr id="20" name="Image 1" descr="preencoded.png">    </p:cNvPr>
          <p:cNvPicPr>
            <a:picLocks noChangeAspect="1"/>
          </p:cNvPicPr>
          <p:nvPr/>
        </p:nvPicPr>
        <p:blipFill>
          <a:blip r:embed="rId2"/>
          <a:stretch>
            <a:fillRect/>
          </a:stretch>
        </p:blipFill>
        <p:spPr>
          <a:xfrm>
            <a:off x="925830" y="3851910"/>
            <a:ext cx="297180" cy="297180"/>
          </a:xfrm>
          <a:prstGeom prst="rect">
            <a:avLst/>
          </a:prstGeom>
        </p:spPr>
      </p:pic>
      <p:sp>
        <p:nvSpPr>
          <p:cNvPr id="21" name="Text 17"/>
          <p:cNvSpPr txBox="1"/>
          <p:nvPr/>
        </p:nvSpPr>
        <p:spPr>
          <a:xfrm>
            <a:off x="1600200" y="3566160"/>
            <a:ext cx="4846320" cy="32004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Sprint Backlog</a:t>
            </a:r>
            <a:endParaRPr lang="en-US" sz="1500" dirty="0"/>
          </a:p>
        </p:txBody>
      </p:sp>
      <p:sp>
        <p:nvSpPr>
          <p:cNvPr id="22" name="Text 18"/>
          <p:cNvSpPr txBox="1"/>
          <p:nvPr/>
        </p:nvSpPr>
        <p:spPr>
          <a:xfrm>
            <a:off x="1600200" y="3904488"/>
            <a:ext cx="4846320" cy="594360"/>
          </a:xfrm>
          <a:prstGeom prst="rect">
            <a:avLst/>
          </a:prstGeom>
          <a:noFill/>
          <a:ln/>
        </p:spPr>
        <p:txBody>
          <a:bodyPr wrap="square" lIns="0" tIns="0" rIns="0" bIns="0" rtlCol="0" anchor="t"/>
          <a:lstStyle/>
          <a:p>
            <a:pPr indent="0" marL="0">
              <a:buNone/>
            </a:pPr>
            <a:r>
              <a:rPr lang="en-US" sz="1150" dirty="0">
                <a:solidFill>
                  <a:srgbClr val="1F2A36"/>
                </a:solidFill>
                <a:latin typeface="Arial" pitchFamily="34" charset="0"/>
                <a:ea typeface="Arial" pitchFamily="34" charset="-122"/>
                <a:cs typeface="Arial" pitchFamily="34" charset="-120"/>
              </a:rPr>
              <a:t>The plan by and for the Developers; a real-time picture of the Sprint's work.</a:t>
            </a:r>
            <a:endParaRPr lang="en-US" sz="1150" dirty="0"/>
          </a:p>
        </p:txBody>
      </p:sp>
      <p:sp>
        <p:nvSpPr>
          <p:cNvPr id="23" name="Shape 19"/>
          <p:cNvSpPr/>
          <p:nvPr/>
        </p:nvSpPr>
        <p:spPr>
          <a:xfrm>
            <a:off x="6675120" y="4000500"/>
            <a:ext cx="457200" cy="0"/>
          </a:xfrm>
          <a:prstGeom prst="line">
            <a:avLst/>
          </a:prstGeom>
          <a:noFill/>
          <a:ln w="25400">
            <a:solidFill>
              <a:srgbClr val="0A8F8F"/>
            </a:solidFill>
            <a:prstDash val="solid"/>
            <a:tailEnd type="triangle"/>
          </a:ln>
        </p:spPr>
      </p:sp>
      <p:sp>
        <p:nvSpPr>
          <p:cNvPr id="24" name="Shape 20"/>
          <p:cNvSpPr/>
          <p:nvPr/>
        </p:nvSpPr>
        <p:spPr>
          <a:xfrm>
            <a:off x="7223760" y="3429000"/>
            <a:ext cx="4389120" cy="1143000"/>
          </a:xfrm>
          <a:prstGeom prst="rect">
            <a:avLst/>
          </a:prstGeom>
          <a:solidFill>
            <a:srgbClr val="0A8F8F"/>
          </a:solidFill>
          <a:ln w="12700">
            <a:solidFill>
              <a:srgbClr val="0A8F8F"/>
            </a:solidFill>
            <a:prstDash val="solid"/>
          </a:ln>
        </p:spPr>
      </p:sp>
      <p:sp>
        <p:nvSpPr>
          <p:cNvPr id="25" name="Text 21"/>
          <p:cNvSpPr txBox="1"/>
          <p:nvPr/>
        </p:nvSpPr>
        <p:spPr>
          <a:xfrm>
            <a:off x="7452360" y="3566160"/>
            <a:ext cx="3931920" cy="32004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Sprint Goal</a:t>
            </a:r>
            <a:endParaRPr lang="en-US" sz="1500" dirty="0"/>
          </a:p>
        </p:txBody>
      </p:sp>
      <p:sp>
        <p:nvSpPr>
          <p:cNvPr id="26" name="Text 22"/>
          <p:cNvSpPr txBox="1"/>
          <p:nvPr/>
        </p:nvSpPr>
        <p:spPr>
          <a:xfrm>
            <a:off x="7452360" y="3904488"/>
            <a:ext cx="3931920" cy="59436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The single objective for the Sprint, fixed once agreed.</a:t>
            </a:r>
            <a:endParaRPr lang="en-US" sz="1150" dirty="0"/>
          </a:p>
        </p:txBody>
      </p:sp>
      <p:sp>
        <p:nvSpPr>
          <p:cNvPr id="27" name="Shape 23"/>
          <p:cNvSpPr/>
          <p:nvPr/>
        </p:nvSpPr>
        <p:spPr>
          <a:xfrm>
            <a:off x="548640" y="4800600"/>
            <a:ext cx="6035040" cy="1143000"/>
          </a:xfrm>
          <a:prstGeom prst="rect">
            <a:avLst/>
          </a:prstGeom>
          <a:solidFill>
            <a:srgbClr val="EEF3F6"/>
          </a:solidFill>
          <a:ln w="12700">
            <a:solidFill>
              <a:srgbClr val="EEF3F6"/>
            </a:solidFill>
            <a:prstDash val="solid"/>
          </a:ln>
        </p:spPr>
      </p:sp>
      <p:sp>
        <p:nvSpPr>
          <p:cNvPr id="28" name="Shape 24"/>
          <p:cNvSpPr/>
          <p:nvPr/>
        </p:nvSpPr>
        <p:spPr>
          <a:xfrm>
            <a:off x="777240" y="5074920"/>
            <a:ext cx="594360" cy="594360"/>
          </a:xfrm>
          <a:prstGeom prst="ellipse">
            <a:avLst/>
          </a:prstGeom>
          <a:solidFill>
            <a:srgbClr val="12355B"/>
          </a:solidFill>
          <a:ln w="12700">
            <a:solidFill>
              <a:srgbClr val="12355B"/>
            </a:solidFill>
            <a:prstDash val="solid"/>
          </a:ln>
        </p:spPr>
      </p:sp>
      <p:pic>
        <p:nvPicPr>
          <p:cNvPr id="29" name="Image 2" descr="preencoded.png">    </p:cNvPr>
          <p:cNvPicPr>
            <a:picLocks noChangeAspect="1"/>
          </p:cNvPicPr>
          <p:nvPr/>
        </p:nvPicPr>
        <p:blipFill>
          <a:blip r:embed="rId3"/>
          <a:stretch>
            <a:fillRect/>
          </a:stretch>
        </p:blipFill>
        <p:spPr>
          <a:xfrm>
            <a:off x="925830" y="5223510"/>
            <a:ext cx="297180" cy="297180"/>
          </a:xfrm>
          <a:prstGeom prst="rect">
            <a:avLst/>
          </a:prstGeom>
        </p:spPr>
      </p:pic>
      <p:sp>
        <p:nvSpPr>
          <p:cNvPr id="30" name="Text 25"/>
          <p:cNvSpPr txBox="1"/>
          <p:nvPr/>
        </p:nvSpPr>
        <p:spPr>
          <a:xfrm>
            <a:off x="1600200" y="4937760"/>
            <a:ext cx="4846320" cy="320040"/>
          </a:xfrm>
          <a:prstGeom prst="rect">
            <a:avLst/>
          </a:prstGeom>
          <a:noFill/>
          <a:ln/>
        </p:spPr>
        <p:txBody>
          <a:bodyPr wrap="square" lIns="0" tIns="0" rIns="0" bIns="0" rtlCol="0" anchor="t"/>
          <a:lstStyle/>
          <a:p>
            <a:pPr indent="0" marL="0">
              <a:buNone/>
            </a:pPr>
            <a:r>
              <a:rPr lang="en-US" sz="1500" b="1" dirty="0">
                <a:solidFill>
                  <a:srgbClr val="0B1F33"/>
                </a:solidFill>
                <a:latin typeface="Arial" pitchFamily="34" charset="0"/>
                <a:ea typeface="Arial" pitchFamily="34" charset="-122"/>
                <a:cs typeface="Arial" pitchFamily="34" charset="-120"/>
              </a:rPr>
              <a:t>Increment</a:t>
            </a:r>
            <a:endParaRPr lang="en-US" sz="1500" dirty="0"/>
          </a:p>
        </p:txBody>
      </p:sp>
      <p:sp>
        <p:nvSpPr>
          <p:cNvPr id="31" name="Text 26"/>
          <p:cNvSpPr txBox="1"/>
          <p:nvPr/>
        </p:nvSpPr>
        <p:spPr>
          <a:xfrm>
            <a:off x="1600200" y="5276088"/>
            <a:ext cx="4846320" cy="594360"/>
          </a:xfrm>
          <a:prstGeom prst="rect">
            <a:avLst/>
          </a:prstGeom>
          <a:noFill/>
          <a:ln/>
        </p:spPr>
        <p:txBody>
          <a:bodyPr wrap="square" lIns="0" tIns="0" rIns="0" bIns="0" rtlCol="0" anchor="t"/>
          <a:lstStyle/>
          <a:p>
            <a:pPr indent="0" marL="0">
              <a:buNone/>
            </a:pPr>
            <a:r>
              <a:rPr lang="en-US" sz="1150" dirty="0">
                <a:solidFill>
                  <a:srgbClr val="1F2A36"/>
                </a:solidFill>
                <a:latin typeface="Arial" pitchFamily="34" charset="0"/>
                <a:ea typeface="Arial" pitchFamily="34" charset="-122"/>
                <a:cs typeface="Arial" pitchFamily="34" charset="-120"/>
              </a:rPr>
              <a:t>A concrete, usable stepping stone towards the Product Goal; several may be created per Sprint.</a:t>
            </a:r>
            <a:endParaRPr lang="en-US" sz="1150" dirty="0"/>
          </a:p>
        </p:txBody>
      </p:sp>
      <p:sp>
        <p:nvSpPr>
          <p:cNvPr id="32" name="Shape 27"/>
          <p:cNvSpPr/>
          <p:nvPr/>
        </p:nvSpPr>
        <p:spPr>
          <a:xfrm>
            <a:off x="6675120" y="5372100"/>
            <a:ext cx="457200" cy="0"/>
          </a:xfrm>
          <a:prstGeom prst="line">
            <a:avLst/>
          </a:prstGeom>
          <a:noFill/>
          <a:ln w="25400">
            <a:solidFill>
              <a:srgbClr val="0A8F8F"/>
            </a:solidFill>
            <a:prstDash val="solid"/>
            <a:tailEnd type="triangle"/>
          </a:ln>
        </p:spPr>
      </p:sp>
      <p:sp>
        <p:nvSpPr>
          <p:cNvPr id="33" name="Shape 28"/>
          <p:cNvSpPr/>
          <p:nvPr/>
        </p:nvSpPr>
        <p:spPr>
          <a:xfrm>
            <a:off x="7223760" y="4800600"/>
            <a:ext cx="4389120" cy="1143000"/>
          </a:xfrm>
          <a:prstGeom prst="rect">
            <a:avLst/>
          </a:prstGeom>
          <a:solidFill>
            <a:srgbClr val="0A8F8F"/>
          </a:solidFill>
          <a:ln w="12700">
            <a:solidFill>
              <a:srgbClr val="0A8F8F"/>
            </a:solidFill>
            <a:prstDash val="solid"/>
          </a:ln>
        </p:spPr>
      </p:sp>
      <p:sp>
        <p:nvSpPr>
          <p:cNvPr id="34" name="Text 29"/>
          <p:cNvSpPr txBox="1"/>
          <p:nvPr/>
        </p:nvSpPr>
        <p:spPr>
          <a:xfrm>
            <a:off x="7452360" y="4937760"/>
            <a:ext cx="3931920" cy="32004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Definition of Done</a:t>
            </a:r>
            <a:endParaRPr lang="en-US" sz="1500" dirty="0"/>
          </a:p>
        </p:txBody>
      </p:sp>
      <p:sp>
        <p:nvSpPr>
          <p:cNvPr id="35" name="Text 30"/>
          <p:cNvSpPr txBox="1"/>
          <p:nvPr/>
        </p:nvSpPr>
        <p:spPr>
          <a:xfrm>
            <a:off x="7452360" y="5276088"/>
            <a:ext cx="3931920" cy="59436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The quality standard every Increment must meet.</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WORKING IN PRACTICE  |  BACKLOG ITEMS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Well-formed backlog items are written from the user's perspective and are small enough to finish in a Sprint</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11</a:t>
            </a:r>
            <a:endParaRPr lang="en-US" sz="900" dirty="0"/>
          </a:p>
        </p:txBody>
      </p:sp>
      <p:sp>
        <p:nvSpPr>
          <p:cNvPr id="7" name="Shape 5"/>
          <p:cNvSpPr/>
          <p:nvPr/>
        </p:nvSpPr>
        <p:spPr>
          <a:xfrm>
            <a:off x="548640" y="1783080"/>
            <a:ext cx="5120640" cy="4251960"/>
          </a:xfrm>
          <a:prstGeom prst="rect">
            <a:avLst/>
          </a:prstGeom>
          <a:solidFill>
            <a:srgbClr val="FFFFFF"/>
          </a:solidFill>
          <a:ln w="9525">
            <a:solidFill>
              <a:srgbClr val="C9D3DC"/>
            </a:solidFill>
            <a:prstDash val="solid"/>
          </a:ln>
          <a:effectLst>
            <a:outerShdw sx="100000" sy="100000" kx="0" ky="0" algn="bl" rotWithShape="0" blurRad="76200" dist="19050" dir="5400000">
              <a:srgbClr val="000000">
                <a:alpha val="12000"/>
              </a:srgbClr>
            </a:outerShdw>
          </a:effectLst>
        </p:spPr>
      </p:sp>
      <p:sp>
        <p:nvSpPr>
          <p:cNvPr id="8" name="Text 6"/>
          <p:cNvSpPr txBox="1"/>
          <p:nvPr/>
        </p:nvSpPr>
        <p:spPr>
          <a:xfrm>
            <a:off x="822960" y="2011680"/>
            <a:ext cx="45720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EXAMPLE USER STORY</a:t>
            </a:r>
            <a:endParaRPr lang="en-US" sz="1000" dirty="0"/>
          </a:p>
        </p:txBody>
      </p:sp>
      <p:sp>
        <p:nvSpPr>
          <p:cNvPr id="9" name="Text 7"/>
          <p:cNvSpPr txBox="1"/>
          <p:nvPr/>
        </p:nvSpPr>
        <p:spPr>
          <a:xfrm>
            <a:off x="822960" y="2377440"/>
            <a:ext cx="4572000" cy="1371600"/>
          </a:xfrm>
          <a:prstGeom prst="rect">
            <a:avLst/>
          </a:prstGeom>
          <a:noFill/>
          <a:ln/>
        </p:spPr>
        <p:txBody>
          <a:bodyPr wrap="square" lIns="0" tIns="0" rIns="0" bIns="0" rtlCol="0" anchor="t"/>
          <a:lstStyle/>
          <a:p>
            <a:pPr indent="0" marL="0">
              <a:buNone/>
            </a:pPr>
            <a:r>
              <a:rPr lang="en-US" sz="1500" dirty="0">
                <a:solidFill>
                  <a:srgbClr val="5E6E7E"/>
                </a:solidFill>
                <a:latin typeface="Cambria" pitchFamily="34" charset="0"/>
                <a:ea typeface="Cambria" pitchFamily="34" charset="-122"/>
                <a:cs typeface="Cambria" pitchFamily="34" charset="-120"/>
              </a:rPr>
              <a:t>As a </a:t>
            </a:r>
            <a:pPr indent="0" marL="0">
              <a:buNone/>
            </a:pPr>
            <a:r>
              <a:rPr lang="en-US" sz="1500" b="1" dirty="0">
                <a:solidFill>
                  <a:srgbClr val="0B1F33"/>
                </a:solidFill>
                <a:latin typeface="Cambria" pitchFamily="34" charset="0"/>
                <a:ea typeface="Cambria" pitchFamily="34" charset="-122"/>
                <a:cs typeface="Cambria" pitchFamily="34" charset="-120"/>
              </a:rPr>
              <a:t>registered customer</a:t>
            </a:r>
            <a:pPr indent="0" marL="0">
              <a:buNone/>
            </a:pPr>
            <a:r>
              <a:rPr lang="en-US" sz="1500" dirty="0">
                <a:solidFill>
                  <a:srgbClr val="5E6E7E"/>
                </a:solidFill>
                <a:latin typeface="Cambria" pitchFamily="34" charset="0"/>
                <a:ea typeface="Cambria" pitchFamily="34" charset="-122"/>
                <a:cs typeface="Cambria" pitchFamily="34" charset="-120"/>
              </a:rPr>
              <a:t>,</a:t>
            </a:r>
            <a:endParaRPr lang="en-US" sz="1500" dirty="0"/>
          </a:p>
          <a:p>
            <a:pPr indent="0" marL="0">
              <a:buNone/>
            </a:pPr>
            <a:r>
              <a:rPr lang="en-US" sz="1500" dirty="0">
                <a:solidFill>
                  <a:srgbClr val="5E6E7E"/>
                </a:solidFill>
                <a:latin typeface="Cambria" pitchFamily="34" charset="0"/>
                <a:ea typeface="Cambria" pitchFamily="34" charset="-122"/>
                <a:cs typeface="Cambria" pitchFamily="34" charset="-120"/>
              </a:rPr>
              <a:t>I want to </a:t>
            </a:r>
            <a:endParaRPr lang="en-US" sz="1500" dirty="0"/>
          </a:p>
          <a:p>
            <a:pPr indent="0" marL="0">
              <a:buNone/>
            </a:pPr>
            <a:r>
              <a:rPr lang="en-US" sz="1500" b="1" dirty="0">
                <a:solidFill>
                  <a:srgbClr val="0B1F33"/>
                </a:solidFill>
                <a:latin typeface="Cambria" pitchFamily="34" charset="0"/>
                <a:ea typeface="Cambria" pitchFamily="34" charset="-122"/>
                <a:cs typeface="Cambria" pitchFamily="34" charset="-120"/>
              </a:rPr>
              <a:t>reset my password online</a:t>
            </a:r>
            <a:pPr indent="0" marL="0">
              <a:buNone/>
            </a:pPr>
            <a:r>
              <a:rPr lang="en-US" sz="1500" dirty="0">
                <a:solidFill>
                  <a:srgbClr val="5E6E7E"/>
                </a:solidFill>
                <a:latin typeface="Cambria" pitchFamily="34" charset="0"/>
                <a:ea typeface="Cambria" pitchFamily="34" charset="-122"/>
                <a:cs typeface="Cambria" pitchFamily="34" charset="-120"/>
              </a:rPr>
              <a:t>,</a:t>
            </a:r>
            <a:endParaRPr lang="en-US" sz="1500" dirty="0"/>
          </a:p>
          <a:p>
            <a:pPr indent="0" marL="0">
              <a:buNone/>
            </a:pPr>
            <a:r>
              <a:rPr lang="en-US" sz="1500" dirty="0">
                <a:solidFill>
                  <a:srgbClr val="5E6E7E"/>
                </a:solidFill>
                <a:latin typeface="Cambria" pitchFamily="34" charset="0"/>
                <a:ea typeface="Cambria" pitchFamily="34" charset="-122"/>
                <a:cs typeface="Cambria" pitchFamily="34" charset="-120"/>
              </a:rPr>
              <a:t>so that </a:t>
            </a:r>
            <a:endParaRPr lang="en-US" sz="1500" dirty="0"/>
          </a:p>
          <a:p>
            <a:pPr indent="0" marL="0">
              <a:buNone/>
            </a:pPr>
            <a:r>
              <a:rPr lang="en-US" sz="1500" b="1" dirty="0">
                <a:solidFill>
                  <a:srgbClr val="0B1F33"/>
                </a:solidFill>
                <a:latin typeface="Cambria" pitchFamily="34" charset="0"/>
                <a:ea typeface="Cambria" pitchFamily="34" charset="-122"/>
                <a:cs typeface="Cambria" pitchFamily="34" charset="-120"/>
              </a:rPr>
              <a:t>I can regain access without calling support.</a:t>
            </a:r>
            <a:endParaRPr lang="en-US" sz="1500" dirty="0"/>
          </a:p>
        </p:txBody>
      </p:sp>
      <p:sp>
        <p:nvSpPr>
          <p:cNvPr id="10" name="Text 8"/>
          <p:cNvSpPr txBox="1"/>
          <p:nvPr/>
        </p:nvSpPr>
        <p:spPr>
          <a:xfrm>
            <a:off x="822960" y="3840480"/>
            <a:ext cx="457200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Acceptance criteria</a:t>
            </a:r>
            <a:endParaRPr lang="en-US" sz="1300" dirty="0"/>
          </a:p>
        </p:txBody>
      </p:sp>
      <p:sp>
        <p:nvSpPr>
          <p:cNvPr id="11" name="Text 9"/>
          <p:cNvSpPr txBox="1"/>
          <p:nvPr/>
        </p:nvSpPr>
        <p:spPr>
          <a:xfrm>
            <a:off x="822960" y="4206240"/>
            <a:ext cx="4663440" cy="1188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A36"/>
                </a:solidFill>
                <a:latin typeface="Arial" pitchFamily="34" charset="0"/>
                <a:ea typeface="Arial" pitchFamily="34" charset="-122"/>
                <a:cs typeface="Arial" pitchFamily="34" charset="-120"/>
              </a:rPr>
              <a:t>Reset link is sent to the registered email address</a:t>
            </a:r>
            <a:endParaRPr lang="en-US" sz="1200" dirty="0"/>
          </a:p>
          <a:p>
            <a:pPr marL="342900" indent="-342900">
              <a:spcAft>
                <a:spcPts val="500"/>
              </a:spcAft>
              <a:buSzPct val="100000"/>
              <a:buChar char="•"/>
            </a:pPr>
            <a:r>
              <a:rPr lang="en-US" sz="1200" dirty="0">
                <a:solidFill>
                  <a:srgbClr val="1F2A36"/>
                </a:solidFill>
                <a:latin typeface="Arial" pitchFamily="34" charset="0"/>
                <a:ea typeface="Arial" pitchFamily="34" charset="-122"/>
                <a:cs typeface="Arial" pitchFamily="34" charset="-120"/>
              </a:rPr>
              <a:t>Link expires after 30 minutes</a:t>
            </a:r>
            <a:endParaRPr lang="en-US" sz="1200" dirty="0"/>
          </a:p>
          <a:p>
            <a:pPr marL="342900" indent="-342900">
              <a:spcAft>
                <a:spcPts val="500"/>
              </a:spcAft>
              <a:buSzPct val="100000"/>
              <a:buChar char="•"/>
            </a:pPr>
            <a:r>
              <a:rPr lang="en-US" sz="1200" dirty="0">
                <a:solidFill>
                  <a:srgbClr val="1F2A36"/>
                </a:solidFill>
                <a:latin typeface="Arial" pitchFamily="34" charset="0"/>
                <a:ea typeface="Arial" pitchFamily="34" charset="-122"/>
                <a:cs typeface="Arial" pitchFamily="34" charset="-120"/>
              </a:rPr>
              <a:t>New password meets the security policy</a:t>
            </a:r>
            <a:endParaRPr lang="en-US" sz="1200" dirty="0"/>
          </a:p>
        </p:txBody>
      </p:sp>
      <p:sp>
        <p:nvSpPr>
          <p:cNvPr id="12" name="Text 10"/>
          <p:cNvSpPr txBox="1"/>
          <p:nvPr/>
        </p:nvSpPr>
        <p:spPr>
          <a:xfrm>
            <a:off x="822960" y="5532120"/>
            <a:ext cx="4572000" cy="320040"/>
          </a:xfrm>
          <a:prstGeom prst="rect">
            <a:avLst/>
          </a:prstGeom>
          <a:noFill/>
          <a:ln/>
        </p:spPr>
        <p:txBody>
          <a:bodyPr wrap="square" lIns="0" tIns="0" rIns="0" bIns="0" rtlCol="0" anchor="t"/>
          <a:lstStyle/>
          <a:p>
            <a:pPr indent="0" marL="0">
              <a:buNone/>
            </a:pPr>
            <a:r>
              <a:rPr lang="en-US" sz="1150" i="1" dirty="0">
                <a:solidFill>
                  <a:srgbClr val="5E6E7E"/>
                </a:solidFill>
                <a:latin typeface="Arial" pitchFamily="34" charset="0"/>
                <a:ea typeface="Arial" pitchFamily="34" charset="-122"/>
                <a:cs typeface="Arial" pitchFamily="34" charset="-120"/>
              </a:rPr>
              <a:t>Estimate: 3 story points</a:t>
            </a:r>
            <a:endParaRPr lang="en-US" sz="1150" dirty="0"/>
          </a:p>
        </p:txBody>
      </p:sp>
      <p:sp>
        <p:nvSpPr>
          <p:cNvPr id="13" name="Text 11"/>
          <p:cNvSpPr txBox="1"/>
          <p:nvPr/>
        </p:nvSpPr>
        <p:spPr>
          <a:xfrm>
            <a:off x="6126480" y="1783080"/>
            <a:ext cx="5486400" cy="274320"/>
          </a:xfrm>
          <a:prstGeom prst="rect">
            <a:avLst/>
          </a:prstGeom>
          <a:noFill/>
          <a:ln/>
        </p:spPr>
        <p:txBody>
          <a:bodyPr wrap="square" lIns="0" tIns="0" rIns="0" bIns="0" rtlCol="0" anchor="t"/>
          <a:lstStyle/>
          <a:p>
            <a:pPr indent="0" marL="0">
              <a:buNone/>
            </a:pPr>
            <a:r>
              <a:rPr lang="en-US" sz="1000" b="1" spc="200" kern="0" dirty="0">
                <a:solidFill>
                  <a:srgbClr val="5E6E7E"/>
                </a:solidFill>
                <a:latin typeface="Arial" pitchFamily="34" charset="0"/>
                <a:ea typeface="Arial" pitchFamily="34" charset="-122"/>
                <a:cs typeface="Arial" pitchFamily="34" charset="-120"/>
              </a:rPr>
              <a:t>THE INVEST CHECKLIST</a:t>
            </a:r>
            <a:endParaRPr lang="en-US" sz="1000" dirty="0"/>
          </a:p>
        </p:txBody>
      </p:sp>
      <p:sp>
        <p:nvSpPr>
          <p:cNvPr id="14" name="Shape 12"/>
          <p:cNvSpPr/>
          <p:nvPr/>
        </p:nvSpPr>
        <p:spPr>
          <a:xfrm>
            <a:off x="6126480" y="2194560"/>
            <a:ext cx="2651760" cy="1170432"/>
          </a:xfrm>
          <a:prstGeom prst="rect">
            <a:avLst/>
          </a:prstGeom>
          <a:solidFill>
            <a:srgbClr val="EEF3F6"/>
          </a:solidFill>
          <a:ln w="12700">
            <a:solidFill>
              <a:srgbClr val="EEF3F6"/>
            </a:solidFill>
            <a:prstDash val="solid"/>
          </a:ln>
        </p:spPr>
      </p:sp>
      <p:sp>
        <p:nvSpPr>
          <p:cNvPr id="15" name="Text 13"/>
          <p:cNvSpPr txBox="1"/>
          <p:nvPr/>
        </p:nvSpPr>
        <p:spPr>
          <a:xfrm>
            <a:off x="6309360" y="2331720"/>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I</a:t>
            </a:r>
            <a:endParaRPr lang="en-US" sz="3600" dirty="0"/>
          </a:p>
        </p:txBody>
      </p:sp>
      <p:sp>
        <p:nvSpPr>
          <p:cNvPr id="16" name="Text 14"/>
          <p:cNvSpPr txBox="1"/>
          <p:nvPr/>
        </p:nvSpPr>
        <p:spPr>
          <a:xfrm>
            <a:off x="6995160" y="2395728"/>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Independent</a:t>
            </a:r>
            <a:endParaRPr lang="en-US" sz="1300" dirty="0"/>
          </a:p>
        </p:txBody>
      </p:sp>
      <p:sp>
        <p:nvSpPr>
          <p:cNvPr id="17" name="Text 15"/>
          <p:cNvSpPr txBox="1"/>
          <p:nvPr/>
        </p:nvSpPr>
        <p:spPr>
          <a:xfrm>
            <a:off x="6995160" y="2743200"/>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Can be built in any order</a:t>
            </a:r>
            <a:endParaRPr lang="en-US" sz="1100" dirty="0"/>
          </a:p>
        </p:txBody>
      </p:sp>
      <p:sp>
        <p:nvSpPr>
          <p:cNvPr id="18" name="Shape 16"/>
          <p:cNvSpPr/>
          <p:nvPr/>
        </p:nvSpPr>
        <p:spPr>
          <a:xfrm>
            <a:off x="8915400" y="2194560"/>
            <a:ext cx="2651760" cy="1170432"/>
          </a:xfrm>
          <a:prstGeom prst="rect">
            <a:avLst/>
          </a:prstGeom>
          <a:solidFill>
            <a:srgbClr val="EEF3F6"/>
          </a:solidFill>
          <a:ln w="12700">
            <a:solidFill>
              <a:srgbClr val="EEF3F6"/>
            </a:solidFill>
            <a:prstDash val="solid"/>
          </a:ln>
        </p:spPr>
      </p:sp>
      <p:sp>
        <p:nvSpPr>
          <p:cNvPr id="19" name="Text 17"/>
          <p:cNvSpPr txBox="1"/>
          <p:nvPr/>
        </p:nvSpPr>
        <p:spPr>
          <a:xfrm>
            <a:off x="9098280" y="2331720"/>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N</a:t>
            </a:r>
            <a:endParaRPr lang="en-US" sz="3600" dirty="0"/>
          </a:p>
        </p:txBody>
      </p:sp>
      <p:sp>
        <p:nvSpPr>
          <p:cNvPr id="20" name="Text 18"/>
          <p:cNvSpPr txBox="1"/>
          <p:nvPr/>
        </p:nvSpPr>
        <p:spPr>
          <a:xfrm>
            <a:off x="9784080" y="2395728"/>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Negotiable</a:t>
            </a:r>
            <a:endParaRPr lang="en-US" sz="1300" dirty="0"/>
          </a:p>
        </p:txBody>
      </p:sp>
      <p:sp>
        <p:nvSpPr>
          <p:cNvPr id="21" name="Text 19"/>
          <p:cNvSpPr txBox="1"/>
          <p:nvPr/>
        </p:nvSpPr>
        <p:spPr>
          <a:xfrm>
            <a:off x="9784080" y="2743200"/>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Details agreed with the team</a:t>
            </a:r>
            <a:endParaRPr lang="en-US" sz="1100" dirty="0"/>
          </a:p>
        </p:txBody>
      </p:sp>
      <p:sp>
        <p:nvSpPr>
          <p:cNvPr id="22" name="Shape 20"/>
          <p:cNvSpPr/>
          <p:nvPr/>
        </p:nvSpPr>
        <p:spPr>
          <a:xfrm>
            <a:off x="6126480" y="3502152"/>
            <a:ext cx="2651760" cy="1170432"/>
          </a:xfrm>
          <a:prstGeom prst="rect">
            <a:avLst/>
          </a:prstGeom>
          <a:solidFill>
            <a:srgbClr val="EEF3F6"/>
          </a:solidFill>
          <a:ln w="12700">
            <a:solidFill>
              <a:srgbClr val="EEF3F6"/>
            </a:solidFill>
            <a:prstDash val="solid"/>
          </a:ln>
        </p:spPr>
      </p:sp>
      <p:sp>
        <p:nvSpPr>
          <p:cNvPr id="23" name="Text 21"/>
          <p:cNvSpPr txBox="1"/>
          <p:nvPr/>
        </p:nvSpPr>
        <p:spPr>
          <a:xfrm>
            <a:off x="6309360" y="3639312"/>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V</a:t>
            </a:r>
            <a:endParaRPr lang="en-US" sz="3600" dirty="0"/>
          </a:p>
        </p:txBody>
      </p:sp>
      <p:sp>
        <p:nvSpPr>
          <p:cNvPr id="24" name="Text 22"/>
          <p:cNvSpPr txBox="1"/>
          <p:nvPr/>
        </p:nvSpPr>
        <p:spPr>
          <a:xfrm>
            <a:off x="6995160" y="3703320"/>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Valuable</a:t>
            </a:r>
            <a:endParaRPr lang="en-US" sz="1300" dirty="0"/>
          </a:p>
        </p:txBody>
      </p:sp>
      <p:sp>
        <p:nvSpPr>
          <p:cNvPr id="25" name="Text 23"/>
          <p:cNvSpPr txBox="1"/>
          <p:nvPr/>
        </p:nvSpPr>
        <p:spPr>
          <a:xfrm>
            <a:off x="6995160" y="4050792"/>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Delivers value to a user</a:t>
            </a:r>
            <a:endParaRPr lang="en-US" sz="1100" dirty="0"/>
          </a:p>
        </p:txBody>
      </p:sp>
      <p:sp>
        <p:nvSpPr>
          <p:cNvPr id="26" name="Shape 24"/>
          <p:cNvSpPr/>
          <p:nvPr/>
        </p:nvSpPr>
        <p:spPr>
          <a:xfrm>
            <a:off x="8915400" y="3502152"/>
            <a:ext cx="2651760" cy="1170432"/>
          </a:xfrm>
          <a:prstGeom prst="rect">
            <a:avLst/>
          </a:prstGeom>
          <a:solidFill>
            <a:srgbClr val="EEF3F6"/>
          </a:solidFill>
          <a:ln w="12700">
            <a:solidFill>
              <a:srgbClr val="EEF3F6"/>
            </a:solidFill>
            <a:prstDash val="solid"/>
          </a:ln>
        </p:spPr>
      </p:sp>
      <p:sp>
        <p:nvSpPr>
          <p:cNvPr id="27" name="Text 25"/>
          <p:cNvSpPr txBox="1"/>
          <p:nvPr/>
        </p:nvSpPr>
        <p:spPr>
          <a:xfrm>
            <a:off x="9098280" y="3639312"/>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E</a:t>
            </a:r>
            <a:endParaRPr lang="en-US" sz="3600" dirty="0"/>
          </a:p>
        </p:txBody>
      </p:sp>
      <p:sp>
        <p:nvSpPr>
          <p:cNvPr id="28" name="Text 26"/>
          <p:cNvSpPr txBox="1"/>
          <p:nvPr/>
        </p:nvSpPr>
        <p:spPr>
          <a:xfrm>
            <a:off x="9784080" y="3703320"/>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Estimable</a:t>
            </a:r>
            <a:endParaRPr lang="en-US" sz="1300" dirty="0"/>
          </a:p>
        </p:txBody>
      </p:sp>
      <p:sp>
        <p:nvSpPr>
          <p:cNvPr id="29" name="Text 27"/>
          <p:cNvSpPr txBox="1"/>
          <p:nvPr/>
        </p:nvSpPr>
        <p:spPr>
          <a:xfrm>
            <a:off x="9784080" y="4050792"/>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Team can size it</a:t>
            </a:r>
            <a:endParaRPr lang="en-US" sz="1100" dirty="0"/>
          </a:p>
        </p:txBody>
      </p:sp>
      <p:sp>
        <p:nvSpPr>
          <p:cNvPr id="30" name="Shape 28"/>
          <p:cNvSpPr/>
          <p:nvPr/>
        </p:nvSpPr>
        <p:spPr>
          <a:xfrm>
            <a:off x="6126480" y="4809744"/>
            <a:ext cx="2651760" cy="1170432"/>
          </a:xfrm>
          <a:prstGeom prst="rect">
            <a:avLst/>
          </a:prstGeom>
          <a:solidFill>
            <a:srgbClr val="EEF3F6"/>
          </a:solidFill>
          <a:ln w="12700">
            <a:solidFill>
              <a:srgbClr val="EEF3F6"/>
            </a:solidFill>
            <a:prstDash val="solid"/>
          </a:ln>
        </p:spPr>
      </p:sp>
      <p:sp>
        <p:nvSpPr>
          <p:cNvPr id="31" name="Text 29"/>
          <p:cNvSpPr txBox="1"/>
          <p:nvPr/>
        </p:nvSpPr>
        <p:spPr>
          <a:xfrm>
            <a:off x="6309360" y="4946904"/>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S</a:t>
            </a:r>
            <a:endParaRPr lang="en-US" sz="3600" dirty="0"/>
          </a:p>
        </p:txBody>
      </p:sp>
      <p:sp>
        <p:nvSpPr>
          <p:cNvPr id="32" name="Text 30"/>
          <p:cNvSpPr txBox="1"/>
          <p:nvPr/>
        </p:nvSpPr>
        <p:spPr>
          <a:xfrm>
            <a:off x="6995160" y="5010912"/>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Small</a:t>
            </a:r>
            <a:endParaRPr lang="en-US" sz="1300" dirty="0"/>
          </a:p>
        </p:txBody>
      </p:sp>
      <p:sp>
        <p:nvSpPr>
          <p:cNvPr id="33" name="Text 31"/>
          <p:cNvSpPr txBox="1"/>
          <p:nvPr/>
        </p:nvSpPr>
        <p:spPr>
          <a:xfrm>
            <a:off x="6995160" y="5358384"/>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Fits comfortably in a Sprint</a:t>
            </a:r>
            <a:endParaRPr lang="en-US" sz="1100" dirty="0"/>
          </a:p>
        </p:txBody>
      </p:sp>
      <p:sp>
        <p:nvSpPr>
          <p:cNvPr id="34" name="Shape 32"/>
          <p:cNvSpPr/>
          <p:nvPr/>
        </p:nvSpPr>
        <p:spPr>
          <a:xfrm>
            <a:off x="8915400" y="4809744"/>
            <a:ext cx="2651760" cy="1170432"/>
          </a:xfrm>
          <a:prstGeom prst="rect">
            <a:avLst/>
          </a:prstGeom>
          <a:solidFill>
            <a:srgbClr val="EEF3F6"/>
          </a:solidFill>
          <a:ln w="12700">
            <a:solidFill>
              <a:srgbClr val="EEF3F6"/>
            </a:solidFill>
            <a:prstDash val="solid"/>
          </a:ln>
        </p:spPr>
      </p:sp>
      <p:sp>
        <p:nvSpPr>
          <p:cNvPr id="35" name="Text 33"/>
          <p:cNvSpPr txBox="1"/>
          <p:nvPr/>
        </p:nvSpPr>
        <p:spPr>
          <a:xfrm>
            <a:off x="9098280" y="4946904"/>
            <a:ext cx="640080" cy="914400"/>
          </a:xfrm>
          <a:prstGeom prst="rect">
            <a:avLst/>
          </a:prstGeom>
          <a:noFill/>
          <a:ln/>
        </p:spPr>
        <p:txBody>
          <a:bodyPr wrap="square" lIns="0" tIns="0" rIns="0" bIns="0" rtlCol="0" anchor="ctr"/>
          <a:lstStyle/>
          <a:p>
            <a:pPr indent="0" marL="0">
              <a:buNone/>
            </a:pPr>
            <a:r>
              <a:rPr lang="en-US" sz="3600" b="1" dirty="0">
                <a:solidFill>
                  <a:srgbClr val="0A8F8F"/>
                </a:solidFill>
                <a:latin typeface="Cambria" pitchFamily="34" charset="0"/>
                <a:ea typeface="Cambria" pitchFamily="34" charset="-122"/>
                <a:cs typeface="Cambria" pitchFamily="34" charset="-120"/>
              </a:rPr>
              <a:t>T</a:t>
            </a:r>
            <a:endParaRPr lang="en-US" sz="3600" dirty="0"/>
          </a:p>
        </p:txBody>
      </p:sp>
      <p:sp>
        <p:nvSpPr>
          <p:cNvPr id="36" name="Text 34"/>
          <p:cNvSpPr txBox="1"/>
          <p:nvPr/>
        </p:nvSpPr>
        <p:spPr>
          <a:xfrm>
            <a:off x="9784080" y="5010912"/>
            <a:ext cx="1691640" cy="320040"/>
          </a:xfrm>
          <a:prstGeom prst="rect">
            <a:avLst/>
          </a:prstGeom>
          <a:noFill/>
          <a:ln/>
        </p:spPr>
        <p:txBody>
          <a:bodyPr wrap="square" lIns="0" tIns="0" rIns="0" bIns="0" rtlCol="0" anchor="t"/>
          <a:lstStyle/>
          <a:p>
            <a:pPr indent="0" marL="0">
              <a:buNone/>
            </a:pPr>
            <a:r>
              <a:rPr lang="en-US" sz="1300" b="1" dirty="0">
                <a:solidFill>
                  <a:srgbClr val="0B1F33"/>
                </a:solidFill>
                <a:latin typeface="Arial" pitchFamily="34" charset="0"/>
                <a:ea typeface="Arial" pitchFamily="34" charset="-122"/>
                <a:cs typeface="Arial" pitchFamily="34" charset="-120"/>
              </a:rPr>
              <a:t>Testable</a:t>
            </a:r>
            <a:endParaRPr lang="en-US" sz="1300" dirty="0"/>
          </a:p>
        </p:txBody>
      </p:sp>
      <p:sp>
        <p:nvSpPr>
          <p:cNvPr id="37" name="Text 35"/>
          <p:cNvSpPr txBox="1"/>
          <p:nvPr/>
        </p:nvSpPr>
        <p:spPr>
          <a:xfrm>
            <a:off x="9784080" y="5358384"/>
            <a:ext cx="1691640" cy="548640"/>
          </a:xfrm>
          <a:prstGeom prst="rect">
            <a:avLst/>
          </a:prstGeom>
          <a:noFill/>
          <a:ln/>
        </p:spPr>
        <p:txBody>
          <a:bodyPr wrap="square" lIns="0" tIns="0" rIns="0" bIns="0" rtlCol="0" anchor="t"/>
          <a:lstStyle/>
          <a:p>
            <a:pPr indent="0" marL="0">
              <a:buNone/>
            </a:pPr>
            <a:r>
              <a:rPr lang="en-US" sz="1100" dirty="0">
                <a:solidFill>
                  <a:srgbClr val="1F2A36"/>
                </a:solidFill>
                <a:latin typeface="Arial" pitchFamily="34" charset="0"/>
                <a:ea typeface="Arial" pitchFamily="34" charset="-122"/>
                <a:cs typeface="Arial" pitchFamily="34" charset="-120"/>
              </a:rPr>
              <a:t>Clear criteria to verify it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WORKING IN PRACTICE  |  TRACKING PROGRESS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 Sprint burndown makes progress towards the Sprint Goal visible and prompts early action</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Illustrative data for a two-week Sprint;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12</a:t>
            </a:r>
            <a:endParaRPr lang="en-US" sz="900" dirty="0"/>
          </a:p>
        </p:txBody>
      </p:sp>
      <p:sp>
        <p:nvSpPr>
          <p:cNvPr id="7" name="Text 5"/>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00" b="1" spc="200" kern="0" dirty="0">
                <a:solidFill>
                  <a:srgbClr val="5E6E7E"/>
                </a:solidFill>
                <a:latin typeface="Arial" pitchFamily="34" charset="0"/>
                <a:ea typeface="Arial" pitchFamily="34" charset="-122"/>
                <a:cs typeface="Arial" pitchFamily="34" charset="-120"/>
              </a:rPr>
              <a:t>ILLUSTRATIVE</a:t>
            </a:r>
            <a:endParaRPr lang="en-US" sz="900" dirty="0"/>
          </a:p>
        </p:txBody>
      </p:sp>
      <p:graphicFrame>
        <p:nvGraphicFramePr>
          <p:cNvPr id="8" name="Chart 0" descr=""/>
          <p:cNvGraphicFramePr/>
          <p:nvPr/>
        </p:nvGraphicFramePr>
        <p:xfrm>
          <a:off x="548640" y="1965960"/>
          <a:ext cx="6949440" cy="41605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7955280" y="2057400"/>
            <a:ext cx="411480" cy="411480"/>
          </a:xfrm>
          <a:prstGeom prst="ellipse">
            <a:avLst/>
          </a:prstGeom>
          <a:solidFill>
            <a:srgbClr val="0A8F8F"/>
          </a:solidFill>
          <a:ln w="12700">
            <a:solidFill>
              <a:srgbClr val="0A8F8F"/>
            </a:solidFill>
            <a:prstDash val="solid"/>
          </a:ln>
        </p:spPr>
      </p:sp>
      <p:sp>
        <p:nvSpPr>
          <p:cNvPr id="10" name="Text 7"/>
          <p:cNvSpPr txBox="1"/>
          <p:nvPr/>
        </p:nvSpPr>
        <p:spPr>
          <a:xfrm>
            <a:off x="7955280" y="20574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8"/>
          <p:cNvSpPr txBox="1"/>
          <p:nvPr/>
        </p:nvSpPr>
        <p:spPr>
          <a:xfrm>
            <a:off x="8549640" y="2011680"/>
            <a:ext cx="3063240" cy="365760"/>
          </a:xfrm>
          <a:prstGeom prst="rect">
            <a:avLst/>
          </a:prstGeom>
          <a:noFill/>
          <a:ln/>
        </p:spPr>
        <p:txBody>
          <a:bodyPr wrap="square" lIns="0" tIns="0" rIns="0" bIns="0" rtlCol="0" anchor="t"/>
          <a:lstStyle/>
          <a:p>
            <a:pPr indent="0" marL="0">
              <a:buNone/>
            </a:pPr>
            <a:r>
              <a:rPr lang="en-US" sz="1400" b="1" dirty="0">
                <a:solidFill>
                  <a:srgbClr val="0B1F33"/>
                </a:solidFill>
                <a:latin typeface="Arial" pitchFamily="34" charset="0"/>
                <a:ea typeface="Arial" pitchFamily="34" charset="-122"/>
                <a:cs typeface="Arial" pitchFamily="34" charset="-120"/>
              </a:rPr>
              <a:t>Days 2–5: flat line</a:t>
            </a:r>
            <a:endParaRPr lang="en-US" sz="1400" dirty="0"/>
          </a:p>
        </p:txBody>
      </p:sp>
      <p:sp>
        <p:nvSpPr>
          <p:cNvPr id="12" name="Text 9"/>
          <p:cNvSpPr txBox="1"/>
          <p:nvPr/>
        </p:nvSpPr>
        <p:spPr>
          <a:xfrm>
            <a:off x="8549640" y="2395728"/>
            <a:ext cx="3063240" cy="82296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Work started but not finishing. Check for blockers or too much work in progress.</a:t>
            </a:r>
            <a:endParaRPr lang="en-US" sz="1200" dirty="0"/>
          </a:p>
        </p:txBody>
      </p:sp>
      <p:sp>
        <p:nvSpPr>
          <p:cNvPr id="13" name="Shape 10"/>
          <p:cNvSpPr/>
          <p:nvPr/>
        </p:nvSpPr>
        <p:spPr>
          <a:xfrm>
            <a:off x="7955280" y="3429000"/>
            <a:ext cx="411480" cy="411480"/>
          </a:xfrm>
          <a:prstGeom prst="ellipse">
            <a:avLst/>
          </a:prstGeom>
          <a:solidFill>
            <a:srgbClr val="0A8F8F"/>
          </a:solidFill>
          <a:ln w="12700">
            <a:solidFill>
              <a:srgbClr val="0A8F8F"/>
            </a:solidFill>
            <a:prstDash val="solid"/>
          </a:ln>
        </p:spPr>
      </p:sp>
      <p:sp>
        <p:nvSpPr>
          <p:cNvPr id="14" name="Text 11"/>
          <p:cNvSpPr txBox="1"/>
          <p:nvPr/>
        </p:nvSpPr>
        <p:spPr>
          <a:xfrm>
            <a:off x="7955280" y="34290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txBox="1"/>
          <p:nvPr/>
        </p:nvSpPr>
        <p:spPr>
          <a:xfrm>
            <a:off x="8549640" y="3383280"/>
            <a:ext cx="3063240" cy="365760"/>
          </a:xfrm>
          <a:prstGeom prst="rect">
            <a:avLst/>
          </a:prstGeom>
          <a:noFill/>
          <a:ln/>
        </p:spPr>
        <p:txBody>
          <a:bodyPr wrap="square" lIns="0" tIns="0" rIns="0" bIns="0" rtlCol="0" anchor="t"/>
          <a:lstStyle/>
          <a:p>
            <a:pPr indent="0" marL="0">
              <a:buNone/>
            </a:pPr>
            <a:r>
              <a:rPr lang="en-US" sz="1400" b="1" dirty="0">
                <a:solidFill>
                  <a:srgbClr val="0B1F33"/>
                </a:solidFill>
                <a:latin typeface="Arial" pitchFamily="34" charset="0"/>
                <a:ea typeface="Arial" pitchFamily="34" charset="-122"/>
                <a:cs typeface="Arial" pitchFamily="34" charset="-120"/>
              </a:rPr>
              <a:t>Days 6–9: steep drop</a:t>
            </a:r>
            <a:endParaRPr lang="en-US" sz="1400" dirty="0"/>
          </a:p>
        </p:txBody>
      </p:sp>
      <p:sp>
        <p:nvSpPr>
          <p:cNvPr id="16" name="Text 13"/>
          <p:cNvSpPr txBox="1"/>
          <p:nvPr/>
        </p:nvSpPr>
        <p:spPr>
          <a:xfrm>
            <a:off x="8549640" y="3767328"/>
            <a:ext cx="3063240" cy="82296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Items completed in batches. Encourage smaller items that flow daily.</a:t>
            </a:r>
            <a:endParaRPr lang="en-US" sz="1200" dirty="0"/>
          </a:p>
        </p:txBody>
      </p:sp>
      <p:sp>
        <p:nvSpPr>
          <p:cNvPr id="17" name="Shape 14"/>
          <p:cNvSpPr/>
          <p:nvPr/>
        </p:nvSpPr>
        <p:spPr>
          <a:xfrm>
            <a:off x="7955280" y="4800600"/>
            <a:ext cx="411480" cy="411480"/>
          </a:xfrm>
          <a:prstGeom prst="ellipse">
            <a:avLst/>
          </a:prstGeom>
          <a:solidFill>
            <a:srgbClr val="0A8F8F"/>
          </a:solidFill>
          <a:ln w="12700">
            <a:solidFill>
              <a:srgbClr val="0A8F8F"/>
            </a:solidFill>
            <a:prstDash val="solid"/>
          </a:ln>
        </p:spPr>
      </p:sp>
      <p:sp>
        <p:nvSpPr>
          <p:cNvPr id="18" name="Text 15"/>
          <p:cNvSpPr txBox="1"/>
          <p:nvPr/>
        </p:nvSpPr>
        <p:spPr>
          <a:xfrm>
            <a:off x="7955280" y="48006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6"/>
          <p:cNvSpPr txBox="1"/>
          <p:nvPr/>
        </p:nvSpPr>
        <p:spPr>
          <a:xfrm>
            <a:off x="8549640" y="4754880"/>
            <a:ext cx="3063240" cy="365760"/>
          </a:xfrm>
          <a:prstGeom prst="rect">
            <a:avLst/>
          </a:prstGeom>
          <a:noFill/>
          <a:ln/>
        </p:spPr>
        <p:txBody>
          <a:bodyPr wrap="square" lIns="0" tIns="0" rIns="0" bIns="0" rtlCol="0" anchor="t"/>
          <a:lstStyle/>
          <a:p>
            <a:pPr indent="0" marL="0">
              <a:buNone/>
            </a:pPr>
            <a:r>
              <a:rPr lang="en-US" sz="1400" b="1" dirty="0">
                <a:solidFill>
                  <a:srgbClr val="0B1F33"/>
                </a:solidFill>
                <a:latin typeface="Arial" pitchFamily="34" charset="0"/>
                <a:ea typeface="Arial" pitchFamily="34" charset="-122"/>
                <a:cs typeface="Arial" pitchFamily="34" charset="-120"/>
              </a:rPr>
              <a:t>Day 10: 3 points remain</a:t>
            </a:r>
            <a:endParaRPr lang="en-US" sz="1400" dirty="0"/>
          </a:p>
        </p:txBody>
      </p:sp>
      <p:sp>
        <p:nvSpPr>
          <p:cNvPr id="20" name="Text 17"/>
          <p:cNvSpPr txBox="1"/>
          <p:nvPr/>
        </p:nvSpPr>
        <p:spPr>
          <a:xfrm>
            <a:off x="8549640" y="5138928"/>
            <a:ext cx="3063240" cy="822960"/>
          </a:xfrm>
          <a:prstGeom prst="rect">
            <a:avLst/>
          </a:prstGeom>
          <a:noFill/>
          <a:ln/>
        </p:spPr>
        <p:txBody>
          <a:bodyPr wrap="square" lIns="0" tIns="0" rIns="0" bIns="0" rtlCol="0" anchor="t"/>
          <a:lstStyle/>
          <a:p>
            <a:pPr indent="0" marL="0">
              <a:buNone/>
            </a:pPr>
            <a:r>
              <a:rPr lang="en-US" sz="1200" dirty="0">
                <a:solidFill>
                  <a:srgbClr val="1F2A36"/>
                </a:solidFill>
                <a:latin typeface="Arial" pitchFamily="34" charset="0"/>
                <a:ea typeface="Arial" pitchFamily="34" charset="-122"/>
                <a:cs typeface="Arial" pitchFamily="34" charset="-120"/>
              </a:rPr>
              <a:t>Unfinished items return to the Product Backlog; discuss at the Retrospective.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WORKING IN PRACTICE  |  COMMON PITFALLS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Most Scrum failures stem from a handful of recognisable anti-patterns that are easy to correct</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The Scrum Guide, K. Schwaber &amp; J. Sutherland (November 2020);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13</a:t>
            </a:r>
            <a:endParaRPr lang="en-US" sz="900" dirty="0"/>
          </a:p>
        </p:txBody>
      </p:sp>
      <p:sp>
        <p:nvSpPr>
          <p:cNvPr id="7" name="Text 5"/>
          <p:cNvSpPr txBox="1"/>
          <p:nvPr/>
        </p:nvSpPr>
        <p:spPr>
          <a:xfrm>
            <a:off x="1097280" y="1737360"/>
            <a:ext cx="4572000" cy="274320"/>
          </a:xfrm>
          <a:prstGeom prst="rect">
            <a:avLst/>
          </a:prstGeom>
          <a:noFill/>
          <a:ln/>
        </p:spPr>
        <p:txBody>
          <a:bodyPr wrap="square" lIns="0" tIns="0" rIns="0" bIns="0" rtlCol="0" anchor="t"/>
          <a:lstStyle/>
          <a:p>
            <a:pPr indent="0" marL="0">
              <a:buNone/>
            </a:pPr>
            <a:r>
              <a:rPr lang="en-US" sz="1000" b="1" spc="200" kern="0" dirty="0">
                <a:solidFill>
                  <a:srgbClr val="B04A3A"/>
                </a:solidFill>
                <a:latin typeface="Arial" pitchFamily="34" charset="0"/>
                <a:ea typeface="Arial" pitchFamily="34" charset="-122"/>
                <a:cs typeface="Arial" pitchFamily="34" charset="-120"/>
              </a:rPr>
              <a:t>WHAT WE SOMETIMES SEE</a:t>
            </a:r>
            <a:endParaRPr lang="en-US" sz="1000" dirty="0"/>
          </a:p>
        </p:txBody>
      </p:sp>
      <p:sp>
        <p:nvSpPr>
          <p:cNvPr id="8" name="Text 6"/>
          <p:cNvSpPr txBox="1"/>
          <p:nvPr/>
        </p:nvSpPr>
        <p:spPr>
          <a:xfrm>
            <a:off x="6720840" y="1737360"/>
            <a:ext cx="45720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WHAT GOOD LOOKS LIKE</a:t>
            </a:r>
            <a:endParaRPr lang="en-US" sz="1000" dirty="0"/>
          </a:p>
        </p:txBody>
      </p:sp>
      <p:sp>
        <p:nvSpPr>
          <p:cNvPr id="9" name="Shape 7"/>
          <p:cNvSpPr/>
          <p:nvPr/>
        </p:nvSpPr>
        <p:spPr>
          <a:xfrm>
            <a:off x="6172200" y="2103120"/>
            <a:ext cx="5440680" cy="676656"/>
          </a:xfrm>
          <a:prstGeom prst="rect">
            <a:avLst/>
          </a:prstGeom>
          <a:solidFill>
            <a:srgbClr val="DDF0F0"/>
          </a:solidFill>
          <a:ln w="12700">
            <a:solidFill>
              <a:srgbClr val="DDF0F0"/>
            </a:solidFill>
            <a:prstDash val="solid"/>
          </a:ln>
        </p:spPr>
      </p:sp>
      <p:pic>
        <p:nvPicPr>
          <p:cNvPr id="10" name="Image 0" descr="preencoded.png">    </p:cNvPr>
          <p:cNvPicPr>
            <a:picLocks noChangeAspect="1"/>
          </p:cNvPicPr>
          <p:nvPr/>
        </p:nvPicPr>
        <p:blipFill>
          <a:blip r:embed="rId1"/>
          <a:stretch>
            <a:fillRect/>
          </a:stretch>
        </p:blipFill>
        <p:spPr>
          <a:xfrm>
            <a:off x="594360" y="2276856"/>
            <a:ext cx="329184" cy="329184"/>
          </a:xfrm>
          <a:prstGeom prst="rect">
            <a:avLst/>
          </a:prstGeom>
        </p:spPr>
      </p:pic>
      <p:sp>
        <p:nvSpPr>
          <p:cNvPr id="11" name="Text 8"/>
          <p:cNvSpPr txBox="1"/>
          <p:nvPr/>
        </p:nvSpPr>
        <p:spPr>
          <a:xfrm>
            <a:off x="1097280" y="2103120"/>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Daily Scrum becomes a status report to the manager</a:t>
            </a:r>
            <a:endParaRPr lang="en-US" sz="1250" dirty="0"/>
          </a:p>
        </p:txBody>
      </p:sp>
      <p:pic>
        <p:nvPicPr>
          <p:cNvPr id="12" name="Image 1" descr="preencoded.png">    </p:cNvPr>
          <p:cNvPicPr>
            <a:picLocks noChangeAspect="1"/>
          </p:cNvPicPr>
          <p:nvPr/>
        </p:nvPicPr>
        <p:blipFill>
          <a:blip r:embed="rId2"/>
          <a:stretch>
            <a:fillRect/>
          </a:stretch>
        </p:blipFill>
        <p:spPr>
          <a:xfrm>
            <a:off x="6355080" y="2276856"/>
            <a:ext cx="329184" cy="329184"/>
          </a:xfrm>
          <a:prstGeom prst="rect">
            <a:avLst/>
          </a:prstGeom>
        </p:spPr>
      </p:pic>
      <p:sp>
        <p:nvSpPr>
          <p:cNvPr id="13" name="Text 9"/>
          <p:cNvSpPr txBox="1"/>
          <p:nvPr/>
        </p:nvSpPr>
        <p:spPr>
          <a:xfrm>
            <a:off x="6812280" y="2103120"/>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Developers plan their next 24 hours together around the Sprint Goal</a:t>
            </a:r>
            <a:endParaRPr lang="en-US" sz="1250" dirty="0"/>
          </a:p>
        </p:txBody>
      </p:sp>
      <p:sp>
        <p:nvSpPr>
          <p:cNvPr id="14" name="Shape 10"/>
          <p:cNvSpPr/>
          <p:nvPr/>
        </p:nvSpPr>
        <p:spPr>
          <a:xfrm>
            <a:off x="6172200" y="2889504"/>
            <a:ext cx="5440680" cy="676656"/>
          </a:xfrm>
          <a:prstGeom prst="rect">
            <a:avLst/>
          </a:prstGeom>
          <a:solidFill>
            <a:srgbClr val="DDF0F0"/>
          </a:solidFill>
          <a:ln w="12700">
            <a:solidFill>
              <a:srgbClr val="DDF0F0"/>
            </a:solidFill>
            <a:prstDash val="solid"/>
          </a:ln>
        </p:spPr>
      </p:sp>
      <p:pic>
        <p:nvPicPr>
          <p:cNvPr id="15" name="Image 2" descr="preencoded.png">    </p:cNvPr>
          <p:cNvPicPr>
            <a:picLocks noChangeAspect="1"/>
          </p:cNvPicPr>
          <p:nvPr/>
        </p:nvPicPr>
        <p:blipFill>
          <a:blip r:embed="rId3"/>
          <a:stretch>
            <a:fillRect/>
          </a:stretch>
        </p:blipFill>
        <p:spPr>
          <a:xfrm>
            <a:off x="594360" y="3063240"/>
            <a:ext cx="329184" cy="329184"/>
          </a:xfrm>
          <a:prstGeom prst="rect">
            <a:avLst/>
          </a:prstGeom>
        </p:spPr>
      </p:pic>
      <p:sp>
        <p:nvSpPr>
          <p:cNvPr id="16" name="Text 11"/>
          <p:cNvSpPr txBox="1"/>
          <p:nvPr/>
        </p:nvSpPr>
        <p:spPr>
          <a:xfrm>
            <a:off x="1097280" y="2889504"/>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Sprint scope keeps changing mid-Sprint</a:t>
            </a:r>
            <a:endParaRPr lang="en-US" sz="1250" dirty="0"/>
          </a:p>
        </p:txBody>
      </p:sp>
      <p:pic>
        <p:nvPicPr>
          <p:cNvPr id="17" name="Image 3" descr="preencoded.png">    </p:cNvPr>
          <p:cNvPicPr>
            <a:picLocks noChangeAspect="1"/>
          </p:cNvPicPr>
          <p:nvPr/>
        </p:nvPicPr>
        <p:blipFill>
          <a:blip r:embed="rId4"/>
          <a:stretch>
            <a:fillRect/>
          </a:stretch>
        </p:blipFill>
        <p:spPr>
          <a:xfrm>
            <a:off x="6355080" y="3063240"/>
            <a:ext cx="329184" cy="329184"/>
          </a:xfrm>
          <a:prstGeom prst="rect">
            <a:avLst/>
          </a:prstGeom>
        </p:spPr>
      </p:pic>
      <p:sp>
        <p:nvSpPr>
          <p:cNvPr id="18" name="Text 12"/>
          <p:cNvSpPr txBox="1"/>
          <p:nvPr/>
        </p:nvSpPr>
        <p:spPr>
          <a:xfrm>
            <a:off x="6812280" y="2889504"/>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Sprint Goal stays fixed; scope is renegotiated only with the Product Owner</a:t>
            </a:r>
            <a:endParaRPr lang="en-US" sz="1250" dirty="0"/>
          </a:p>
        </p:txBody>
      </p:sp>
      <p:sp>
        <p:nvSpPr>
          <p:cNvPr id="19" name="Shape 13"/>
          <p:cNvSpPr/>
          <p:nvPr/>
        </p:nvSpPr>
        <p:spPr>
          <a:xfrm>
            <a:off x="6172200" y="3675888"/>
            <a:ext cx="5440680" cy="676656"/>
          </a:xfrm>
          <a:prstGeom prst="rect">
            <a:avLst/>
          </a:prstGeom>
          <a:solidFill>
            <a:srgbClr val="DDF0F0"/>
          </a:solidFill>
          <a:ln w="12700">
            <a:solidFill>
              <a:srgbClr val="DDF0F0"/>
            </a:solidFill>
            <a:prstDash val="solid"/>
          </a:ln>
        </p:spPr>
      </p:sp>
      <p:pic>
        <p:nvPicPr>
          <p:cNvPr id="20" name="Image 4" descr="preencoded.png">    </p:cNvPr>
          <p:cNvPicPr>
            <a:picLocks noChangeAspect="1"/>
          </p:cNvPicPr>
          <p:nvPr/>
        </p:nvPicPr>
        <p:blipFill>
          <a:blip r:embed="rId5"/>
          <a:stretch>
            <a:fillRect/>
          </a:stretch>
        </p:blipFill>
        <p:spPr>
          <a:xfrm>
            <a:off x="594360" y="3849624"/>
            <a:ext cx="329184" cy="329184"/>
          </a:xfrm>
          <a:prstGeom prst="rect">
            <a:avLst/>
          </a:prstGeom>
        </p:spPr>
      </p:pic>
      <p:sp>
        <p:nvSpPr>
          <p:cNvPr id="21" name="Text 14"/>
          <p:cNvSpPr txBox="1"/>
          <p:nvPr/>
        </p:nvSpPr>
        <p:spPr>
          <a:xfrm>
            <a:off x="1097280" y="3675888"/>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"Done" means code written, not tested or deployable</a:t>
            </a:r>
            <a:endParaRPr lang="en-US" sz="1250" dirty="0"/>
          </a:p>
        </p:txBody>
      </p:sp>
      <p:pic>
        <p:nvPicPr>
          <p:cNvPr id="22" name="Image 5" descr="preencoded.png">    </p:cNvPr>
          <p:cNvPicPr>
            <a:picLocks noChangeAspect="1"/>
          </p:cNvPicPr>
          <p:nvPr/>
        </p:nvPicPr>
        <p:blipFill>
          <a:blip r:embed="rId6"/>
          <a:stretch>
            <a:fillRect/>
          </a:stretch>
        </p:blipFill>
        <p:spPr>
          <a:xfrm>
            <a:off x="6355080" y="3849624"/>
            <a:ext cx="329184" cy="329184"/>
          </a:xfrm>
          <a:prstGeom prst="rect">
            <a:avLst/>
          </a:prstGeom>
        </p:spPr>
      </p:pic>
      <p:sp>
        <p:nvSpPr>
          <p:cNvPr id="23" name="Text 15"/>
          <p:cNvSpPr txBox="1"/>
          <p:nvPr/>
        </p:nvSpPr>
        <p:spPr>
          <a:xfrm>
            <a:off x="6812280" y="3675888"/>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A shared Definition of Done applied to every item</a:t>
            </a:r>
            <a:endParaRPr lang="en-US" sz="1250" dirty="0"/>
          </a:p>
        </p:txBody>
      </p:sp>
      <p:sp>
        <p:nvSpPr>
          <p:cNvPr id="24" name="Shape 16"/>
          <p:cNvSpPr/>
          <p:nvPr/>
        </p:nvSpPr>
        <p:spPr>
          <a:xfrm>
            <a:off x="6172200" y="4462272"/>
            <a:ext cx="5440680" cy="676656"/>
          </a:xfrm>
          <a:prstGeom prst="rect">
            <a:avLst/>
          </a:prstGeom>
          <a:solidFill>
            <a:srgbClr val="DDF0F0"/>
          </a:solidFill>
          <a:ln w="12700">
            <a:solidFill>
              <a:srgbClr val="DDF0F0"/>
            </a:solidFill>
            <a:prstDash val="solid"/>
          </a:ln>
        </p:spPr>
      </p:sp>
      <p:pic>
        <p:nvPicPr>
          <p:cNvPr id="25" name="Image 6" descr="preencoded.png">    </p:cNvPr>
          <p:cNvPicPr>
            <a:picLocks noChangeAspect="1"/>
          </p:cNvPicPr>
          <p:nvPr/>
        </p:nvPicPr>
        <p:blipFill>
          <a:blip r:embed="rId7"/>
          <a:stretch>
            <a:fillRect/>
          </a:stretch>
        </p:blipFill>
        <p:spPr>
          <a:xfrm>
            <a:off x="594360" y="4636008"/>
            <a:ext cx="329184" cy="329184"/>
          </a:xfrm>
          <a:prstGeom prst="rect">
            <a:avLst/>
          </a:prstGeom>
        </p:spPr>
      </p:pic>
      <p:sp>
        <p:nvSpPr>
          <p:cNvPr id="26" name="Text 17"/>
          <p:cNvSpPr txBox="1"/>
          <p:nvPr/>
        </p:nvSpPr>
        <p:spPr>
          <a:xfrm>
            <a:off x="1097280" y="4462272"/>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Retrospective actions are agreed but never actioned</a:t>
            </a:r>
            <a:endParaRPr lang="en-US" sz="1250" dirty="0"/>
          </a:p>
        </p:txBody>
      </p:sp>
      <p:pic>
        <p:nvPicPr>
          <p:cNvPr id="27" name="Image 7" descr="preencoded.png">    </p:cNvPr>
          <p:cNvPicPr>
            <a:picLocks noChangeAspect="1"/>
          </p:cNvPicPr>
          <p:nvPr/>
        </p:nvPicPr>
        <p:blipFill>
          <a:blip r:embed="rId8"/>
          <a:stretch>
            <a:fillRect/>
          </a:stretch>
        </p:blipFill>
        <p:spPr>
          <a:xfrm>
            <a:off x="6355080" y="4636008"/>
            <a:ext cx="329184" cy="329184"/>
          </a:xfrm>
          <a:prstGeom prst="rect">
            <a:avLst/>
          </a:prstGeom>
        </p:spPr>
      </p:pic>
      <p:sp>
        <p:nvSpPr>
          <p:cNvPr id="28" name="Text 18"/>
          <p:cNvSpPr txBox="1"/>
          <p:nvPr/>
        </p:nvSpPr>
        <p:spPr>
          <a:xfrm>
            <a:off x="6812280" y="4462272"/>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One or two improvements added to the next Sprint Backlog</a:t>
            </a:r>
            <a:endParaRPr lang="en-US" sz="1250" dirty="0"/>
          </a:p>
        </p:txBody>
      </p:sp>
      <p:sp>
        <p:nvSpPr>
          <p:cNvPr id="29" name="Shape 19"/>
          <p:cNvSpPr/>
          <p:nvPr/>
        </p:nvSpPr>
        <p:spPr>
          <a:xfrm>
            <a:off x="6172200" y="5248656"/>
            <a:ext cx="5440680" cy="676656"/>
          </a:xfrm>
          <a:prstGeom prst="rect">
            <a:avLst/>
          </a:prstGeom>
          <a:solidFill>
            <a:srgbClr val="DDF0F0"/>
          </a:solidFill>
          <a:ln w="12700">
            <a:solidFill>
              <a:srgbClr val="DDF0F0"/>
            </a:solidFill>
            <a:prstDash val="solid"/>
          </a:ln>
        </p:spPr>
      </p:sp>
      <p:pic>
        <p:nvPicPr>
          <p:cNvPr id="30" name="Image 8" descr="preencoded.png">    </p:cNvPr>
          <p:cNvPicPr>
            <a:picLocks noChangeAspect="1"/>
          </p:cNvPicPr>
          <p:nvPr/>
        </p:nvPicPr>
        <p:blipFill>
          <a:blip r:embed="rId9"/>
          <a:stretch>
            <a:fillRect/>
          </a:stretch>
        </p:blipFill>
        <p:spPr>
          <a:xfrm>
            <a:off x="594360" y="5422392"/>
            <a:ext cx="329184" cy="329184"/>
          </a:xfrm>
          <a:prstGeom prst="rect">
            <a:avLst/>
          </a:prstGeom>
        </p:spPr>
      </p:pic>
      <p:sp>
        <p:nvSpPr>
          <p:cNvPr id="31" name="Text 20"/>
          <p:cNvSpPr txBox="1"/>
          <p:nvPr/>
        </p:nvSpPr>
        <p:spPr>
          <a:xfrm>
            <a:off x="1097280" y="5248656"/>
            <a:ext cx="4846320" cy="676656"/>
          </a:xfrm>
          <a:prstGeom prst="rect">
            <a:avLst/>
          </a:prstGeom>
          <a:noFill/>
          <a:ln/>
        </p:spPr>
        <p:txBody>
          <a:bodyPr wrap="square" lIns="0" tIns="0" rIns="0" bIns="0" rtlCol="0" anchor="ctr"/>
          <a:lstStyle/>
          <a:p>
            <a:pPr indent="0" marL="0">
              <a:buNone/>
            </a:pPr>
            <a:r>
              <a:rPr lang="en-US" sz="1250" dirty="0">
                <a:solidFill>
                  <a:srgbClr val="1F2A36"/>
                </a:solidFill>
                <a:latin typeface="Arial" pitchFamily="34" charset="0"/>
                <a:ea typeface="Arial" pitchFamily="34" charset="-122"/>
                <a:cs typeface="Arial" pitchFamily="34" charset="-120"/>
              </a:rPr>
              <a:t>Product Owner is unavailable or has no authority</a:t>
            </a:r>
            <a:endParaRPr lang="en-US" sz="1250" dirty="0"/>
          </a:p>
        </p:txBody>
      </p:sp>
      <p:pic>
        <p:nvPicPr>
          <p:cNvPr id="32" name="Image 9" descr="preencoded.png">    </p:cNvPr>
          <p:cNvPicPr>
            <a:picLocks noChangeAspect="1"/>
          </p:cNvPicPr>
          <p:nvPr/>
        </p:nvPicPr>
        <p:blipFill>
          <a:blip r:embed="rId10"/>
          <a:stretch>
            <a:fillRect/>
          </a:stretch>
        </p:blipFill>
        <p:spPr>
          <a:xfrm>
            <a:off x="6355080" y="5422392"/>
            <a:ext cx="329184" cy="329184"/>
          </a:xfrm>
          <a:prstGeom prst="rect">
            <a:avLst/>
          </a:prstGeom>
        </p:spPr>
      </p:pic>
      <p:sp>
        <p:nvSpPr>
          <p:cNvPr id="33" name="Text 21"/>
          <p:cNvSpPr txBox="1"/>
          <p:nvPr/>
        </p:nvSpPr>
        <p:spPr>
          <a:xfrm>
            <a:off x="6812280" y="5248656"/>
            <a:ext cx="4663440" cy="676656"/>
          </a:xfrm>
          <a:prstGeom prst="rect">
            <a:avLst/>
          </a:prstGeom>
          <a:noFill/>
          <a:ln/>
        </p:spPr>
        <p:txBody>
          <a:bodyPr wrap="square" lIns="0" tIns="0" rIns="0" bIns="0" rtlCol="0" anchor="ctr"/>
          <a:lstStyle/>
          <a:p>
            <a:pPr indent="0" marL="0">
              <a:buNone/>
            </a:pPr>
            <a:r>
              <a:rPr lang="en-US" sz="1250" b="1" dirty="0">
                <a:solidFill>
                  <a:srgbClr val="0B1F33"/>
                </a:solidFill>
                <a:latin typeface="Arial" pitchFamily="34" charset="0"/>
                <a:ea typeface="Arial" pitchFamily="34" charset="-122"/>
                <a:cs typeface="Arial" pitchFamily="34" charset="-120"/>
              </a:rPr>
              <a:t>An empowered Product Owner who makes ordering decisions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731520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YOUR FIRST 30 DAYS</a:t>
            </a:r>
            <a:endParaRPr lang="en-US" sz="1000" dirty="0"/>
          </a:p>
        </p:txBody>
      </p:sp>
      <p:sp>
        <p:nvSpPr>
          <p:cNvPr id="3" name="Text 1"/>
          <p:cNvSpPr txBox="1"/>
          <p:nvPr/>
        </p:nvSpPr>
        <p:spPr>
          <a:xfrm>
            <a:off x="7955280" y="320040"/>
            <a:ext cx="36850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Scrum Fundamentals  |  Onboarding</a:t>
            </a:r>
            <a:endParaRPr lang="en-US" sz="900" dirty="0"/>
          </a:p>
        </p:txBody>
      </p:sp>
      <p:sp>
        <p:nvSpPr>
          <p:cNvPr id="4" name="Text 2"/>
          <p:cNvSpPr txBox="1"/>
          <p:nvPr/>
        </p:nvSpPr>
        <p:spPr>
          <a:xfrm>
            <a:off x="548640" y="640080"/>
            <a:ext cx="11064240" cy="914400"/>
          </a:xfrm>
          <a:prstGeom prst="rect">
            <a:avLst/>
          </a:prstGeom>
          <a:noFill/>
          <a:ln/>
        </p:spPr>
        <p:txBody>
          <a:bodyPr wrap="square" lIns="0" tIns="0" rIns="0" bIns="0" rtlCol="0" anchor="ctr"/>
          <a:lstStyle/>
          <a:p>
            <a:pPr indent="0" marL="0">
              <a:buNone/>
            </a:pPr>
            <a:r>
              <a:rPr lang="en-US" sz="2400" b="1" dirty="0">
                <a:solidFill>
                  <a:srgbClr val="0B1F33"/>
                </a:solidFill>
                <a:latin typeface="Cambria" pitchFamily="34" charset="0"/>
                <a:ea typeface="Cambria" pitchFamily="34" charset="-122"/>
                <a:cs typeface="Cambria" pitchFamily="34" charset="-120"/>
              </a:rPr>
              <a:t>A structured first month takes new team members from observer to fully contributing Developer</a:t>
            </a:r>
            <a:endParaRPr lang="en-US" sz="2400" dirty="0"/>
          </a:p>
        </p:txBody>
      </p:sp>
      <p:sp>
        <p:nvSpPr>
          <p:cNvPr id="5" name="Text 3"/>
          <p:cNvSpPr txBox="1"/>
          <p:nvPr/>
        </p:nvSpPr>
        <p:spPr>
          <a:xfrm>
            <a:off x="548640" y="6355080"/>
            <a:ext cx="9601200" cy="274320"/>
          </a:xfrm>
          <a:prstGeom prst="rect">
            <a:avLst/>
          </a:prstGeom>
          <a:noFill/>
          <a:ln/>
        </p:spPr>
        <p:txBody>
          <a:bodyPr wrap="square" lIns="0" tIns="0" rIns="0" bIns="0" rtlCol="0" anchor="t"/>
          <a:lstStyle/>
          <a:p>
            <a:pPr indent="0" marL="0">
              <a:buNone/>
            </a:pPr>
            <a:r>
              <a:rPr lang="en-US" sz="850" dirty="0">
                <a:solidFill>
                  <a:srgbClr val="5E6E7E"/>
                </a:solidFill>
                <a:latin typeface="Arial" pitchFamily="34" charset="0"/>
                <a:ea typeface="Arial" pitchFamily="34" charset="-122"/>
                <a:cs typeface="Arial" pitchFamily="34" charset="-120"/>
              </a:rPr>
              <a:t>Source: Onboarding programme guidance; team analysis</a:t>
            </a:r>
            <a:endParaRPr lang="en-US" sz="850" dirty="0"/>
          </a:p>
        </p:txBody>
      </p:sp>
      <p:sp>
        <p:nvSpPr>
          <p:cNvPr id="6" name="Text 4"/>
          <p:cNvSpPr txBox="1"/>
          <p:nvPr/>
        </p:nvSpPr>
        <p:spPr>
          <a:xfrm>
            <a:off x="11155680" y="6355080"/>
            <a:ext cx="484632" cy="274320"/>
          </a:xfrm>
          <a:prstGeom prst="rect">
            <a:avLst/>
          </a:prstGeom>
          <a:noFill/>
          <a:ln/>
        </p:spPr>
        <p:txBody>
          <a:bodyPr wrap="square" lIns="0" tIns="0" rIns="0" bIns="0" rtlCol="0" anchor="t"/>
          <a:lstStyle/>
          <a:p>
            <a:pPr algn="r" indent="0" marL="0">
              <a:buNone/>
            </a:pPr>
            <a:r>
              <a:rPr lang="en-US" sz="900" dirty="0">
                <a:solidFill>
                  <a:srgbClr val="5E6E7E"/>
                </a:solidFill>
                <a:latin typeface="Arial" pitchFamily="34" charset="0"/>
                <a:ea typeface="Arial" pitchFamily="34" charset="-122"/>
                <a:cs typeface="Arial" pitchFamily="34" charset="-120"/>
              </a:rPr>
              <a:t>14</a:t>
            </a:r>
            <a:endParaRPr lang="en-US" sz="900" dirty="0"/>
          </a:p>
        </p:txBody>
      </p:sp>
      <p:sp>
        <p:nvSpPr>
          <p:cNvPr id="7" name="Shape 5"/>
          <p:cNvSpPr/>
          <p:nvPr/>
        </p:nvSpPr>
        <p:spPr>
          <a:xfrm>
            <a:off x="822960" y="2240280"/>
            <a:ext cx="10515600" cy="0"/>
          </a:xfrm>
          <a:prstGeom prst="line">
            <a:avLst/>
          </a:prstGeom>
          <a:noFill/>
          <a:ln w="25400">
            <a:solidFill>
              <a:srgbClr val="C9D3DC"/>
            </a:solidFill>
            <a:prstDash val="solid"/>
          </a:ln>
        </p:spPr>
      </p:sp>
      <p:sp>
        <p:nvSpPr>
          <p:cNvPr id="8" name="Shape 6"/>
          <p:cNvSpPr/>
          <p:nvPr/>
        </p:nvSpPr>
        <p:spPr>
          <a:xfrm>
            <a:off x="640080" y="2011680"/>
            <a:ext cx="457200" cy="457200"/>
          </a:xfrm>
          <a:prstGeom prst="ellipse">
            <a:avLst/>
          </a:prstGeom>
          <a:solidFill>
            <a:srgbClr val="12355B"/>
          </a:solidFill>
          <a:ln w="25400">
            <a:solidFill>
              <a:srgbClr val="FFFFFF"/>
            </a:solidFill>
            <a:prstDash val="solid"/>
          </a:ln>
        </p:spPr>
      </p:sp>
      <p:sp>
        <p:nvSpPr>
          <p:cNvPr id="9" name="Text 7"/>
          <p:cNvSpPr txBox="1"/>
          <p:nvPr/>
        </p:nvSpPr>
        <p:spPr>
          <a:xfrm>
            <a:off x="54864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WEEK 1</a:t>
            </a:r>
            <a:endParaRPr lang="en-US" sz="1000" dirty="0"/>
          </a:p>
        </p:txBody>
      </p:sp>
      <p:sp>
        <p:nvSpPr>
          <p:cNvPr id="10" name="Text 8"/>
          <p:cNvSpPr txBox="1"/>
          <p:nvPr/>
        </p:nvSpPr>
        <p:spPr>
          <a:xfrm>
            <a:off x="54864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Orient</a:t>
            </a:r>
            <a:endParaRPr lang="en-US" sz="2000" dirty="0"/>
          </a:p>
        </p:txBody>
      </p:sp>
      <p:sp>
        <p:nvSpPr>
          <p:cNvPr id="11" name="Text 9"/>
          <p:cNvSpPr txBox="1"/>
          <p:nvPr/>
        </p:nvSpPr>
        <p:spPr>
          <a:xfrm>
            <a:off x="548640" y="3520440"/>
            <a:ext cx="256032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Meet the Product Owner and Scrum Master</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Read the Product Goal and Definition of Done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Observe all Scrum events</a:t>
            </a:r>
            <a:endParaRPr lang="en-US" sz="1250" dirty="0"/>
          </a:p>
        </p:txBody>
      </p:sp>
      <p:sp>
        <p:nvSpPr>
          <p:cNvPr id="12" name="Shape 10"/>
          <p:cNvSpPr/>
          <p:nvPr/>
        </p:nvSpPr>
        <p:spPr>
          <a:xfrm>
            <a:off x="3474720" y="2011680"/>
            <a:ext cx="457200" cy="457200"/>
          </a:xfrm>
          <a:prstGeom prst="ellipse">
            <a:avLst/>
          </a:prstGeom>
          <a:solidFill>
            <a:srgbClr val="12355B"/>
          </a:solidFill>
          <a:ln w="25400">
            <a:solidFill>
              <a:srgbClr val="FFFFFF"/>
            </a:solidFill>
            <a:prstDash val="solid"/>
          </a:ln>
        </p:spPr>
      </p:sp>
      <p:sp>
        <p:nvSpPr>
          <p:cNvPr id="13" name="Text 11"/>
          <p:cNvSpPr txBox="1"/>
          <p:nvPr/>
        </p:nvSpPr>
        <p:spPr>
          <a:xfrm>
            <a:off x="338328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WEEK 2</a:t>
            </a:r>
            <a:endParaRPr lang="en-US" sz="1000" dirty="0"/>
          </a:p>
        </p:txBody>
      </p:sp>
      <p:sp>
        <p:nvSpPr>
          <p:cNvPr id="14" name="Text 12"/>
          <p:cNvSpPr txBox="1"/>
          <p:nvPr/>
        </p:nvSpPr>
        <p:spPr>
          <a:xfrm>
            <a:off x="338328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Participate</a:t>
            </a:r>
            <a:endParaRPr lang="en-US" sz="2000" dirty="0"/>
          </a:p>
        </p:txBody>
      </p:sp>
      <p:sp>
        <p:nvSpPr>
          <p:cNvPr id="15" name="Text 13"/>
          <p:cNvSpPr txBox="1"/>
          <p:nvPr/>
        </p:nvSpPr>
        <p:spPr>
          <a:xfrm>
            <a:off x="3383280" y="3520440"/>
            <a:ext cx="256032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Join Daily Scrums and speak to your work</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Pair on a small backlog item</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Get access to tools and boards</a:t>
            </a:r>
            <a:endParaRPr lang="en-US" sz="1250" dirty="0"/>
          </a:p>
        </p:txBody>
      </p:sp>
      <p:sp>
        <p:nvSpPr>
          <p:cNvPr id="16" name="Shape 14"/>
          <p:cNvSpPr/>
          <p:nvPr/>
        </p:nvSpPr>
        <p:spPr>
          <a:xfrm>
            <a:off x="6309360" y="2011680"/>
            <a:ext cx="457200" cy="457200"/>
          </a:xfrm>
          <a:prstGeom prst="ellipse">
            <a:avLst/>
          </a:prstGeom>
          <a:solidFill>
            <a:srgbClr val="12355B"/>
          </a:solidFill>
          <a:ln w="25400">
            <a:solidFill>
              <a:srgbClr val="FFFFFF"/>
            </a:solidFill>
            <a:prstDash val="solid"/>
          </a:ln>
        </p:spPr>
      </p:sp>
      <p:sp>
        <p:nvSpPr>
          <p:cNvPr id="17" name="Text 15"/>
          <p:cNvSpPr txBox="1"/>
          <p:nvPr/>
        </p:nvSpPr>
        <p:spPr>
          <a:xfrm>
            <a:off x="621792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WEEK 3</a:t>
            </a:r>
            <a:endParaRPr lang="en-US" sz="1000" dirty="0"/>
          </a:p>
        </p:txBody>
      </p:sp>
      <p:sp>
        <p:nvSpPr>
          <p:cNvPr id="18" name="Text 16"/>
          <p:cNvSpPr txBox="1"/>
          <p:nvPr/>
        </p:nvSpPr>
        <p:spPr>
          <a:xfrm>
            <a:off x="621792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Contribute</a:t>
            </a:r>
            <a:endParaRPr lang="en-US" sz="2000" dirty="0"/>
          </a:p>
        </p:txBody>
      </p:sp>
      <p:sp>
        <p:nvSpPr>
          <p:cNvPr id="19" name="Text 17"/>
          <p:cNvSpPr txBox="1"/>
          <p:nvPr/>
        </p:nvSpPr>
        <p:spPr>
          <a:xfrm>
            <a:off x="6217920" y="3520440"/>
            <a:ext cx="256032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Take part in Sprint Planning</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Own items through to Done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Join backlog refinement</a:t>
            </a:r>
            <a:endParaRPr lang="en-US" sz="1250" dirty="0"/>
          </a:p>
        </p:txBody>
      </p:sp>
      <p:sp>
        <p:nvSpPr>
          <p:cNvPr id="20" name="Shape 18"/>
          <p:cNvSpPr/>
          <p:nvPr/>
        </p:nvSpPr>
        <p:spPr>
          <a:xfrm>
            <a:off x="9144000" y="2011680"/>
            <a:ext cx="457200" cy="457200"/>
          </a:xfrm>
          <a:prstGeom prst="ellipse">
            <a:avLst/>
          </a:prstGeom>
          <a:solidFill>
            <a:srgbClr val="0A8F8F"/>
          </a:solidFill>
          <a:ln w="25400">
            <a:solidFill>
              <a:srgbClr val="FFFFFF"/>
            </a:solidFill>
            <a:prstDash val="solid"/>
          </a:ln>
        </p:spPr>
      </p:sp>
      <p:sp>
        <p:nvSpPr>
          <p:cNvPr id="21" name="Text 19"/>
          <p:cNvSpPr txBox="1"/>
          <p:nvPr/>
        </p:nvSpPr>
        <p:spPr>
          <a:xfrm>
            <a:off x="9052560" y="2651760"/>
            <a:ext cx="2560320" cy="274320"/>
          </a:xfrm>
          <a:prstGeom prst="rect">
            <a:avLst/>
          </a:prstGeom>
          <a:noFill/>
          <a:ln/>
        </p:spPr>
        <p:txBody>
          <a:bodyPr wrap="square" lIns="0" tIns="0" rIns="0" bIns="0" rtlCol="0" anchor="t"/>
          <a:lstStyle/>
          <a:p>
            <a:pPr indent="0" marL="0">
              <a:buNone/>
            </a:pPr>
            <a:r>
              <a:rPr lang="en-US" sz="1000" b="1" spc="200" kern="0" dirty="0">
                <a:solidFill>
                  <a:srgbClr val="0A8F8F"/>
                </a:solidFill>
                <a:latin typeface="Arial" pitchFamily="34" charset="0"/>
                <a:ea typeface="Arial" pitchFamily="34" charset="-122"/>
                <a:cs typeface="Arial" pitchFamily="34" charset="-120"/>
              </a:rPr>
              <a:t>WEEK 4</a:t>
            </a:r>
            <a:endParaRPr lang="en-US" sz="1000" dirty="0"/>
          </a:p>
        </p:txBody>
      </p:sp>
      <p:sp>
        <p:nvSpPr>
          <p:cNvPr id="22" name="Text 20"/>
          <p:cNvSpPr txBox="1"/>
          <p:nvPr/>
        </p:nvSpPr>
        <p:spPr>
          <a:xfrm>
            <a:off x="9052560" y="2926080"/>
            <a:ext cx="2560320" cy="457200"/>
          </a:xfrm>
          <a:prstGeom prst="rect">
            <a:avLst/>
          </a:prstGeom>
          <a:noFill/>
          <a:ln/>
        </p:spPr>
        <p:txBody>
          <a:bodyPr wrap="square" lIns="0" tIns="0" rIns="0" bIns="0" rtlCol="0" anchor="t"/>
          <a:lstStyle/>
          <a:p>
            <a:pPr indent="0" marL="0">
              <a:buNone/>
            </a:pPr>
            <a:r>
              <a:rPr lang="en-US" sz="2000" b="1" dirty="0">
                <a:solidFill>
                  <a:srgbClr val="0B1F33"/>
                </a:solidFill>
                <a:latin typeface="Cambria" pitchFamily="34" charset="0"/>
                <a:ea typeface="Cambria" pitchFamily="34" charset="-122"/>
                <a:cs typeface="Cambria" pitchFamily="34" charset="-120"/>
              </a:rPr>
              <a:t>Improve</a:t>
            </a:r>
            <a:endParaRPr lang="en-US" sz="2000" dirty="0"/>
          </a:p>
        </p:txBody>
      </p:sp>
      <p:sp>
        <p:nvSpPr>
          <p:cNvPr id="23" name="Text 21"/>
          <p:cNvSpPr txBox="1"/>
          <p:nvPr/>
        </p:nvSpPr>
        <p:spPr>
          <a:xfrm>
            <a:off x="9052560" y="3520440"/>
            <a:ext cx="256032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Share a fresh-eyes view in the Retrospective</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Demo your work at the Sprint Review</a:t>
            </a:r>
            <a:endParaRPr lang="en-US" sz="1250" dirty="0"/>
          </a:p>
          <a:p>
            <a:pPr marL="342900" indent="-342900">
              <a:spcAft>
                <a:spcPts val="800"/>
              </a:spcAft>
              <a:buSzPct val="100000"/>
              <a:buChar char="•"/>
            </a:pPr>
            <a:r>
              <a:rPr lang="en-US" sz="1250" dirty="0">
                <a:solidFill>
                  <a:srgbClr val="1F2A36"/>
                </a:solidFill>
                <a:latin typeface="Arial" pitchFamily="34" charset="0"/>
                <a:ea typeface="Arial" pitchFamily="34" charset="-122"/>
                <a:cs typeface="Arial" pitchFamily="34" charset="-120"/>
              </a:rPr>
              <a:t>Agree next steps with your Scrum Master</a:t>
            </a:r>
            <a:endParaRPr lang="en-US" sz="1250" dirty="0"/>
          </a:p>
        </p:txBody>
      </p:sp>
      <p:sp>
        <p:nvSpPr>
          <p:cNvPr id="24" name="Shape 22"/>
          <p:cNvSpPr/>
          <p:nvPr/>
        </p:nvSpPr>
        <p:spPr>
          <a:xfrm>
            <a:off x="548640" y="5440680"/>
            <a:ext cx="11064240" cy="685800"/>
          </a:xfrm>
          <a:prstGeom prst="rect">
            <a:avLst/>
          </a:prstGeom>
          <a:solidFill>
            <a:srgbClr val="EEF3F6"/>
          </a:solidFill>
          <a:ln w="12700">
            <a:solidFill>
              <a:srgbClr val="EEF3F6"/>
            </a:solidFill>
            <a:prstDash val="solid"/>
          </a:ln>
        </p:spPr>
      </p:sp>
      <p:sp>
        <p:nvSpPr>
          <p:cNvPr id="25" name="Text 23"/>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300" b="1" dirty="0">
                <a:solidFill>
                  <a:srgbClr val="0A8F8F"/>
                </a:solidFill>
                <a:latin typeface="Arial" pitchFamily="34" charset="0"/>
                <a:ea typeface="Arial" pitchFamily="34" charset="-122"/>
                <a:cs typeface="Arial" pitchFamily="34" charset="-120"/>
              </a:rPr>
              <a:t>Success at day 30: </a:t>
            </a:r>
            <a:pPr indent="0" marL="0">
              <a:buNone/>
            </a:pPr>
            <a:r>
              <a:rPr lang="en-US" sz="1300" dirty="0">
                <a:solidFill>
                  <a:srgbClr val="1F2A36"/>
                </a:solidFill>
                <a:latin typeface="Arial" pitchFamily="34" charset="0"/>
                <a:ea typeface="Arial" pitchFamily="34" charset="-122"/>
                <a:cs typeface="Arial" pitchFamily="34" charset="-120"/>
              </a:rPr>
              <a:t>you can explain the Sprint Goal, have delivered at least one item to Done, and have contributed to every Scrum event.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p:bgPr>
    </p:bg>
    <p:spTree>
      <p:nvGrpSpPr>
        <p:cNvPr id="1" name=""/>
        <p:cNvGrpSpPr/>
        <p:nvPr/>
      </p:nvGrpSpPr>
      <p:grpSpPr>
        <a:xfrm>
          <a:off x="0" y="0"/>
          <a:ext cx="0" cy="0"/>
          <a:chOff x="0" y="0"/>
          <a:chExt cx="0" cy="0"/>
        </a:xfrm>
      </p:grpSpPr>
      <p:sp>
        <p:nvSpPr>
          <p:cNvPr id="2" name="Text 0"/>
          <p:cNvSpPr txBox="1"/>
          <p:nvPr/>
        </p:nvSpPr>
        <p:spPr>
          <a:xfrm>
            <a:off x="731520" y="548640"/>
            <a:ext cx="5486400" cy="274320"/>
          </a:xfrm>
          <a:prstGeom prst="rect">
            <a:avLst/>
          </a:prstGeom>
          <a:noFill/>
          <a:ln/>
        </p:spPr>
        <p:txBody>
          <a:bodyPr wrap="square" lIns="0" tIns="0" rIns="0" bIns="0" rtlCol="0" anchor="t"/>
          <a:lstStyle/>
          <a:p>
            <a:pPr indent="0" marL="0">
              <a:buNone/>
            </a:pPr>
            <a:r>
              <a:rPr lang="en-US" sz="1100" b="1" spc="300" kern="0" dirty="0">
                <a:solidFill>
                  <a:srgbClr val="7FD1D1"/>
                </a:solidFill>
                <a:latin typeface="Arial" pitchFamily="34" charset="0"/>
                <a:ea typeface="Arial" pitchFamily="34" charset="-122"/>
                <a:cs typeface="Arial" pitchFamily="34" charset="-120"/>
              </a:rPr>
              <a:t>KEY TAKEAWAYS</a:t>
            </a:r>
            <a:endParaRPr lang="en-US" sz="1100" dirty="0"/>
          </a:p>
        </p:txBody>
      </p:sp>
      <p:sp>
        <p:nvSpPr>
          <p:cNvPr id="3" name="Text 1"/>
          <p:cNvSpPr txBox="1"/>
          <p:nvPr/>
        </p:nvSpPr>
        <p:spPr>
          <a:xfrm>
            <a:off x="731520" y="868680"/>
            <a:ext cx="10058400" cy="7315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Four things to remember from this module</a:t>
            </a:r>
            <a:endParaRPr lang="en-US" sz="3000" dirty="0"/>
          </a:p>
        </p:txBody>
      </p:sp>
      <p:sp>
        <p:nvSpPr>
          <p:cNvPr id="4" name="Text 2"/>
          <p:cNvSpPr txBox="1"/>
          <p:nvPr/>
        </p:nvSpPr>
        <p:spPr>
          <a:xfrm>
            <a:off x="731520" y="201168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01</a:t>
            </a:r>
            <a:endParaRPr lang="en-US" sz="3600" dirty="0"/>
          </a:p>
        </p:txBody>
      </p:sp>
      <p:sp>
        <p:nvSpPr>
          <p:cNvPr id="5" name="Text 3"/>
          <p:cNvSpPr txBox="1"/>
          <p:nvPr/>
        </p:nvSpPr>
        <p:spPr>
          <a:xfrm>
            <a:off x="1737360" y="205740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Scrum is empirical</a:t>
            </a:r>
            <a:endParaRPr lang="en-US" sz="1800" dirty="0"/>
          </a:p>
        </p:txBody>
      </p:sp>
      <p:sp>
        <p:nvSpPr>
          <p:cNvPr id="6" name="Text 4"/>
          <p:cNvSpPr txBox="1"/>
          <p:nvPr/>
        </p:nvSpPr>
        <p:spPr>
          <a:xfrm>
            <a:off x="1737360" y="251460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We plan in short cycles and adapt based on evidence, not assumptions.</a:t>
            </a:r>
            <a:endParaRPr lang="en-US" sz="1300" dirty="0"/>
          </a:p>
        </p:txBody>
      </p:sp>
      <p:sp>
        <p:nvSpPr>
          <p:cNvPr id="7" name="Text 5"/>
          <p:cNvSpPr txBox="1"/>
          <p:nvPr/>
        </p:nvSpPr>
        <p:spPr>
          <a:xfrm>
            <a:off x="6217920" y="201168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02</a:t>
            </a:r>
            <a:endParaRPr lang="en-US" sz="3600" dirty="0"/>
          </a:p>
        </p:txBody>
      </p:sp>
      <p:sp>
        <p:nvSpPr>
          <p:cNvPr id="8" name="Text 6"/>
          <p:cNvSpPr txBox="1"/>
          <p:nvPr/>
        </p:nvSpPr>
        <p:spPr>
          <a:xfrm>
            <a:off x="7223760" y="205740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Three accountabilities, one team</a:t>
            </a:r>
            <a:endParaRPr lang="en-US" sz="1800" dirty="0"/>
          </a:p>
        </p:txBody>
      </p:sp>
      <p:sp>
        <p:nvSpPr>
          <p:cNvPr id="9" name="Text 7"/>
          <p:cNvSpPr txBox="1"/>
          <p:nvPr/>
        </p:nvSpPr>
        <p:spPr>
          <a:xfrm>
            <a:off x="7223760" y="251460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Product Owner, Scrum Master and Developers share one Product Goal.</a:t>
            </a:r>
            <a:endParaRPr lang="en-US" sz="1300" dirty="0"/>
          </a:p>
        </p:txBody>
      </p:sp>
      <p:sp>
        <p:nvSpPr>
          <p:cNvPr id="10" name="Text 8"/>
          <p:cNvSpPr txBox="1"/>
          <p:nvPr/>
        </p:nvSpPr>
        <p:spPr>
          <a:xfrm>
            <a:off x="731520" y="379476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03</a:t>
            </a:r>
            <a:endParaRPr lang="en-US" sz="3600" dirty="0"/>
          </a:p>
        </p:txBody>
      </p:sp>
      <p:sp>
        <p:nvSpPr>
          <p:cNvPr id="11" name="Text 9"/>
          <p:cNvSpPr txBox="1"/>
          <p:nvPr/>
        </p:nvSpPr>
        <p:spPr>
          <a:xfrm>
            <a:off x="1737360" y="384048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Every event has a purpose</a:t>
            </a:r>
            <a:endParaRPr lang="en-US" sz="1800" dirty="0"/>
          </a:p>
        </p:txBody>
      </p:sp>
      <p:sp>
        <p:nvSpPr>
          <p:cNvPr id="12" name="Text 10"/>
          <p:cNvSpPr txBox="1"/>
          <p:nvPr/>
        </p:nvSpPr>
        <p:spPr>
          <a:xfrm>
            <a:off x="1737360" y="429768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Five timeboxed events create transparency, inspection and adaptation.</a:t>
            </a:r>
            <a:endParaRPr lang="en-US" sz="1300" dirty="0"/>
          </a:p>
        </p:txBody>
      </p:sp>
      <p:sp>
        <p:nvSpPr>
          <p:cNvPr id="13" name="Text 11"/>
          <p:cNvSpPr txBox="1"/>
          <p:nvPr/>
        </p:nvSpPr>
        <p:spPr>
          <a:xfrm>
            <a:off x="6217920" y="3794760"/>
            <a:ext cx="914400" cy="731520"/>
          </a:xfrm>
          <a:prstGeom prst="rect">
            <a:avLst/>
          </a:prstGeom>
          <a:noFill/>
          <a:ln/>
        </p:spPr>
        <p:txBody>
          <a:bodyPr wrap="square" lIns="0" tIns="0" rIns="0" bIns="0" rtlCol="0" anchor="t"/>
          <a:lstStyle/>
          <a:p>
            <a:pPr indent="0" marL="0">
              <a:buNone/>
            </a:pPr>
            <a:r>
              <a:rPr lang="en-US" sz="3600" b="1" dirty="0">
                <a:solidFill>
                  <a:srgbClr val="0A8F8F"/>
                </a:solidFill>
                <a:latin typeface="Cambria" pitchFamily="34" charset="0"/>
                <a:ea typeface="Cambria" pitchFamily="34" charset="-122"/>
                <a:cs typeface="Cambria" pitchFamily="34" charset="-120"/>
              </a:rPr>
              <a:t>04</a:t>
            </a:r>
            <a:endParaRPr lang="en-US" sz="3600" dirty="0"/>
          </a:p>
        </p:txBody>
      </p:sp>
      <p:sp>
        <p:nvSpPr>
          <p:cNvPr id="14" name="Text 12"/>
          <p:cNvSpPr txBox="1"/>
          <p:nvPr/>
        </p:nvSpPr>
        <p:spPr>
          <a:xfrm>
            <a:off x="7223760" y="3840480"/>
            <a:ext cx="4114800" cy="41148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Done means Done</a:t>
            </a:r>
            <a:endParaRPr lang="en-US" sz="1800" dirty="0"/>
          </a:p>
        </p:txBody>
      </p:sp>
      <p:sp>
        <p:nvSpPr>
          <p:cNvPr id="15" name="Text 13"/>
          <p:cNvSpPr txBox="1"/>
          <p:nvPr/>
        </p:nvSpPr>
        <p:spPr>
          <a:xfrm>
            <a:off x="7223760" y="4297680"/>
            <a:ext cx="4114800" cy="822960"/>
          </a:xfrm>
          <a:prstGeom prst="rect">
            <a:avLst/>
          </a:prstGeom>
          <a:noFill/>
          <a:ln/>
        </p:spPr>
        <p:txBody>
          <a:bodyPr wrap="square" lIns="0" tIns="0" rIns="0" bIns="0" rtlCol="0" anchor="t"/>
          <a:lstStyle/>
          <a:p>
            <a:pPr indent="0" marL="0">
              <a:buNone/>
            </a:pPr>
            <a:r>
              <a:rPr lang="en-US" sz="1300" dirty="0">
                <a:solidFill>
                  <a:srgbClr val="C8D6E3"/>
                </a:solidFill>
                <a:latin typeface="Arial" pitchFamily="34" charset="0"/>
                <a:ea typeface="Arial" pitchFamily="34" charset="-122"/>
                <a:cs typeface="Arial" pitchFamily="34" charset="-120"/>
              </a:rPr>
              <a:t>Only work meeting the Definition of Done forms part of an Increment.</a:t>
            </a:r>
            <a:endParaRPr lang="en-US" sz="1300" dirty="0"/>
          </a:p>
        </p:txBody>
      </p:sp>
      <p:sp>
        <p:nvSpPr>
          <p:cNvPr id="16" name="Text 14"/>
          <p:cNvSpPr txBox="1"/>
          <p:nvPr/>
        </p:nvSpPr>
        <p:spPr>
          <a:xfrm>
            <a:off x="731520" y="5943600"/>
            <a:ext cx="10058400" cy="365760"/>
          </a:xfrm>
          <a:prstGeom prst="rect">
            <a:avLst/>
          </a:prstGeom>
          <a:noFill/>
          <a:ln/>
        </p:spPr>
        <p:txBody>
          <a:bodyPr wrap="square" lIns="0" tIns="0" rIns="0" bIns="0" rtlCol="0" anchor="t"/>
          <a:lstStyle/>
          <a:p>
            <a:pPr indent="0" marL="0">
              <a:buNone/>
            </a:pPr>
            <a:r>
              <a:rPr lang="en-US" sz="1200" dirty="0">
                <a:solidFill>
                  <a:srgbClr val="7FD1D1"/>
                </a:solidFill>
                <a:latin typeface="Arial" pitchFamily="34" charset="0"/>
                <a:ea typeface="Arial" pitchFamily="34" charset="-122"/>
                <a:cs typeface="Arial" pitchFamily="34" charset="-120"/>
              </a:rPr>
              <a:t>Questions? Speak to your Scrum Master  |  Further reading: scrumguides.org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 Fundamentals – Onboarding Programme</dc:title>
  <dc:subject>PptxGenJS Presentation</dc:subject>
  <dc:creator>PptxGenJS</dc:creator>
  <cp:lastModifiedBy>PptxGenJS</cp:lastModifiedBy>
  <cp:revision>1</cp:revision>
  <dcterms:created xsi:type="dcterms:W3CDTF">2026-09-22T20:31:05Z</dcterms:created>
  <dcterms:modified xsi:type="dcterms:W3CDTF">2026-09-22T20:31:05Z</dcterms:modified>
</cp:coreProperties>
</file>