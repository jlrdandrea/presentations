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notesMaster" Target="notesMasters/notesMaster1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Share of active budget by Atlas status, month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Median slip against cost variance; circle size is budget. Dashed lines are the Amber and Red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Cash benefits. Outline: planned. Fill: forecast. Dark bar: realised to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Hollow: baseline. Filled: forecast or actual. Quarter hit rate: 33%.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b="1"/>
              <a:t>Marketing Analytics:</a:t>
            </a:r>
            <a:r>
              <a:rPr/>
              <a:t> Analytics vendor cannot staff until December. Go-live moves by about three months unless additional funding is approved.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Warehouse Management System:</a:t>
            </a:r>
            <a:r>
              <a:rPr/>
              <a:t> Supplier financial difficulty threatens the WMS contract. Fallback options are being costed for the October board.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Data Centre Exit Wave 1:</a:t>
            </a:r>
            <a:r>
              <a:rPr/>
              <a:t> Two critical applications failed the migration rehearsal; a second rehearsal is booked for November.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Atlas Executive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Board pack · Atlascorp · data as of 30 Sep 2026</a:t>
            </a: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Headline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 of 16 active projects are Red, holding 18% of budget. Forecast cost is +3.9% against budget. Overdue decisions: 2.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700"/>
                <a:gridCol w="2527300"/>
                <a:gridCol w="965200"/>
                <a:gridCol w="965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Indicator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Rating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EX-01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Portfolio delivery health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Amber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EX-02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Direction of travel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EX-03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Schedule slippage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Amber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EX-04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Milestone hit rate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EX-05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Cost variance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+3.9%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Green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EX-06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Spend to date versus plan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Green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EX-07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 at risk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£5.5m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EX-08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Benefits confidence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Amber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EX-09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Benefits realised to 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Amber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EX-10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Decisions overdue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Amber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EX-11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Escalated risks and issues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EX-12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quality score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Green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Health and direction of travel</a:t>
            </a:r>
          </a:p>
        </p:txBody>
      </p:sp>
      <p:pic>
        <p:nvPicPr>
          <p:cNvPr descr="board_pack_files/figure-pptx/trend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28700" y="1193800"/>
            <a:ext cx="7073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Schedule and cost by programme</a:t>
            </a:r>
          </a:p>
        </p:txBody>
      </p:sp>
      <p:pic>
        <p:nvPicPr>
          <p:cNvPr descr="board_pack_files/figure-pptx/matrix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28700" y="1193800"/>
            <a:ext cx="7073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Needs your decision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3035300"/>
                <a:gridCol w="1562100"/>
                <a:gridCol w="1181100"/>
                <a:gridCol w="1181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Decision overdue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Confirm Wave 2 scope after hosting contract renewal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Cloud Migration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Ravi Patel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29 days overdue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Decision overdue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Approve additional £600k and revised go-live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 Analytics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Elena Rossi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 days overdue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risk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 warehouse system supplier in financial difficulty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Warehouse Management System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Kiran Shah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exposure £900k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issue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Analytics vendor unable to staff integration team until December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 Analytics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Elena Rossi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exposure £650k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risk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Supplier data-sharing agreement not yet signed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Supplier Portal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Laura Nunes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exposure £300k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risk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Two critical applications failed migration rehearsal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Centre Exit Wave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Nina Petrova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exposure £250k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Benefits by programme</a:t>
            </a:r>
          </a:p>
        </p:txBody>
      </p:sp>
      <p:pic>
        <p:nvPicPr>
          <p:cNvPr descr="board_pack_files/figure-pptx/benefits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28700" y="1193800"/>
            <a:ext cx="7073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milestones</a:t>
            </a:r>
          </a:p>
        </p:txBody>
      </p:sp>
      <p:pic>
        <p:nvPicPr>
          <p:cNvPr descr="board_pack_files/figure-pptx/milestones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76300" y="1193800"/>
            <a:ext cx="7378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Projects needing attention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/>
                <a:gridCol w="1117600"/>
                <a:gridCol w="1117600"/>
                <a:gridCol w="1117600"/>
                <a:gridCol w="1117600"/>
                <a:gridCol w="901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Cost 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Slip (wd)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 Analytics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£3.2m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+15.5%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Warehouse Management System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£450k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+9.8%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Centre Exit Wave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Green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£1.6m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+5.0%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quality findings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6100"/>
                <a:gridCol w="2565400"/>
                <a:gridCol w="1587500"/>
                <a:gridCol w="1130300"/>
                <a:gridCol w="1130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Field or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Affected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Out of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Delivery objects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sponsor_name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Recommended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Active projects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planned_cost_to_date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Recommended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Active projects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source_rag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Recommended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Active projects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executive_summary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Recommended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Executive</dc:title>
  <dc:creator/>
  <cp:keywords/>
  <dcterms:created xsi:type="dcterms:W3CDTF">2026-10-13T05:36:59Z</dcterms:created>
  <dcterms:modified xsi:type="dcterms:W3CDTF">2026-10-13T05:36:59Z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xecute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params">
    <vt:lpwstr/>
  </property>
  <property fmtid="{D5CDD505-2E9C-101B-9397-08002B2CF9AE}" pid="9" name="subtitle">
    <vt:lpwstr>Board pack · Atlascorp · data as of 30 Sep 2026</vt:lpwstr>
  </property>
  <property fmtid="{D5CDD505-2E9C-101B-9397-08002B2CF9AE}" pid="10" name="toc-title">
    <vt:lpwstr>Table of contents</vt:lpwstr>
  </property>
</Properties>
</file>