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3"/>
                </a:solidFill>
                <a:latin typeface="Arial"/>
              </a:defRPr>
            </a:pPr>
            <a:r>
              <a:rPr sz="1200" b="0" i="0" u="none" strike="noStrike">
                <a:solidFill>
                  <a:srgbClr val="0B1F33"/>
                </a:solidFill>
                <a:latin typeface="Arial"/>
              </a:rPr>
              <a:t>Velocity per Sprint (story points completed)</a:t>
            </a:r>
          </a:p>
        </c:rich>
      </c:tx>
      <c:layout/>
      <c:overlay val="0"/>
    </c:title>
    <c:autoTitleDeleted val="0"/>
    <c:plotArea>
      <c:layout/>
      <c:barChart>
        <c:barDir val="col"/>
        <c:grouping val="clustered"/>
        <c:varyColors val="0"/>
        <c:ser>
          <c:idx val="0"/>
          <c:order val="0"/>
          <c:tx>
            <c:strRef>
              <c:f>Sheet1!$B$1</c:f>
              <c:strCache>
                <c:ptCount val="1"/>
                <c:pt idx="0">
                  <c:v>Completed points</c:v>
                </c:pt>
              </c:strCache>
            </c:strRef>
          </c:tx>
          <c:spPr>
            <a:solidFill>
              <a:srgbClr val="12355B"/>
            </a:solidFill>
            <a:effectLst/>
          </c:spPr>
          <c:invertIfNegative val="0"/>
          <c:dLbls>
            <c:numFmt formatCode="#,##0" sourceLinked="0"/>
            <c:txPr>
              <a:bodyPr/>
              <a:lstStyle/>
              <a:p>
                <a:pPr>
                  <a:defRPr b="0" i="0" strike="noStrike" sz="1000" u="none">
                    <a:solidFill>
                      <a:srgbClr val="1F2A36"/>
                    </a:solidFill>
                    <a:latin typeface="Arial"/>
                  </a:defRPr>
                </a:pPr>
              </a:p>
            </c:txPr>
            <c:showLegendKey val="0"/>
            <c:showVal val="1"/>
            <c:showCatName val="0"/>
            <c:showSerName val="0"/>
            <c:showPercent val="0"/>
            <c:showBubbleSize val="0"/>
            <c:showLeaderLines val="0"/>
          </c:dLbls>
          <c:cat>
            <c:multiLvlStrRef>
              <c:f>Sheet1!$A$2:$A$9</c:f>
              <c:multiLvlStrCache>
                <c:ptCount val="8"/>
                <c:lvl>
                  <c:pt idx="0">
                    <c:v>S1</c:v>
                  </c:pt>
                  <c:pt idx="1">
                    <c:v>S2</c:v>
                  </c:pt>
                  <c:pt idx="2">
                    <c:v>S3</c:v>
                  </c:pt>
                  <c:pt idx="3">
                    <c:v>S4</c:v>
                  </c:pt>
                  <c:pt idx="4">
                    <c:v>S5</c:v>
                  </c:pt>
                  <c:pt idx="5">
                    <c:v>S6</c:v>
                  </c:pt>
                  <c:pt idx="6">
                    <c:v>S7</c:v>
                  </c:pt>
                  <c:pt idx="7">
                    <c:v>S8</c:v>
                  </c:pt>
                </c:lvl>
              </c:multiLvlStrCache>
            </c:multiLvlStrRef>
          </c:cat>
          <c:val>
            <c:numRef>
              <c:f>Sheet1!$B$2:$B$9</c:f>
              <c:numCache>
                <c:formatCode>General</c:formatCode>
                <c:ptCount val="8"/>
                <c:pt idx="0">
                  <c:v>21</c:v>
                </c:pt>
                <c:pt idx="1">
                  <c:v>26</c:v>
                </c:pt>
                <c:pt idx="2">
                  <c:v>24</c:v>
                </c:pt>
                <c:pt idx="3">
                  <c:v>30</c:v>
                </c:pt>
                <c:pt idx="4">
                  <c:v>27</c:v>
                </c:pt>
                <c:pt idx="5">
                  <c:v>29</c:v>
                </c:pt>
                <c:pt idx="6">
                  <c:v>31</c:v>
                </c:pt>
                <c:pt idx="7">
                  <c:v>28</c:v>
                </c:pt>
              </c:numCache>
            </c:numRef>
          </c:val>
        </c:ser>
        <c:dLbls>
          <c:numFmt formatCode="#,##0" sourceLinked="0"/>
          <c:txPr>
            <a:bodyPr/>
            <a:lstStyle/>
            <a:p>
              <a:pPr>
                <a:defRPr b="0" i="0" strike="noStrike" sz="1000" u="none">
                  <a:solidFill>
                    <a:srgbClr val="1F2A36"/>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E7E"/>
                </a:solidFill>
                <a:latin typeface="Arial"/>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E7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agree one shared, efficient way of estimating so that refinement sessions are short and forecasts are credible. Duration: about 60 minutes including a live Planning Poker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by the end, the team will have agreed reference stories and a working agreement for 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has worked on a project where hour estimates were badly wrong? Relative estimation does not make uncertainty disappear; it makes it cheaper to express.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uncertainty: a small but poorly understood item can deserve more points than a larger, well-understood one. That is a signal to investigate,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scale matters less than the whole team using the same one. If a vote lands between two values, choose one; there is no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replace these illustrative examples with three real stories from our last Sprints. Write them on the whiteboard and keep them visible for the rest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 live round now with one real backlog item. Cards, or a free online Planning Poker tool, both work. Watch the clock: the aim is under 5 minutes per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techniques is where the real time saving comes from: most items are uncontroversial and do not need a full Poker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 these as the basis for the team's working agreement on estimation. Ask the team which rule they would change,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Forecast maths: 120 / 31 is about 3.9 Sprints and 120 / 28 is about 4.3, so "4 to 5 Sprints" once we allow for rounding up. Using velocity as a performance target leads directly to point inflation.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team which of these they have seen. The first two are the most common, and usually come from outside the team, so the Scrum Master should address them with stakeholders.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Agree an owner and date for step 1 before closing the session. The Scrum Master tracks the working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Q&amp;A and confirm the owner of the reference-story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731520" y="1097280"/>
            <a:ext cx="7315200" cy="365760"/>
          </a:xfrm>
          <a:prstGeom prst="rect">
            <a:avLst/>
          </a:prstGeom>
          <a:noFill/>
          <a:ln/>
        </p:spPr>
        <p:txBody>
          <a:bodyPr wrap="square" lIns="0" tIns="0" rIns="0" bIns="0" rtlCol="0" anchor="t"/>
          <a:lstStyle/>
          <a:p>
            <a:pPr indent="0" marL="0">
              <a:buNone/>
            </a:pPr>
            <a:r>
              <a:rPr lang="en-US" sz="1200" b="1" spc="300" kern="0" dirty="0">
                <a:solidFill>
                  <a:srgbClr val="7FD1D1"/>
                </a:solidFill>
                <a:latin typeface="Arial" pitchFamily="34" charset="0"/>
                <a:ea typeface="Arial" pitchFamily="34" charset="-122"/>
                <a:cs typeface="Arial" pitchFamily="34" charset="-120"/>
              </a:rPr>
              <a:t>TEAM TRAINING  |  ESTIMATION</a:t>
            </a:r>
            <a:endParaRPr lang="en-US" sz="1200" dirty="0"/>
          </a:p>
        </p:txBody>
      </p:sp>
      <p:sp>
        <p:nvSpPr>
          <p:cNvPr id="3" name="Text 1"/>
          <p:cNvSpPr txBox="1"/>
          <p:nvPr/>
        </p:nvSpPr>
        <p:spPr>
          <a:xfrm>
            <a:off x="731520" y="1737360"/>
            <a:ext cx="9144000" cy="10972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Estimating with Story Points</a:t>
            </a:r>
            <a:endParaRPr lang="en-US" sz="4400" dirty="0"/>
          </a:p>
        </p:txBody>
      </p:sp>
      <p:sp>
        <p:nvSpPr>
          <p:cNvPr id="4" name="Text 2"/>
          <p:cNvSpPr txBox="1"/>
          <p:nvPr/>
        </p:nvSpPr>
        <p:spPr>
          <a:xfrm>
            <a:off x="731520" y="2880360"/>
            <a:ext cx="8046720" cy="822960"/>
          </a:xfrm>
          <a:prstGeom prst="rect">
            <a:avLst/>
          </a:prstGeom>
          <a:noFill/>
          <a:ln/>
        </p:spPr>
        <p:txBody>
          <a:bodyPr wrap="square" lIns="0" tIns="0" rIns="0" bIns="0" rtlCol="0" anchor="t"/>
          <a:lstStyle/>
          <a:p>
            <a:pPr indent="0" marL="0">
              <a:buNone/>
            </a:pPr>
            <a:r>
              <a:rPr lang="en-US" sz="2000" dirty="0">
                <a:solidFill>
                  <a:srgbClr val="C8D6E3"/>
                </a:solidFill>
                <a:latin typeface="Arial" pitchFamily="34" charset="0"/>
                <a:ea typeface="Arial" pitchFamily="34" charset="-122"/>
                <a:cs typeface="Arial" pitchFamily="34" charset="-120"/>
              </a:rPr>
              <a:t>How our Scrum Team sizes work quickly, consistently and without endless debate</a:t>
            </a:r>
            <a:endParaRPr lang="en-US" sz="2000" dirty="0"/>
          </a:p>
        </p:txBody>
      </p:sp>
      <p:sp>
        <p:nvSpPr>
          <p:cNvPr id="5" name="Shape 3"/>
          <p:cNvSpPr/>
          <p:nvPr/>
        </p:nvSpPr>
        <p:spPr>
          <a:xfrm>
            <a:off x="9052560" y="3291840"/>
            <a:ext cx="4206240" cy="4206240"/>
          </a:xfrm>
          <a:prstGeom prst="ellipse">
            <a:avLst/>
          </a:prstGeom>
          <a:solidFill>
            <a:srgbClr val="12355B"/>
          </a:solidFill>
          <a:ln w="12700">
            <a:solidFill>
              <a:srgbClr val="12355B"/>
            </a:solidFill>
            <a:prstDash val="solid"/>
          </a:ln>
        </p:spPr>
      </p:sp>
      <p:sp>
        <p:nvSpPr>
          <p:cNvPr id="6" name="Shape 4"/>
          <p:cNvSpPr/>
          <p:nvPr/>
        </p:nvSpPr>
        <p:spPr>
          <a:xfrm>
            <a:off x="10149840" y="2194560"/>
            <a:ext cx="2377440" cy="2377440"/>
          </a:xfrm>
          <a:prstGeom prst="ellipse">
            <a:avLst/>
          </a:prstGeom>
          <a:solidFill>
            <a:srgbClr val="0A8F8F">
              <a:alpha val="70000"/>
            </a:srgbClr>
          </a:solidFill>
          <a:ln w="12700">
            <a:solidFill>
              <a:srgbClr val="0A8F8F">
                <a:alpha val="70000"/>
              </a:srgbClr>
            </a:solidFill>
            <a:prstDash val="solid"/>
          </a:ln>
        </p:spPr>
      </p:sp>
      <p:sp>
        <p:nvSpPr>
          <p:cNvPr id="7" name="Text 5"/>
          <p:cNvSpPr txBox="1"/>
          <p:nvPr/>
        </p:nvSpPr>
        <p:spPr>
          <a:xfrm>
            <a:off x="731520" y="5120640"/>
            <a:ext cx="6400800" cy="731520"/>
          </a:xfrm>
          <a:prstGeom prst="rect">
            <a:avLst/>
          </a:prstGeom>
          <a:noFill/>
          <a:ln/>
        </p:spPr>
        <p:txBody>
          <a:bodyPr wrap="square" lIns="0" tIns="0" rIns="0" bIns="0" rtlCol="0" anchor="t"/>
          <a:lstStyle/>
          <a:p>
            <a:pPr indent="0" marL="0">
              <a:buNone/>
            </a:pPr>
            <a:r>
              <a:rPr lang="en-US" sz="1300" dirty="0">
                <a:solidFill>
                  <a:srgbClr val="C8D6E3"/>
                </a:solidFill>
                <a:latin typeface="Arial" pitchFamily="34" charset="0"/>
                <a:ea typeface="Arial" pitchFamily="34" charset="-122"/>
                <a:cs typeface="Arial" pitchFamily="34" charset="-120"/>
              </a:rPr>
              <a:t>Training pack for Scrum Team members</a:t>
            </a:r>
            <a:endParaRPr lang="en-US" sz="1300" dirty="0"/>
          </a:p>
          <a:p>
            <a:pPr indent="0" marL="0">
              <a:buNone/>
            </a:pPr>
            <a:r>
              <a:rPr lang="en-US" sz="1300" dirty="0">
                <a:solidFill>
                  <a:srgbClr val="C8D6E3"/>
                </a:solidFill>
                <a:latin typeface="Arial" pitchFamily="34" charset="0"/>
                <a:ea typeface="Arial" pitchFamily="34" charset="-122"/>
                <a:cs typeface="Arial" pitchFamily="34" charset="-120"/>
              </a:rPr>
              <a:t>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AGENDA</a:t>
            </a:r>
            <a:endParaRPr lang="en-US" sz="1000" dirty="0"/>
          </a:p>
        </p:txBody>
      </p:sp>
      <p:sp>
        <p:nvSpPr>
          <p:cNvPr id="3" name="Text 1"/>
          <p:cNvSpPr txBox="1"/>
          <p:nvPr/>
        </p:nvSpPr>
        <p:spPr>
          <a:xfrm>
            <a:off x="7040880" y="320040"/>
            <a:ext cx="45994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Estimating with Story Points  |  Team Training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This session gives the team a shared, repeatable way to estimate that takes minutes, not hours</a:t>
            </a:r>
            <a:endParaRPr lang="en-US" sz="2400" dirty="0"/>
          </a:p>
        </p:txBody>
      </p:sp>
      <p:sp>
        <p:nvSpPr>
          <p:cNvPr id="5" name="Text 3"/>
          <p:cNvSpPr txBox="1"/>
          <p:nvPr/>
        </p:nvSpPr>
        <p:spPr>
          <a:xfrm>
            <a:off x="548640" y="6355080"/>
            <a:ext cx="1024128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Team analysis. Story points are a complementary practice; the Scrum Guide (2020) does not prescribe an estimation technique</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2</a:t>
            </a:r>
            <a:endParaRPr lang="en-US" sz="900" dirty="0"/>
          </a:p>
        </p:txBody>
      </p:sp>
      <p:sp>
        <p:nvSpPr>
          <p:cNvPr id="7" name="Text 5"/>
          <p:cNvSpPr txBox="1"/>
          <p:nvPr/>
        </p:nvSpPr>
        <p:spPr>
          <a:xfrm>
            <a:off x="548640" y="1783080"/>
            <a:ext cx="731520" cy="457200"/>
          </a:xfrm>
          <a:prstGeom prst="rect">
            <a:avLst/>
          </a:prstGeom>
          <a:noFill/>
          <a:ln/>
        </p:spPr>
        <p:txBody>
          <a:bodyPr wrap="square" lIns="0" tIns="0" rIns="0" bIns="0" rtlCol="0" anchor="ctr"/>
          <a:lstStyle/>
          <a:p>
            <a:pPr indent="0" marL="0">
              <a:buNone/>
            </a:pPr>
            <a:r>
              <a:rPr lang="en-US" sz="2200" b="1" dirty="0">
                <a:solidFill>
                  <a:srgbClr val="0A8F8F"/>
                </a:solidFill>
                <a:latin typeface="Cambria" pitchFamily="34" charset="0"/>
                <a:ea typeface="Cambria" pitchFamily="34" charset="-122"/>
                <a:cs typeface="Cambria" pitchFamily="34" charset="-120"/>
              </a:rPr>
              <a:t>01</a:t>
            </a:r>
            <a:endParaRPr lang="en-US" sz="2200" dirty="0"/>
          </a:p>
        </p:txBody>
      </p:sp>
      <p:sp>
        <p:nvSpPr>
          <p:cNvPr id="8" name="Text 6"/>
          <p:cNvSpPr txBox="1"/>
          <p:nvPr/>
        </p:nvSpPr>
        <p:spPr>
          <a:xfrm>
            <a:off x="1371600" y="1783080"/>
            <a:ext cx="4023360" cy="457200"/>
          </a:xfrm>
          <a:prstGeom prst="rect">
            <a:avLst/>
          </a:prstGeom>
          <a:noFill/>
          <a:ln/>
        </p:spPr>
        <p:txBody>
          <a:bodyPr wrap="square" lIns="0" tIns="0" rIns="0" bIns="0" rtlCol="0" anchor="ctr"/>
          <a:lstStyle/>
          <a:p>
            <a:pPr indent="0" marL="0">
              <a:buNone/>
            </a:pPr>
            <a:r>
              <a:rPr lang="en-US" sz="1600" b="1" dirty="0">
                <a:solidFill>
                  <a:srgbClr val="0B1F33"/>
                </a:solidFill>
                <a:latin typeface="Arial" pitchFamily="34" charset="0"/>
                <a:ea typeface="Arial" pitchFamily="34" charset="-122"/>
                <a:cs typeface="Arial" pitchFamily="34" charset="-120"/>
              </a:rPr>
              <a:t>Why relative estimation</a:t>
            </a:r>
            <a:endParaRPr lang="en-US" sz="1600" dirty="0"/>
          </a:p>
        </p:txBody>
      </p:sp>
      <p:sp>
        <p:nvSpPr>
          <p:cNvPr id="9" name="Text 7"/>
          <p:cNvSpPr txBox="1"/>
          <p:nvPr/>
        </p:nvSpPr>
        <p:spPr>
          <a:xfrm>
            <a:off x="5486400" y="1783080"/>
            <a:ext cx="6126480" cy="457200"/>
          </a:xfrm>
          <a:prstGeom prst="rect">
            <a:avLst/>
          </a:prstGeom>
          <a:noFill/>
          <a:ln/>
        </p:spPr>
        <p:txBody>
          <a:bodyPr wrap="square" lIns="0" tIns="0" rIns="0" bIns="0" rtlCol="0" anchor="ctr"/>
          <a:lstStyle/>
          <a:p>
            <a:pPr indent="0" marL="0">
              <a:buNone/>
            </a:pPr>
            <a:r>
              <a:rPr lang="en-US" sz="1400" dirty="0">
                <a:solidFill>
                  <a:srgbClr val="5E6E7E"/>
                </a:solidFill>
                <a:latin typeface="Arial" pitchFamily="34" charset="0"/>
                <a:ea typeface="Arial" pitchFamily="34" charset="-122"/>
                <a:cs typeface="Arial" pitchFamily="34" charset="-120"/>
              </a:rPr>
              <a:t>Why comparing beats predicting hours</a:t>
            </a:r>
            <a:endParaRPr lang="en-US" sz="1400" dirty="0"/>
          </a:p>
        </p:txBody>
      </p:sp>
      <p:sp>
        <p:nvSpPr>
          <p:cNvPr id="10" name="Shape 8"/>
          <p:cNvSpPr/>
          <p:nvPr/>
        </p:nvSpPr>
        <p:spPr>
          <a:xfrm>
            <a:off x="548640" y="2313432"/>
            <a:ext cx="11064240" cy="0"/>
          </a:xfrm>
          <a:prstGeom prst="line">
            <a:avLst/>
          </a:prstGeom>
          <a:noFill/>
          <a:ln w="9525">
            <a:solidFill>
              <a:srgbClr val="C9D3DC"/>
            </a:solidFill>
            <a:prstDash val="solid"/>
          </a:ln>
        </p:spPr>
      </p:sp>
      <p:sp>
        <p:nvSpPr>
          <p:cNvPr id="11" name="Text 9"/>
          <p:cNvSpPr txBox="1"/>
          <p:nvPr/>
        </p:nvSpPr>
        <p:spPr>
          <a:xfrm>
            <a:off x="548640" y="2386584"/>
            <a:ext cx="731520" cy="457200"/>
          </a:xfrm>
          <a:prstGeom prst="rect">
            <a:avLst/>
          </a:prstGeom>
          <a:noFill/>
          <a:ln/>
        </p:spPr>
        <p:txBody>
          <a:bodyPr wrap="square" lIns="0" tIns="0" rIns="0" bIns="0" rtlCol="0" anchor="ctr"/>
          <a:lstStyle/>
          <a:p>
            <a:pPr indent="0" marL="0">
              <a:buNone/>
            </a:pPr>
            <a:r>
              <a:rPr lang="en-US" sz="2200" b="1" dirty="0">
                <a:solidFill>
                  <a:srgbClr val="0A8F8F"/>
                </a:solidFill>
                <a:latin typeface="Cambria" pitchFamily="34" charset="0"/>
                <a:ea typeface="Cambria" pitchFamily="34" charset="-122"/>
                <a:cs typeface="Cambria" pitchFamily="34" charset="-120"/>
              </a:rPr>
              <a:t>02</a:t>
            </a:r>
            <a:endParaRPr lang="en-US" sz="2200" dirty="0"/>
          </a:p>
        </p:txBody>
      </p:sp>
      <p:sp>
        <p:nvSpPr>
          <p:cNvPr id="12" name="Text 10"/>
          <p:cNvSpPr txBox="1"/>
          <p:nvPr/>
        </p:nvSpPr>
        <p:spPr>
          <a:xfrm>
            <a:off x="1371600" y="2386584"/>
            <a:ext cx="4023360" cy="457200"/>
          </a:xfrm>
          <a:prstGeom prst="rect">
            <a:avLst/>
          </a:prstGeom>
          <a:noFill/>
          <a:ln/>
        </p:spPr>
        <p:txBody>
          <a:bodyPr wrap="square" lIns="0" tIns="0" rIns="0" bIns="0" rtlCol="0" anchor="ctr"/>
          <a:lstStyle/>
          <a:p>
            <a:pPr indent="0" marL="0">
              <a:buNone/>
            </a:pPr>
            <a:r>
              <a:rPr lang="en-US" sz="1600" b="1" dirty="0">
                <a:solidFill>
                  <a:srgbClr val="0B1F33"/>
                </a:solidFill>
                <a:latin typeface="Arial" pitchFamily="34" charset="0"/>
                <a:ea typeface="Arial" pitchFamily="34" charset="-122"/>
                <a:cs typeface="Arial" pitchFamily="34" charset="-120"/>
              </a:rPr>
              <a:t>What a story point measures</a:t>
            </a:r>
            <a:endParaRPr lang="en-US" sz="1600" dirty="0"/>
          </a:p>
        </p:txBody>
      </p:sp>
      <p:sp>
        <p:nvSpPr>
          <p:cNvPr id="13" name="Text 11"/>
          <p:cNvSpPr txBox="1"/>
          <p:nvPr/>
        </p:nvSpPr>
        <p:spPr>
          <a:xfrm>
            <a:off x="5486400" y="2386584"/>
            <a:ext cx="6126480" cy="457200"/>
          </a:xfrm>
          <a:prstGeom prst="rect">
            <a:avLst/>
          </a:prstGeom>
          <a:noFill/>
          <a:ln/>
        </p:spPr>
        <p:txBody>
          <a:bodyPr wrap="square" lIns="0" tIns="0" rIns="0" bIns="0" rtlCol="0" anchor="ctr"/>
          <a:lstStyle/>
          <a:p>
            <a:pPr indent="0" marL="0">
              <a:buNone/>
            </a:pPr>
            <a:r>
              <a:rPr lang="en-US" sz="1400" dirty="0">
                <a:solidFill>
                  <a:srgbClr val="5E6E7E"/>
                </a:solidFill>
                <a:latin typeface="Arial" pitchFamily="34" charset="0"/>
                <a:ea typeface="Arial" pitchFamily="34" charset="-122"/>
                <a:cs typeface="Arial" pitchFamily="34" charset="-120"/>
              </a:rPr>
              <a:t>Effort, complexity and uncertainty</a:t>
            </a:r>
            <a:endParaRPr lang="en-US" sz="1400" dirty="0"/>
          </a:p>
        </p:txBody>
      </p:sp>
      <p:sp>
        <p:nvSpPr>
          <p:cNvPr id="14" name="Shape 12"/>
          <p:cNvSpPr/>
          <p:nvPr/>
        </p:nvSpPr>
        <p:spPr>
          <a:xfrm>
            <a:off x="548640" y="2916936"/>
            <a:ext cx="11064240" cy="0"/>
          </a:xfrm>
          <a:prstGeom prst="line">
            <a:avLst/>
          </a:prstGeom>
          <a:noFill/>
          <a:ln w="9525">
            <a:solidFill>
              <a:srgbClr val="C9D3DC"/>
            </a:solidFill>
            <a:prstDash val="solid"/>
          </a:ln>
        </p:spPr>
      </p:sp>
      <p:sp>
        <p:nvSpPr>
          <p:cNvPr id="15" name="Text 13"/>
          <p:cNvSpPr txBox="1"/>
          <p:nvPr/>
        </p:nvSpPr>
        <p:spPr>
          <a:xfrm>
            <a:off x="548640" y="2990088"/>
            <a:ext cx="731520" cy="457200"/>
          </a:xfrm>
          <a:prstGeom prst="rect">
            <a:avLst/>
          </a:prstGeom>
          <a:noFill/>
          <a:ln/>
        </p:spPr>
        <p:txBody>
          <a:bodyPr wrap="square" lIns="0" tIns="0" rIns="0" bIns="0" rtlCol="0" anchor="ctr"/>
          <a:lstStyle/>
          <a:p>
            <a:pPr indent="0" marL="0">
              <a:buNone/>
            </a:pPr>
            <a:r>
              <a:rPr lang="en-US" sz="2200" b="1" dirty="0">
                <a:solidFill>
                  <a:srgbClr val="0A8F8F"/>
                </a:solidFill>
                <a:latin typeface="Cambria" pitchFamily="34" charset="0"/>
                <a:ea typeface="Cambria" pitchFamily="34" charset="-122"/>
                <a:cs typeface="Cambria" pitchFamily="34" charset="-120"/>
              </a:rPr>
              <a:t>03</a:t>
            </a:r>
            <a:endParaRPr lang="en-US" sz="2200" dirty="0"/>
          </a:p>
        </p:txBody>
      </p:sp>
      <p:sp>
        <p:nvSpPr>
          <p:cNvPr id="16" name="Text 14"/>
          <p:cNvSpPr txBox="1"/>
          <p:nvPr/>
        </p:nvSpPr>
        <p:spPr>
          <a:xfrm>
            <a:off x="1371600" y="2990088"/>
            <a:ext cx="4023360" cy="457200"/>
          </a:xfrm>
          <a:prstGeom prst="rect">
            <a:avLst/>
          </a:prstGeom>
          <a:noFill/>
          <a:ln/>
        </p:spPr>
        <p:txBody>
          <a:bodyPr wrap="square" lIns="0" tIns="0" rIns="0" bIns="0" rtlCol="0" anchor="ctr"/>
          <a:lstStyle/>
          <a:p>
            <a:pPr indent="0" marL="0">
              <a:buNone/>
            </a:pPr>
            <a:r>
              <a:rPr lang="en-US" sz="1600" b="1" dirty="0">
                <a:solidFill>
                  <a:srgbClr val="0B1F33"/>
                </a:solidFill>
                <a:latin typeface="Arial" pitchFamily="34" charset="0"/>
                <a:ea typeface="Arial" pitchFamily="34" charset="-122"/>
                <a:cs typeface="Arial" pitchFamily="34" charset="-120"/>
              </a:rPr>
              <a:t>The scale and reference stories</a:t>
            </a:r>
            <a:endParaRPr lang="en-US" sz="1600" dirty="0"/>
          </a:p>
        </p:txBody>
      </p:sp>
      <p:sp>
        <p:nvSpPr>
          <p:cNvPr id="17" name="Text 15"/>
          <p:cNvSpPr txBox="1"/>
          <p:nvPr/>
        </p:nvSpPr>
        <p:spPr>
          <a:xfrm>
            <a:off x="5486400" y="2990088"/>
            <a:ext cx="6126480" cy="457200"/>
          </a:xfrm>
          <a:prstGeom prst="rect">
            <a:avLst/>
          </a:prstGeom>
          <a:noFill/>
          <a:ln/>
        </p:spPr>
        <p:txBody>
          <a:bodyPr wrap="square" lIns="0" tIns="0" rIns="0" bIns="0" rtlCol="0" anchor="ctr"/>
          <a:lstStyle/>
          <a:p>
            <a:pPr indent="0" marL="0">
              <a:buNone/>
            </a:pPr>
            <a:r>
              <a:rPr lang="en-US" sz="1400" dirty="0">
                <a:solidFill>
                  <a:srgbClr val="5E6E7E"/>
                </a:solidFill>
                <a:latin typeface="Arial" pitchFamily="34" charset="0"/>
                <a:ea typeface="Arial" pitchFamily="34" charset="-122"/>
                <a:cs typeface="Arial" pitchFamily="34" charset="-120"/>
              </a:rPr>
              <a:t>A common language for size</a:t>
            </a:r>
            <a:endParaRPr lang="en-US" sz="1400" dirty="0"/>
          </a:p>
        </p:txBody>
      </p:sp>
      <p:sp>
        <p:nvSpPr>
          <p:cNvPr id="18" name="Shape 16"/>
          <p:cNvSpPr/>
          <p:nvPr/>
        </p:nvSpPr>
        <p:spPr>
          <a:xfrm>
            <a:off x="548640" y="3520440"/>
            <a:ext cx="11064240" cy="0"/>
          </a:xfrm>
          <a:prstGeom prst="line">
            <a:avLst/>
          </a:prstGeom>
          <a:noFill/>
          <a:ln w="9525">
            <a:solidFill>
              <a:srgbClr val="C9D3DC"/>
            </a:solidFill>
            <a:prstDash val="solid"/>
          </a:ln>
        </p:spPr>
      </p:sp>
      <p:sp>
        <p:nvSpPr>
          <p:cNvPr id="19" name="Text 17"/>
          <p:cNvSpPr txBox="1"/>
          <p:nvPr/>
        </p:nvSpPr>
        <p:spPr>
          <a:xfrm>
            <a:off x="548640" y="3593592"/>
            <a:ext cx="731520" cy="457200"/>
          </a:xfrm>
          <a:prstGeom prst="rect">
            <a:avLst/>
          </a:prstGeom>
          <a:noFill/>
          <a:ln/>
        </p:spPr>
        <p:txBody>
          <a:bodyPr wrap="square" lIns="0" tIns="0" rIns="0" bIns="0" rtlCol="0" anchor="ctr"/>
          <a:lstStyle/>
          <a:p>
            <a:pPr indent="0" marL="0">
              <a:buNone/>
            </a:pPr>
            <a:r>
              <a:rPr lang="en-US" sz="2200" b="1" dirty="0">
                <a:solidFill>
                  <a:srgbClr val="0A8F8F"/>
                </a:solidFill>
                <a:latin typeface="Cambria" pitchFamily="34" charset="0"/>
                <a:ea typeface="Cambria" pitchFamily="34" charset="-122"/>
                <a:cs typeface="Cambria" pitchFamily="34" charset="-120"/>
              </a:rPr>
              <a:t>04</a:t>
            </a:r>
            <a:endParaRPr lang="en-US" sz="2200" dirty="0"/>
          </a:p>
        </p:txBody>
      </p:sp>
      <p:sp>
        <p:nvSpPr>
          <p:cNvPr id="20" name="Text 18"/>
          <p:cNvSpPr txBox="1"/>
          <p:nvPr/>
        </p:nvSpPr>
        <p:spPr>
          <a:xfrm>
            <a:off x="1371600" y="3593592"/>
            <a:ext cx="4023360" cy="457200"/>
          </a:xfrm>
          <a:prstGeom prst="rect">
            <a:avLst/>
          </a:prstGeom>
          <a:noFill/>
          <a:ln/>
        </p:spPr>
        <p:txBody>
          <a:bodyPr wrap="square" lIns="0" tIns="0" rIns="0" bIns="0" rtlCol="0" anchor="ctr"/>
          <a:lstStyle/>
          <a:p>
            <a:pPr indent="0" marL="0">
              <a:buNone/>
            </a:pPr>
            <a:r>
              <a:rPr lang="en-US" sz="1600" b="1" dirty="0">
                <a:solidFill>
                  <a:srgbClr val="0B1F33"/>
                </a:solidFill>
                <a:latin typeface="Arial" pitchFamily="34" charset="0"/>
                <a:ea typeface="Arial" pitchFamily="34" charset="-122"/>
                <a:cs typeface="Arial" pitchFamily="34" charset="-120"/>
              </a:rPr>
              <a:t>Planning Poker, step by step</a:t>
            </a:r>
            <a:endParaRPr lang="en-US" sz="1600" dirty="0"/>
          </a:p>
        </p:txBody>
      </p:sp>
      <p:sp>
        <p:nvSpPr>
          <p:cNvPr id="21" name="Text 19"/>
          <p:cNvSpPr txBox="1"/>
          <p:nvPr/>
        </p:nvSpPr>
        <p:spPr>
          <a:xfrm>
            <a:off x="5486400" y="3593592"/>
            <a:ext cx="6126480" cy="457200"/>
          </a:xfrm>
          <a:prstGeom prst="rect">
            <a:avLst/>
          </a:prstGeom>
          <a:noFill/>
          <a:ln/>
        </p:spPr>
        <p:txBody>
          <a:bodyPr wrap="square" lIns="0" tIns="0" rIns="0" bIns="0" rtlCol="0" anchor="ctr"/>
          <a:lstStyle/>
          <a:p>
            <a:pPr indent="0" marL="0">
              <a:buNone/>
            </a:pPr>
            <a:r>
              <a:rPr lang="en-US" sz="1400" dirty="0">
                <a:solidFill>
                  <a:srgbClr val="5E6E7E"/>
                </a:solidFill>
                <a:latin typeface="Arial" pitchFamily="34" charset="0"/>
                <a:ea typeface="Arial" pitchFamily="34" charset="-122"/>
                <a:cs typeface="Arial" pitchFamily="34" charset="-120"/>
              </a:rPr>
              <a:t>Our default technique</a:t>
            </a:r>
            <a:endParaRPr lang="en-US" sz="1400" dirty="0"/>
          </a:p>
        </p:txBody>
      </p:sp>
      <p:sp>
        <p:nvSpPr>
          <p:cNvPr id="22" name="Shape 20"/>
          <p:cNvSpPr/>
          <p:nvPr/>
        </p:nvSpPr>
        <p:spPr>
          <a:xfrm>
            <a:off x="548640" y="4123944"/>
            <a:ext cx="11064240" cy="0"/>
          </a:xfrm>
          <a:prstGeom prst="line">
            <a:avLst/>
          </a:prstGeom>
          <a:noFill/>
          <a:ln w="9525">
            <a:solidFill>
              <a:srgbClr val="C9D3DC"/>
            </a:solidFill>
            <a:prstDash val="solid"/>
          </a:ln>
        </p:spPr>
      </p:sp>
      <p:sp>
        <p:nvSpPr>
          <p:cNvPr id="23" name="Text 21"/>
          <p:cNvSpPr txBox="1"/>
          <p:nvPr/>
        </p:nvSpPr>
        <p:spPr>
          <a:xfrm>
            <a:off x="548640" y="4197096"/>
            <a:ext cx="731520" cy="457200"/>
          </a:xfrm>
          <a:prstGeom prst="rect">
            <a:avLst/>
          </a:prstGeom>
          <a:noFill/>
          <a:ln/>
        </p:spPr>
        <p:txBody>
          <a:bodyPr wrap="square" lIns="0" tIns="0" rIns="0" bIns="0" rtlCol="0" anchor="ctr"/>
          <a:lstStyle/>
          <a:p>
            <a:pPr indent="0" marL="0">
              <a:buNone/>
            </a:pPr>
            <a:r>
              <a:rPr lang="en-US" sz="2200" b="1" dirty="0">
                <a:solidFill>
                  <a:srgbClr val="0A8F8F"/>
                </a:solidFill>
                <a:latin typeface="Cambria" pitchFamily="34" charset="0"/>
                <a:ea typeface="Cambria" pitchFamily="34" charset="-122"/>
                <a:cs typeface="Cambria" pitchFamily="34" charset="-120"/>
              </a:rPr>
              <a:t>05</a:t>
            </a:r>
            <a:endParaRPr lang="en-US" sz="2200" dirty="0"/>
          </a:p>
        </p:txBody>
      </p:sp>
      <p:sp>
        <p:nvSpPr>
          <p:cNvPr id="24" name="Text 22"/>
          <p:cNvSpPr txBox="1"/>
          <p:nvPr/>
        </p:nvSpPr>
        <p:spPr>
          <a:xfrm>
            <a:off x="1371600" y="4197096"/>
            <a:ext cx="4023360" cy="457200"/>
          </a:xfrm>
          <a:prstGeom prst="rect">
            <a:avLst/>
          </a:prstGeom>
          <a:noFill/>
          <a:ln/>
        </p:spPr>
        <p:txBody>
          <a:bodyPr wrap="square" lIns="0" tIns="0" rIns="0" bIns="0" rtlCol="0" anchor="ctr"/>
          <a:lstStyle/>
          <a:p>
            <a:pPr indent="0" marL="0">
              <a:buNone/>
            </a:pPr>
            <a:r>
              <a:rPr lang="en-US" sz="1600" b="1" dirty="0">
                <a:solidFill>
                  <a:srgbClr val="0B1F33"/>
                </a:solidFill>
                <a:latin typeface="Arial" pitchFamily="34" charset="0"/>
                <a:ea typeface="Arial" pitchFamily="34" charset="-122"/>
                <a:cs typeface="Arial" pitchFamily="34" charset="-120"/>
              </a:rPr>
              <a:t>Estimating at speed</a:t>
            </a:r>
            <a:endParaRPr lang="en-US" sz="1600" dirty="0"/>
          </a:p>
        </p:txBody>
      </p:sp>
      <p:sp>
        <p:nvSpPr>
          <p:cNvPr id="25" name="Text 23"/>
          <p:cNvSpPr txBox="1"/>
          <p:nvPr/>
        </p:nvSpPr>
        <p:spPr>
          <a:xfrm>
            <a:off x="5486400" y="4197096"/>
            <a:ext cx="6126480" cy="457200"/>
          </a:xfrm>
          <a:prstGeom prst="rect">
            <a:avLst/>
          </a:prstGeom>
          <a:noFill/>
          <a:ln/>
        </p:spPr>
        <p:txBody>
          <a:bodyPr wrap="square" lIns="0" tIns="0" rIns="0" bIns="0" rtlCol="0" anchor="ctr"/>
          <a:lstStyle/>
          <a:p>
            <a:pPr indent="0" marL="0">
              <a:buNone/>
            </a:pPr>
            <a:r>
              <a:rPr lang="en-US" sz="1400" dirty="0">
                <a:solidFill>
                  <a:srgbClr val="5E6E7E"/>
                </a:solidFill>
                <a:latin typeface="Arial" pitchFamily="34" charset="0"/>
                <a:ea typeface="Arial" pitchFamily="34" charset="-122"/>
                <a:cs typeface="Arial" pitchFamily="34" charset="-120"/>
              </a:rPr>
              <a:t>Techniques and rules for efficiency</a:t>
            </a:r>
            <a:endParaRPr lang="en-US" sz="1400" dirty="0"/>
          </a:p>
        </p:txBody>
      </p:sp>
      <p:sp>
        <p:nvSpPr>
          <p:cNvPr id="26" name="Shape 24"/>
          <p:cNvSpPr/>
          <p:nvPr/>
        </p:nvSpPr>
        <p:spPr>
          <a:xfrm>
            <a:off x="548640" y="4727448"/>
            <a:ext cx="11064240" cy="0"/>
          </a:xfrm>
          <a:prstGeom prst="line">
            <a:avLst/>
          </a:prstGeom>
          <a:noFill/>
          <a:ln w="9525">
            <a:solidFill>
              <a:srgbClr val="C9D3DC"/>
            </a:solidFill>
            <a:prstDash val="solid"/>
          </a:ln>
        </p:spPr>
      </p:sp>
      <p:sp>
        <p:nvSpPr>
          <p:cNvPr id="27" name="Text 25"/>
          <p:cNvSpPr txBox="1"/>
          <p:nvPr/>
        </p:nvSpPr>
        <p:spPr>
          <a:xfrm>
            <a:off x="548640" y="4800600"/>
            <a:ext cx="731520" cy="457200"/>
          </a:xfrm>
          <a:prstGeom prst="rect">
            <a:avLst/>
          </a:prstGeom>
          <a:noFill/>
          <a:ln/>
        </p:spPr>
        <p:txBody>
          <a:bodyPr wrap="square" lIns="0" tIns="0" rIns="0" bIns="0" rtlCol="0" anchor="ctr"/>
          <a:lstStyle/>
          <a:p>
            <a:pPr indent="0" marL="0">
              <a:buNone/>
            </a:pPr>
            <a:r>
              <a:rPr lang="en-US" sz="2200" b="1" dirty="0">
                <a:solidFill>
                  <a:srgbClr val="0A8F8F"/>
                </a:solidFill>
                <a:latin typeface="Cambria" pitchFamily="34" charset="0"/>
                <a:ea typeface="Cambria" pitchFamily="34" charset="-122"/>
                <a:cs typeface="Cambria" pitchFamily="34" charset="-120"/>
              </a:rPr>
              <a:t>06</a:t>
            </a:r>
            <a:endParaRPr lang="en-US" sz="2200" dirty="0"/>
          </a:p>
        </p:txBody>
      </p:sp>
      <p:sp>
        <p:nvSpPr>
          <p:cNvPr id="28" name="Text 26"/>
          <p:cNvSpPr txBox="1"/>
          <p:nvPr/>
        </p:nvSpPr>
        <p:spPr>
          <a:xfrm>
            <a:off x="1371600" y="4800600"/>
            <a:ext cx="4023360" cy="457200"/>
          </a:xfrm>
          <a:prstGeom prst="rect">
            <a:avLst/>
          </a:prstGeom>
          <a:noFill/>
          <a:ln/>
        </p:spPr>
        <p:txBody>
          <a:bodyPr wrap="square" lIns="0" tIns="0" rIns="0" bIns="0" rtlCol="0" anchor="ctr"/>
          <a:lstStyle/>
          <a:p>
            <a:pPr indent="0" marL="0">
              <a:buNone/>
            </a:pPr>
            <a:r>
              <a:rPr lang="en-US" sz="1600" b="1" dirty="0">
                <a:solidFill>
                  <a:srgbClr val="0B1F33"/>
                </a:solidFill>
                <a:latin typeface="Arial" pitchFamily="34" charset="0"/>
                <a:ea typeface="Arial" pitchFamily="34" charset="-122"/>
                <a:cs typeface="Arial" pitchFamily="34" charset="-120"/>
              </a:rPr>
              <a:t>Using the numbers</a:t>
            </a:r>
            <a:endParaRPr lang="en-US" sz="1600" dirty="0"/>
          </a:p>
        </p:txBody>
      </p:sp>
      <p:sp>
        <p:nvSpPr>
          <p:cNvPr id="29" name="Text 27"/>
          <p:cNvSpPr txBox="1"/>
          <p:nvPr/>
        </p:nvSpPr>
        <p:spPr>
          <a:xfrm>
            <a:off x="5486400" y="4800600"/>
            <a:ext cx="6126480" cy="457200"/>
          </a:xfrm>
          <a:prstGeom prst="rect">
            <a:avLst/>
          </a:prstGeom>
          <a:noFill/>
          <a:ln/>
        </p:spPr>
        <p:txBody>
          <a:bodyPr wrap="square" lIns="0" tIns="0" rIns="0" bIns="0" rtlCol="0" anchor="ctr"/>
          <a:lstStyle/>
          <a:p>
            <a:pPr indent="0" marL="0">
              <a:buNone/>
            </a:pPr>
            <a:r>
              <a:rPr lang="en-US" sz="1400" dirty="0">
                <a:solidFill>
                  <a:srgbClr val="5E6E7E"/>
                </a:solidFill>
                <a:latin typeface="Arial" pitchFamily="34" charset="0"/>
                <a:ea typeface="Arial" pitchFamily="34" charset="-122"/>
                <a:cs typeface="Arial" pitchFamily="34" charset="-120"/>
              </a:rPr>
              <a:t>Velocity and forecasting</a:t>
            </a:r>
            <a:endParaRPr lang="en-US" sz="1400" dirty="0"/>
          </a:p>
        </p:txBody>
      </p:sp>
      <p:sp>
        <p:nvSpPr>
          <p:cNvPr id="30" name="Shape 28"/>
          <p:cNvSpPr/>
          <p:nvPr/>
        </p:nvSpPr>
        <p:spPr>
          <a:xfrm>
            <a:off x="548640" y="5330952"/>
            <a:ext cx="11064240" cy="0"/>
          </a:xfrm>
          <a:prstGeom prst="line">
            <a:avLst/>
          </a:prstGeom>
          <a:noFill/>
          <a:ln w="9525">
            <a:solidFill>
              <a:srgbClr val="C9D3DC"/>
            </a:solidFill>
            <a:prstDash val="solid"/>
          </a:ln>
        </p:spPr>
      </p:sp>
      <p:sp>
        <p:nvSpPr>
          <p:cNvPr id="31" name="Text 29"/>
          <p:cNvSpPr txBox="1"/>
          <p:nvPr/>
        </p:nvSpPr>
        <p:spPr>
          <a:xfrm>
            <a:off x="548640" y="5404104"/>
            <a:ext cx="731520" cy="457200"/>
          </a:xfrm>
          <a:prstGeom prst="rect">
            <a:avLst/>
          </a:prstGeom>
          <a:noFill/>
          <a:ln/>
        </p:spPr>
        <p:txBody>
          <a:bodyPr wrap="square" lIns="0" tIns="0" rIns="0" bIns="0" rtlCol="0" anchor="ctr"/>
          <a:lstStyle/>
          <a:p>
            <a:pPr indent="0" marL="0">
              <a:buNone/>
            </a:pPr>
            <a:r>
              <a:rPr lang="en-US" sz="2200" b="1" dirty="0">
                <a:solidFill>
                  <a:srgbClr val="0A8F8F"/>
                </a:solidFill>
                <a:latin typeface="Cambria" pitchFamily="34" charset="0"/>
                <a:ea typeface="Cambria" pitchFamily="34" charset="-122"/>
                <a:cs typeface="Cambria" pitchFamily="34" charset="-120"/>
              </a:rPr>
              <a:t>07</a:t>
            </a:r>
            <a:endParaRPr lang="en-US" sz="2200" dirty="0"/>
          </a:p>
        </p:txBody>
      </p:sp>
      <p:sp>
        <p:nvSpPr>
          <p:cNvPr id="32" name="Text 30"/>
          <p:cNvSpPr txBox="1"/>
          <p:nvPr/>
        </p:nvSpPr>
        <p:spPr>
          <a:xfrm>
            <a:off x="1371600" y="5404104"/>
            <a:ext cx="4023360" cy="457200"/>
          </a:xfrm>
          <a:prstGeom prst="rect">
            <a:avLst/>
          </a:prstGeom>
          <a:noFill/>
          <a:ln/>
        </p:spPr>
        <p:txBody>
          <a:bodyPr wrap="square" lIns="0" tIns="0" rIns="0" bIns="0" rtlCol="0" anchor="ctr"/>
          <a:lstStyle/>
          <a:p>
            <a:pPr indent="0" marL="0">
              <a:buNone/>
            </a:pPr>
            <a:r>
              <a:rPr lang="en-US" sz="1600" b="1" dirty="0">
                <a:solidFill>
                  <a:srgbClr val="0B1F33"/>
                </a:solidFill>
                <a:latin typeface="Arial" pitchFamily="34" charset="0"/>
                <a:ea typeface="Arial" pitchFamily="34" charset="-122"/>
                <a:cs typeface="Arial" pitchFamily="34" charset="-120"/>
              </a:rPr>
              <a:t>Pitfalls and next steps</a:t>
            </a:r>
            <a:endParaRPr lang="en-US" sz="1600" dirty="0"/>
          </a:p>
        </p:txBody>
      </p:sp>
      <p:sp>
        <p:nvSpPr>
          <p:cNvPr id="33" name="Text 31"/>
          <p:cNvSpPr txBox="1"/>
          <p:nvPr/>
        </p:nvSpPr>
        <p:spPr>
          <a:xfrm>
            <a:off x="5486400" y="5404104"/>
            <a:ext cx="6126480" cy="457200"/>
          </a:xfrm>
          <a:prstGeom prst="rect">
            <a:avLst/>
          </a:prstGeom>
          <a:noFill/>
          <a:ln/>
        </p:spPr>
        <p:txBody>
          <a:bodyPr wrap="square" lIns="0" tIns="0" rIns="0" bIns="0" rtlCol="0" anchor="ctr"/>
          <a:lstStyle/>
          <a:p>
            <a:pPr indent="0" marL="0">
              <a:buNone/>
            </a:pPr>
            <a:r>
              <a:rPr lang="en-US" sz="1400" dirty="0">
                <a:solidFill>
                  <a:srgbClr val="5E6E7E"/>
                </a:solidFill>
                <a:latin typeface="Arial" pitchFamily="34" charset="0"/>
                <a:ea typeface="Arial" pitchFamily="34" charset="-122"/>
                <a:cs typeface="Arial" pitchFamily="34" charset="-120"/>
              </a:rPr>
              <a:t>What to avoid and how we start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WHY RELATIVE ESTIMATION</a:t>
            </a:r>
            <a:endParaRPr lang="en-US" sz="1000" dirty="0"/>
          </a:p>
        </p:txBody>
      </p:sp>
      <p:sp>
        <p:nvSpPr>
          <p:cNvPr id="3" name="Text 1"/>
          <p:cNvSpPr txBox="1"/>
          <p:nvPr/>
        </p:nvSpPr>
        <p:spPr>
          <a:xfrm>
            <a:off x="7040880" y="320040"/>
            <a:ext cx="45994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Estimating with Story Points  |  Team Training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Teams estimate faster and more reliably by comparing work than by predicting hours</a:t>
            </a:r>
            <a:endParaRPr lang="en-US" sz="2400" dirty="0"/>
          </a:p>
        </p:txBody>
      </p:sp>
      <p:sp>
        <p:nvSpPr>
          <p:cNvPr id="5" name="Text 3"/>
          <p:cNvSpPr txBox="1"/>
          <p:nvPr/>
        </p:nvSpPr>
        <p:spPr>
          <a:xfrm>
            <a:off x="548640" y="6355080"/>
            <a:ext cx="1024128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Team analysis. Story points are a complementary practice; the Scrum Guide (2020) does not prescribe an estimation technique</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3</a:t>
            </a:r>
            <a:endParaRPr lang="en-US" sz="900" dirty="0"/>
          </a:p>
        </p:txBody>
      </p:sp>
      <p:sp>
        <p:nvSpPr>
          <p:cNvPr id="7" name="Shape 5"/>
          <p:cNvSpPr/>
          <p:nvPr/>
        </p:nvSpPr>
        <p:spPr>
          <a:xfrm>
            <a:off x="7040880" y="1737360"/>
            <a:ext cx="4572000" cy="3794760"/>
          </a:xfrm>
          <a:prstGeom prst="rect">
            <a:avLst/>
          </a:prstGeom>
          <a:solidFill>
            <a:srgbClr val="DDF0F0"/>
          </a:solidFill>
          <a:ln w="12700">
            <a:solidFill>
              <a:srgbClr val="DDF0F0"/>
            </a:solidFill>
            <a:prstDash val="solid"/>
          </a:ln>
        </p:spPr>
      </p:sp>
      <p:sp>
        <p:nvSpPr>
          <p:cNvPr id="8" name="Text 6"/>
          <p:cNvSpPr txBox="1"/>
          <p:nvPr/>
        </p:nvSpPr>
        <p:spPr>
          <a:xfrm>
            <a:off x="2926080" y="1783080"/>
            <a:ext cx="4114800" cy="411480"/>
          </a:xfrm>
          <a:prstGeom prst="rect">
            <a:avLst/>
          </a:prstGeom>
          <a:noFill/>
          <a:ln/>
        </p:spPr>
        <p:txBody>
          <a:bodyPr wrap="square" lIns="0" tIns="0" rIns="0" bIns="0" rtlCol="0" anchor="ctr"/>
          <a:lstStyle/>
          <a:p>
            <a:pPr indent="0" marL="0">
              <a:buNone/>
            </a:pPr>
            <a:r>
              <a:rPr lang="en-US" sz="1400" b="1" dirty="0">
                <a:solidFill>
                  <a:srgbClr val="5E6E7E"/>
                </a:solidFill>
                <a:latin typeface="Arial" pitchFamily="34" charset="0"/>
                <a:ea typeface="Arial" pitchFamily="34" charset="-122"/>
                <a:cs typeface="Arial" pitchFamily="34" charset="-120"/>
              </a:rPr>
              <a:t>Absolute (hours)</a:t>
            </a:r>
            <a:endParaRPr lang="en-US" sz="1400" dirty="0"/>
          </a:p>
        </p:txBody>
      </p:sp>
      <p:sp>
        <p:nvSpPr>
          <p:cNvPr id="9" name="Text 7"/>
          <p:cNvSpPr txBox="1"/>
          <p:nvPr/>
        </p:nvSpPr>
        <p:spPr>
          <a:xfrm>
            <a:off x="7223760" y="1783080"/>
            <a:ext cx="4389120" cy="411480"/>
          </a:xfrm>
          <a:prstGeom prst="rect">
            <a:avLst/>
          </a:prstGeom>
          <a:noFill/>
          <a:ln/>
        </p:spPr>
        <p:txBody>
          <a:bodyPr wrap="square" lIns="0" tIns="0" rIns="0" bIns="0" rtlCol="0" anchor="ctr"/>
          <a:lstStyle/>
          <a:p>
            <a:pPr indent="0" marL="0">
              <a:buNone/>
            </a:pPr>
            <a:r>
              <a:rPr lang="en-US" sz="1400" b="1" dirty="0">
                <a:solidFill>
                  <a:srgbClr val="0A8F8F"/>
                </a:solidFill>
                <a:latin typeface="Arial" pitchFamily="34" charset="0"/>
                <a:ea typeface="Arial" pitchFamily="34" charset="-122"/>
                <a:cs typeface="Arial" pitchFamily="34" charset="-120"/>
              </a:rPr>
              <a:t>Relative (story points)</a:t>
            </a:r>
            <a:endParaRPr lang="en-US" sz="1400" dirty="0"/>
          </a:p>
        </p:txBody>
      </p:sp>
      <p:sp>
        <p:nvSpPr>
          <p:cNvPr id="10" name="Shape 8"/>
          <p:cNvSpPr/>
          <p:nvPr/>
        </p:nvSpPr>
        <p:spPr>
          <a:xfrm>
            <a:off x="548640" y="2240280"/>
            <a:ext cx="11064240" cy="0"/>
          </a:xfrm>
          <a:prstGeom prst="line">
            <a:avLst/>
          </a:prstGeom>
          <a:noFill/>
          <a:ln w="9525">
            <a:solidFill>
              <a:srgbClr val="C9D3DC"/>
            </a:solidFill>
            <a:prstDash val="solid"/>
          </a:ln>
        </p:spPr>
      </p:sp>
      <p:sp>
        <p:nvSpPr>
          <p:cNvPr id="11" name="Text 9"/>
          <p:cNvSpPr txBox="1"/>
          <p:nvPr/>
        </p:nvSpPr>
        <p:spPr>
          <a:xfrm>
            <a:off x="548640" y="2240280"/>
            <a:ext cx="2194560" cy="658368"/>
          </a:xfrm>
          <a:prstGeom prst="rect">
            <a:avLst/>
          </a:prstGeom>
          <a:noFill/>
          <a:ln/>
        </p:spPr>
        <p:txBody>
          <a:bodyPr wrap="square" lIns="0" tIns="0" rIns="0" bIns="0" rtlCol="0" anchor="ctr"/>
          <a:lstStyle/>
          <a:p>
            <a:pPr indent="0" marL="0">
              <a:buNone/>
            </a:pPr>
            <a:r>
              <a:rPr lang="en-US" sz="1400" b="1" dirty="0">
                <a:solidFill>
                  <a:srgbClr val="0B1F33"/>
                </a:solidFill>
                <a:latin typeface="Arial" pitchFamily="34" charset="0"/>
                <a:ea typeface="Arial" pitchFamily="34" charset="-122"/>
                <a:cs typeface="Arial" pitchFamily="34" charset="-120"/>
              </a:rPr>
              <a:t>Basis</a:t>
            </a:r>
            <a:endParaRPr lang="en-US" sz="1400" dirty="0"/>
          </a:p>
        </p:txBody>
      </p:sp>
      <p:sp>
        <p:nvSpPr>
          <p:cNvPr id="12" name="Text 10"/>
          <p:cNvSpPr txBox="1"/>
          <p:nvPr/>
        </p:nvSpPr>
        <p:spPr>
          <a:xfrm>
            <a:off x="2926080" y="2240280"/>
            <a:ext cx="4023360" cy="658368"/>
          </a:xfrm>
          <a:prstGeom prst="rect">
            <a:avLst/>
          </a:prstGeom>
          <a:noFill/>
          <a:ln/>
        </p:spPr>
        <p:txBody>
          <a:bodyPr wrap="square" lIns="0" tIns="0" rIns="0" bIns="0" rtlCol="0" anchor="ctr"/>
          <a:lstStyle/>
          <a:p>
            <a:pPr indent="0" marL="0">
              <a:buNone/>
            </a:pPr>
            <a:r>
              <a:rPr lang="en-US" sz="1300" dirty="0">
                <a:solidFill>
                  <a:srgbClr val="1F2A36"/>
                </a:solidFill>
                <a:latin typeface="Arial" pitchFamily="34" charset="0"/>
                <a:ea typeface="Arial" pitchFamily="34" charset="-122"/>
                <a:cs typeface="Arial" pitchFamily="34" charset="-120"/>
              </a:rPr>
              <a:t>Hours or days for each task</a:t>
            </a:r>
            <a:endParaRPr lang="en-US" sz="1300" dirty="0"/>
          </a:p>
        </p:txBody>
      </p:sp>
      <p:sp>
        <p:nvSpPr>
          <p:cNvPr id="13" name="Text 11"/>
          <p:cNvSpPr txBox="1"/>
          <p:nvPr/>
        </p:nvSpPr>
        <p:spPr>
          <a:xfrm>
            <a:off x="7223760" y="2240280"/>
            <a:ext cx="4297680" cy="658368"/>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Size relative to known reference stories</a:t>
            </a:r>
            <a:endParaRPr lang="en-US" sz="1300" dirty="0"/>
          </a:p>
        </p:txBody>
      </p:sp>
      <p:sp>
        <p:nvSpPr>
          <p:cNvPr id="14" name="Shape 12"/>
          <p:cNvSpPr/>
          <p:nvPr/>
        </p:nvSpPr>
        <p:spPr>
          <a:xfrm>
            <a:off x="548640" y="2898648"/>
            <a:ext cx="11064240" cy="0"/>
          </a:xfrm>
          <a:prstGeom prst="line">
            <a:avLst/>
          </a:prstGeom>
          <a:noFill/>
          <a:ln w="9525">
            <a:solidFill>
              <a:srgbClr val="C9D3DC"/>
            </a:solidFill>
            <a:prstDash val="solid"/>
          </a:ln>
        </p:spPr>
      </p:sp>
      <p:sp>
        <p:nvSpPr>
          <p:cNvPr id="15" name="Text 13"/>
          <p:cNvSpPr txBox="1"/>
          <p:nvPr/>
        </p:nvSpPr>
        <p:spPr>
          <a:xfrm>
            <a:off x="548640" y="2898648"/>
            <a:ext cx="2194560" cy="658368"/>
          </a:xfrm>
          <a:prstGeom prst="rect">
            <a:avLst/>
          </a:prstGeom>
          <a:noFill/>
          <a:ln/>
        </p:spPr>
        <p:txBody>
          <a:bodyPr wrap="square" lIns="0" tIns="0" rIns="0" bIns="0" rtlCol="0" anchor="ctr"/>
          <a:lstStyle/>
          <a:p>
            <a:pPr indent="0" marL="0">
              <a:buNone/>
            </a:pPr>
            <a:r>
              <a:rPr lang="en-US" sz="1400" b="1" dirty="0">
                <a:solidFill>
                  <a:srgbClr val="0B1F33"/>
                </a:solidFill>
                <a:latin typeface="Arial" pitchFamily="34" charset="0"/>
                <a:ea typeface="Arial" pitchFamily="34" charset="-122"/>
                <a:cs typeface="Arial" pitchFamily="34" charset="-120"/>
              </a:rPr>
              <a:t>Accuracy</a:t>
            </a:r>
            <a:endParaRPr lang="en-US" sz="1400" dirty="0"/>
          </a:p>
        </p:txBody>
      </p:sp>
      <p:sp>
        <p:nvSpPr>
          <p:cNvPr id="16" name="Text 14"/>
          <p:cNvSpPr txBox="1"/>
          <p:nvPr/>
        </p:nvSpPr>
        <p:spPr>
          <a:xfrm>
            <a:off x="2926080" y="2898648"/>
            <a:ext cx="4023360" cy="658368"/>
          </a:xfrm>
          <a:prstGeom prst="rect">
            <a:avLst/>
          </a:prstGeom>
          <a:noFill/>
          <a:ln/>
        </p:spPr>
        <p:txBody>
          <a:bodyPr wrap="square" lIns="0" tIns="0" rIns="0" bIns="0" rtlCol="0" anchor="ctr"/>
          <a:lstStyle/>
          <a:p>
            <a:pPr indent="0" marL="0">
              <a:buNone/>
            </a:pPr>
            <a:r>
              <a:rPr lang="en-US" sz="1300" dirty="0">
                <a:solidFill>
                  <a:srgbClr val="1F2A36"/>
                </a:solidFill>
                <a:latin typeface="Arial" pitchFamily="34" charset="0"/>
                <a:ea typeface="Arial" pitchFamily="34" charset="-122"/>
                <a:cs typeface="Arial" pitchFamily="34" charset="-120"/>
              </a:rPr>
              <a:t>People are poor at absolute predictions</a:t>
            </a:r>
            <a:endParaRPr lang="en-US" sz="1300" dirty="0"/>
          </a:p>
        </p:txBody>
      </p:sp>
      <p:sp>
        <p:nvSpPr>
          <p:cNvPr id="17" name="Text 15"/>
          <p:cNvSpPr txBox="1"/>
          <p:nvPr/>
        </p:nvSpPr>
        <p:spPr>
          <a:xfrm>
            <a:off x="7223760" y="2898648"/>
            <a:ext cx="4297680" cy="658368"/>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People are good at "bigger or smaller than"</a:t>
            </a:r>
            <a:endParaRPr lang="en-US" sz="1300" dirty="0"/>
          </a:p>
        </p:txBody>
      </p:sp>
      <p:sp>
        <p:nvSpPr>
          <p:cNvPr id="18" name="Shape 16"/>
          <p:cNvSpPr/>
          <p:nvPr/>
        </p:nvSpPr>
        <p:spPr>
          <a:xfrm>
            <a:off x="548640" y="3557016"/>
            <a:ext cx="11064240" cy="0"/>
          </a:xfrm>
          <a:prstGeom prst="line">
            <a:avLst/>
          </a:prstGeom>
          <a:noFill/>
          <a:ln w="9525">
            <a:solidFill>
              <a:srgbClr val="C9D3DC"/>
            </a:solidFill>
            <a:prstDash val="solid"/>
          </a:ln>
        </p:spPr>
      </p:sp>
      <p:sp>
        <p:nvSpPr>
          <p:cNvPr id="19" name="Text 17"/>
          <p:cNvSpPr txBox="1"/>
          <p:nvPr/>
        </p:nvSpPr>
        <p:spPr>
          <a:xfrm>
            <a:off x="548640" y="3557016"/>
            <a:ext cx="2194560" cy="658368"/>
          </a:xfrm>
          <a:prstGeom prst="rect">
            <a:avLst/>
          </a:prstGeom>
          <a:noFill/>
          <a:ln/>
        </p:spPr>
        <p:txBody>
          <a:bodyPr wrap="square" lIns="0" tIns="0" rIns="0" bIns="0" rtlCol="0" anchor="ctr"/>
          <a:lstStyle/>
          <a:p>
            <a:pPr indent="0" marL="0">
              <a:buNone/>
            </a:pPr>
            <a:r>
              <a:rPr lang="en-US" sz="1400" b="1" dirty="0">
                <a:solidFill>
                  <a:srgbClr val="0B1F33"/>
                </a:solidFill>
                <a:latin typeface="Arial" pitchFamily="34" charset="0"/>
                <a:ea typeface="Arial" pitchFamily="34" charset="-122"/>
                <a:cs typeface="Arial" pitchFamily="34" charset="-120"/>
              </a:rPr>
              <a:t>Ownership</a:t>
            </a:r>
            <a:endParaRPr lang="en-US" sz="1400" dirty="0"/>
          </a:p>
        </p:txBody>
      </p:sp>
      <p:sp>
        <p:nvSpPr>
          <p:cNvPr id="20" name="Text 18"/>
          <p:cNvSpPr txBox="1"/>
          <p:nvPr/>
        </p:nvSpPr>
        <p:spPr>
          <a:xfrm>
            <a:off x="2926080" y="3557016"/>
            <a:ext cx="4023360" cy="658368"/>
          </a:xfrm>
          <a:prstGeom prst="rect">
            <a:avLst/>
          </a:prstGeom>
          <a:noFill/>
          <a:ln/>
        </p:spPr>
        <p:txBody>
          <a:bodyPr wrap="square" lIns="0" tIns="0" rIns="0" bIns="0" rtlCol="0" anchor="ctr"/>
          <a:lstStyle/>
          <a:p>
            <a:pPr indent="0" marL="0">
              <a:buNone/>
            </a:pPr>
            <a:r>
              <a:rPr lang="en-US" sz="1300" dirty="0">
                <a:solidFill>
                  <a:srgbClr val="1F2A36"/>
                </a:solidFill>
                <a:latin typeface="Arial" pitchFamily="34" charset="0"/>
                <a:ea typeface="Arial" pitchFamily="34" charset="-122"/>
                <a:cs typeface="Arial" pitchFamily="34" charset="-120"/>
              </a:rPr>
              <a:t>Often one expert's guess</a:t>
            </a:r>
            <a:endParaRPr lang="en-US" sz="1300" dirty="0"/>
          </a:p>
        </p:txBody>
      </p:sp>
      <p:sp>
        <p:nvSpPr>
          <p:cNvPr id="21" name="Text 19"/>
          <p:cNvSpPr txBox="1"/>
          <p:nvPr/>
        </p:nvSpPr>
        <p:spPr>
          <a:xfrm>
            <a:off x="7223760" y="3557016"/>
            <a:ext cx="4297680" cy="658368"/>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Shared view of the whole team</a:t>
            </a:r>
            <a:endParaRPr lang="en-US" sz="1300" dirty="0"/>
          </a:p>
        </p:txBody>
      </p:sp>
      <p:sp>
        <p:nvSpPr>
          <p:cNvPr id="22" name="Shape 20"/>
          <p:cNvSpPr/>
          <p:nvPr/>
        </p:nvSpPr>
        <p:spPr>
          <a:xfrm>
            <a:off x="548640" y="4215384"/>
            <a:ext cx="11064240" cy="0"/>
          </a:xfrm>
          <a:prstGeom prst="line">
            <a:avLst/>
          </a:prstGeom>
          <a:noFill/>
          <a:ln w="9525">
            <a:solidFill>
              <a:srgbClr val="C9D3DC"/>
            </a:solidFill>
            <a:prstDash val="solid"/>
          </a:ln>
        </p:spPr>
      </p:sp>
      <p:sp>
        <p:nvSpPr>
          <p:cNvPr id="23" name="Text 21"/>
          <p:cNvSpPr txBox="1"/>
          <p:nvPr/>
        </p:nvSpPr>
        <p:spPr>
          <a:xfrm>
            <a:off x="548640" y="4215384"/>
            <a:ext cx="2194560" cy="658368"/>
          </a:xfrm>
          <a:prstGeom prst="rect">
            <a:avLst/>
          </a:prstGeom>
          <a:noFill/>
          <a:ln/>
        </p:spPr>
        <p:txBody>
          <a:bodyPr wrap="square" lIns="0" tIns="0" rIns="0" bIns="0" rtlCol="0" anchor="ctr"/>
          <a:lstStyle/>
          <a:p>
            <a:pPr indent="0" marL="0">
              <a:buNone/>
            </a:pPr>
            <a:r>
              <a:rPr lang="en-US" sz="1400" b="1" dirty="0">
                <a:solidFill>
                  <a:srgbClr val="0B1F33"/>
                </a:solidFill>
                <a:latin typeface="Arial" pitchFamily="34" charset="0"/>
                <a:ea typeface="Arial" pitchFamily="34" charset="-122"/>
                <a:cs typeface="Arial" pitchFamily="34" charset="-120"/>
              </a:rPr>
              <a:t>Speed</a:t>
            </a:r>
            <a:endParaRPr lang="en-US" sz="1400" dirty="0"/>
          </a:p>
        </p:txBody>
      </p:sp>
      <p:sp>
        <p:nvSpPr>
          <p:cNvPr id="24" name="Text 22"/>
          <p:cNvSpPr txBox="1"/>
          <p:nvPr/>
        </p:nvSpPr>
        <p:spPr>
          <a:xfrm>
            <a:off x="2926080" y="4215384"/>
            <a:ext cx="4023360" cy="658368"/>
          </a:xfrm>
          <a:prstGeom prst="rect">
            <a:avLst/>
          </a:prstGeom>
          <a:noFill/>
          <a:ln/>
        </p:spPr>
        <p:txBody>
          <a:bodyPr wrap="square" lIns="0" tIns="0" rIns="0" bIns="0" rtlCol="0" anchor="ctr"/>
          <a:lstStyle/>
          <a:p>
            <a:pPr indent="0" marL="0">
              <a:buNone/>
            </a:pPr>
            <a:r>
              <a:rPr lang="en-US" sz="1300" dirty="0">
                <a:solidFill>
                  <a:srgbClr val="1F2A36"/>
                </a:solidFill>
                <a:latin typeface="Arial" pitchFamily="34" charset="0"/>
                <a:ea typeface="Arial" pitchFamily="34" charset="-122"/>
                <a:cs typeface="Arial" pitchFamily="34" charset="-120"/>
              </a:rPr>
              <a:t>Needs detailed task breakdown first</a:t>
            </a:r>
            <a:endParaRPr lang="en-US" sz="1300" dirty="0"/>
          </a:p>
        </p:txBody>
      </p:sp>
      <p:sp>
        <p:nvSpPr>
          <p:cNvPr id="25" name="Text 23"/>
          <p:cNvSpPr txBox="1"/>
          <p:nvPr/>
        </p:nvSpPr>
        <p:spPr>
          <a:xfrm>
            <a:off x="7223760" y="4215384"/>
            <a:ext cx="4297680" cy="658368"/>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Minutes per item, at the right level of detail</a:t>
            </a:r>
            <a:endParaRPr lang="en-US" sz="1300" dirty="0"/>
          </a:p>
        </p:txBody>
      </p:sp>
      <p:sp>
        <p:nvSpPr>
          <p:cNvPr id="26" name="Shape 24"/>
          <p:cNvSpPr/>
          <p:nvPr/>
        </p:nvSpPr>
        <p:spPr>
          <a:xfrm>
            <a:off x="548640" y="4873752"/>
            <a:ext cx="11064240" cy="0"/>
          </a:xfrm>
          <a:prstGeom prst="line">
            <a:avLst/>
          </a:prstGeom>
          <a:noFill/>
          <a:ln w="9525">
            <a:solidFill>
              <a:srgbClr val="C9D3DC"/>
            </a:solidFill>
            <a:prstDash val="solid"/>
          </a:ln>
        </p:spPr>
      </p:sp>
      <p:sp>
        <p:nvSpPr>
          <p:cNvPr id="27" name="Text 25"/>
          <p:cNvSpPr txBox="1"/>
          <p:nvPr/>
        </p:nvSpPr>
        <p:spPr>
          <a:xfrm>
            <a:off x="548640" y="4873752"/>
            <a:ext cx="2194560" cy="658368"/>
          </a:xfrm>
          <a:prstGeom prst="rect">
            <a:avLst/>
          </a:prstGeom>
          <a:noFill/>
          <a:ln/>
        </p:spPr>
        <p:txBody>
          <a:bodyPr wrap="square" lIns="0" tIns="0" rIns="0" bIns="0" rtlCol="0" anchor="ctr"/>
          <a:lstStyle/>
          <a:p>
            <a:pPr indent="0" marL="0">
              <a:buNone/>
            </a:pPr>
            <a:r>
              <a:rPr lang="en-US" sz="1400" b="1" dirty="0">
                <a:solidFill>
                  <a:srgbClr val="0B1F33"/>
                </a:solidFill>
                <a:latin typeface="Arial" pitchFamily="34" charset="0"/>
                <a:ea typeface="Arial" pitchFamily="34" charset="-122"/>
                <a:cs typeface="Arial" pitchFamily="34" charset="-120"/>
              </a:rPr>
              <a:t>Stability</a:t>
            </a:r>
            <a:endParaRPr lang="en-US" sz="1400" dirty="0"/>
          </a:p>
        </p:txBody>
      </p:sp>
      <p:sp>
        <p:nvSpPr>
          <p:cNvPr id="28" name="Text 26"/>
          <p:cNvSpPr txBox="1"/>
          <p:nvPr/>
        </p:nvSpPr>
        <p:spPr>
          <a:xfrm>
            <a:off x="2926080" y="4873752"/>
            <a:ext cx="4023360" cy="658368"/>
          </a:xfrm>
          <a:prstGeom prst="rect">
            <a:avLst/>
          </a:prstGeom>
          <a:noFill/>
          <a:ln/>
        </p:spPr>
        <p:txBody>
          <a:bodyPr wrap="square" lIns="0" tIns="0" rIns="0" bIns="0" rtlCol="0" anchor="ctr"/>
          <a:lstStyle/>
          <a:p>
            <a:pPr indent="0" marL="0">
              <a:buNone/>
            </a:pPr>
            <a:r>
              <a:rPr lang="en-US" sz="1300" dirty="0">
                <a:solidFill>
                  <a:srgbClr val="1F2A36"/>
                </a:solidFill>
                <a:latin typeface="Arial" pitchFamily="34" charset="0"/>
                <a:ea typeface="Arial" pitchFamily="34" charset="-122"/>
                <a:cs typeface="Arial" pitchFamily="34" charset="-120"/>
              </a:rPr>
              <a:t>Changes with who does the work</a:t>
            </a:r>
            <a:endParaRPr lang="en-US" sz="1300" dirty="0"/>
          </a:p>
        </p:txBody>
      </p:sp>
      <p:sp>
        <p:nvSpPr>
          <p:cNvPr id="29" name="Text 27"/>
          <p:cNvSpPr txBox="1"/>
          <p:nvPr/>
        </p:nvSpPr>
        <p:spPr>
          <a:xfrm>
            <a:off x="7223760" y="4873752"/>
            <a:ext cx="4297680" cy="658368"/>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Stays valid whoever picks the item up</a:t>
            </a:r>
            <a:endParaRPr lang="en-US" sz="1300" dirty="0"/>
          </a:p>
        </p:txBody>
      </p:sp>
      <p:sp>
        <p:nvSpPr>
          <p:cNvPr id="30" name="Text 28"/>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200" i="1" dirty="0">
                <a:solidFill>
                  <a:srgbClr val="5E6E7E"/>
                </a:solidFill>
                <a:latin typeface="Arial" pitchFamily="34" charset="0"/>
                <a:ea typeface="Arial" pitchFamily="34" charset="-122"/>
                <a:cs typeface="Arial" pitchFamily="34" charset="-120"/>
              </a:rPr>
              <a:t>Think of estimating buildings: you may not know one is 147 m tall, but you know instantly it is about twice the height of its neighbour.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WHAT A STORY POINT MEASURES</a:t>
            </a:r>
            <a:endParaRPr lang="en-US" sz="1000" dirty="0"/>
          </a:p>
        </p:txBody>
      </p:sp>
      <p:sp>
        <p:nvSpPr>
          <p:cNvPr id="3" name="Text 1"/>
          <p:cNvSpPr txBox="1"/>
          <p:nvPr/>
        </p:nvSpPr>
        <p:spPr>
          <a:xfrm>
            <a:off x="7040880" y="320040"/>
            <a:ext cx="45994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Estimating with Story Points  |  Team Training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A story point combines three factors into one number that expresses the overall size of an item</a:t>
            </a:r>
            <a:endParaRPr lang="en-US" sz="2400" dirty="0"/>
          </a:p>
        </p:txBody>
      </p:sp>
      <p:sp>
        <p:nvSpPr>
          <p:cNvPr id="5" name="Text 3"/>
          <p:cNvSpPr txBox="1"/>
          <p:nvPr/>
        </p:nvSpPr>
        <p:spPr>
          <a:xfrm>
            <a:off x="548640" y="6355080"/>
            <a:ext cx="1024128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Team analysis. Story points are a complementary practice; the Scrum Guide (2020) does not prescribe an estimation technique</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4</a:t>
            </a:r>
            <a:endParaRPr lang="en-US" sz="900" dirty="0"/>
          </a:p>
        </p:txBody>
      </p:sp>
      <p:sp>
        <p:nvSpPr>
          <p:cNvPr id="7" name="Shape 5"/>
          <p:cNvSpPr/>
          <p:nvPr/>
        </p:nvSpPr>
        <p:spPr>
          <a:xfrm>
            <a:off x="548640" y="1783080"/>
            <a:ext cx="3474720" cy="3383280"/>
          </a:xfrm>
          <a:prstGeom prst="rect">
            <a:avLst/>
          </a:prstGeom>
          <a:solidFill>
            <a:srgbClr val="FFFFFF"/>
          </a:solidFill>
          <a:ln w="9525">
            <a:solidFill>
              <a:srgbClr val="C9D3DC"/>
            </a:solidFill>
            <a:prstDash val="solid"/>
          </a:ln>
          <a:effectLst>
            <a:outerShdw sx="100000" sy="100000" kx="0" ky="0" algn="bl" rotWithShape="0" blurRad="76200" dist="19050" dir="5400000">
              <a:srgbClr val="000000">
                <a:alpha val="12000"/>
              </a:srgbClr>
            </a:outerShdw>
          </a:effectLst>
        </p:spPr>
      </p:sp>
      <p:sp>
        <p:nvSpPr>
          <p:cNvPr id="8" name="Shape 6"/>
          <p:cNvSpPr/>
          <p:nvPr/>
        </p:nvSpPr>
        <p:spPr>
          <a:xfrm>
            <a:off x="822960" y="2057400"/>
            <a:ext cx="685800" cy="685800"/>
          </a:xfrm>
          <a:prstGeom prst="ellipse">
            <a:avLst/>
          </a:prstGeom>
          <a:solidFill>
            <a:srgbClr val="12355B"/>
          </a:solidFill>
          <a:ln w="12700">
            <a:solidFill>
              <a:srgbClr val="12355B"/>
            </a:solidFill>
            <a:prstDash val="solid"/>
          </a:ln>
        </p:spPr>
      </p:sp>
      <p:pic>
        <p:nvPicPr>
          <p:cNvPr id="9" name="Image 0" descr="preencoded.png">    </p:cNvPr>
          <p:cNvPicPr>
            <a:picLocks noChangeAspect="1"/>
          </p:cNvPicPr>
          <p:nvPr/>
        </p:nvPicPr>
        <p:blipFill>
          <a:blip r:embed="rId1"/>
          <a:stretch>
            <a:fillRect/>
          </a:stretch>
        </p:blipFill>
        <p:spPr>
          <a:xfrm>
            <a:off x="994410" y="2228850"/>
            <a:ext cx="342900" cy="342900"/>
          </a:xfrm>
          <a:prstGeom prst="rect">
            <a:avLst/>
          </a:prstGeom>
        </p:spPr>
      </p:pic>
      <p:sp>
        <p:nvSpPr>
          <p:cNvPr id="10" name="Text 7"/>
          <p:cNvSpPr txBox="1"/>
          <p:nvPr/>
        </p:nvSpPr>
        <p:spPr>
          <a:xfrm>
            <a:off x="822960" y="2880360"/>
            <a:ext cx="2926080" cy="411480"/>
          </a:xfrm>
          <a:prstGeom prst="rect">
            <a:avLst/>
          </a:prstGeom>
          <a:noFill/>
          <a:ln/>
        </p:spPr>
        <p:txBody>
          <a:bodyPr wrap="square" lIns="0" tIns="0" rIns="0" bIns="0" rtlCol="0" anchor="t"/>
          <a:lstStyle/>
          <a:p>
            <a:pPr indent="0" marL="0">
              <a:buNone/>
            </a:pPr>
            <a:r>
              <a:rPr lang="en-US" sz="1900" b="1" dirty="0">
                <a:solidFill>
                  <a:srgbClr val="0B1F33"/>
                </a:solidFill>
                <a:latin typeface="Cambria" pitchFamily="34" charset="0"/>
                <a:ea typeface="Cambria" pitchFamily="34" charset="-122"/>
                <a:cs typeface="Cambria" pitchFamily="34" charset="-120"/>
              </a:rPr>
              <a:t>Effort</a:t>
            </a:r>
            <a:endParaRPr lang="en-US" sz="1900" dirty="0"/>
          </a:p>
        </p:txBody>
      </p:sp>
      <p:sp>
        <p:nvSpPr>
          <p:cNvPr id="11" name="Text 8"/>
          <p:cNvSpPr txBox="1"/>
          <p:nvPr/>
        </p:nvSpPr>
        <p:spPr>
          <a:xfrm>
            <a:off x="822960" y="3337560"/>
            <a:ext cx="2926080" cy="1097280"/>
          </a:xfrm>
          <a:prstGeom prst="rect">
            <a:avLst/>
          </a:prstGeom>
          <a:noFill/>
          <a:ln/>
        </p:spPr>
        <p:txBody>
          <a:bodyPr wrap="square" lIns="0" tIns="0" rIns="0" bIns="0" rtlCol="0" anchor="t"/>
          <a:lstStyle/>
          <a:p>
            <a:pPr indent="0" marL="0">
              <a:buNone/>
            </a:pPr>
            <a:r>
              <a:rPr lang="en-US" sz="1300" dirty="0">
                <a:solidFill>
                  <a:srgbClr val="1F2A36"/>
                </a:solidFill>
                <a:latin typeface="Arial" pitchFamily="34" charset="0"/>
                <a:ea typeface="Arial" pitchFamily="34" charset="-122"/>
                <a:cs typeface="Arial" pitchFamily="34" charset="-120"/>
              </a:rPr>
              <a:t>How much work is involved: volume of code, configuration, testing and documentation.</a:t>
            </a:r>
            <a:endParaRPr lang="en-US" sz="1300" dirty="0"/>
          </a:p>
        </p:txBody>
      </p:sp>
      <p:sp>
        <p:nvSpPr>
          <p:cNvPr id="12" name="Text 9"/>
          <p:cNvSpPr txBox="1"/>
          <p:nvPr/>
        </p:nvSpPr>
        <p:spPr>
          <a:xfrm>
            <a:off x="822960" y="4480560"/>
            <a:ext cx="2926080" cy="457200"/>
          </a:xfrm>
          <a:prstGeom prst="rect">
            <a:avLst/>
          </a:prstGeom>
          <a:noFill/>
          <a:ln/>
        </p:spPr>
        <p:txBody>
          <a:bodyPr wrap="square" lIns="0" tIns="0" rIns="0" bIns="0" rtlCol="0" anchor="t"/>
          <a:lstStyle/>
          <a:p>
            <a:pPr indent="0" marL="0">
              <a:buNone/>
            </a:pPr>
            <a:r>
              <a:rPr lang="en-US" sz="1200" i="1" dirty="0">
                <a:solidFill>
                  <a:srgbClr val="0A8F8F"/>
                </a:solidFill>
                <a:latin typeface="Arial" pitchFamily="34" charset="0"/>
                <a:ea typeface="Arial" pitchFamily="34" charset="-122"/>
                <a:cs typeface="Arial" pitchFamily="34" charset="-120"/>
              </a:rPr>
              <a:t>e.g. updating 3 reports vs 30</a:t>
            </a:r>
            <a:endParaRPr lang="en-US" sz="1200" dirty="0"/>
          </a:p>
        </p:txBody>
      </p:sp>
      <p:sp>
        <p:nvSpPr>
          <p:cNvPr id="13" name="Shape 10"/>
          <p:cNvSpPr/>
          <p:nvPr/>
        </p:nvSpPr>
        <p:spPr>
          <a:xfrm>
            <a:off x="4297680" y="1783080"/>
            <a:ext cx="3474720" cy="3383280"/>
          </a:xfrm>
          <a:prstGeom prst="rect">
            <a:avLst/>
          </a:prstGeom>
          <a:solidFill>
            <a:srgbClr val="FFFFFF"/>
          </a:solidFill>
          <a:ln w="9525">
            <a:solidFill>
              <a:srgbClr val="C9D3DC"/>
            </a:solidFill>
            <a:prstDash val="solid"/>
          </a:ln>
          <a:effectLst>
            <a:outerShdw sx="100000" sy="100000" kx="0" ky="0" algn="bl" rotWithShape="0" blurRad="76200" dist="19050" dir="5400000">
              <a:srgbClr val="000000">
                <a:alpha val="12000"/>
              </a:srgbClr>
            </a:outerShdw>
          </a:effectLst>
        </p:spPr>
      </p:sp>
      <p:sp>
        <p:nvSpPr>
          <p:cNvPr id="14" name="Shape 11"/>
          <p:cNvSpPr/>
          <p:nvPr/>
        </p:nvSpPr>
        <p:spPr>
          <a:xfrm>
            <a:off x="4572000" y="2057400"/>
            <a:ext cx="685800" cy="685800"/>
          </a:xfrm>
          <a:prstGeom prst="ellipse">
            <a:avLst/>
          </a:prstGeom>
          <a:solidFill>
            <a:srgbClr val="12355B"/>
          </a:solidFill>
          <a:ln w="12700">
            <a:solidFill>
              <a:srgbClr val="12355B"/>
            </a:solidFill>
            <a:prstDash val="solid"/>
          </a:ln>
        </p:spPr>
      </p:sp>
      <p:pic>
        <p:nvPicPr>
          <p:cNvPr id="15" name="Image 1" descr="preencoded.png">    </p:cNvPr>
          <p:cNvPicPr>
            <a:picLocks noChangeAspect="1"/>
          </p:cNvPicPr>
          <p:nvPr/>
        </p:nvPicPr>
        <p:blipFill>
          <a:blip r:embed="rId2"/>
          <a:stretch>
            <a:fillRect/>
          </a:stretch>
        </p:blipFill>
        <p:spPr>
          <a:xfrm>
            <a:off x="4743450" y="2228850"/>
            <a:ext cx="342900" cy="342900"/>
          </a:xfrm>
          <a:prstGeom prst="rect">
            <a:avLst/>
          </a:prstGeom>
        </p:spPr>
      </p:pic>
      <p:sp>
        <p:nvSpPr>
          <p:cNvPr id="16" name="Text 12"/>
          <p:cNvSpPr txBox="1"/>
          <p:nvPr/>
        </p:nvSpPr>
        <p:spPr>
          <a:xfrm>
            <a:off x="4572000" y="2880360"/>
            <a:ext cx="2926080" cy="411480"/>
          </a:xfrm>
          <a:prstGeom prst="rect">
            <a:avLst/>
          </a:prstGeom>
          <a:noFill/>
          <a:ln/>
        </p:spPr>
        <p:txBody>
          <a:bodyPr wrap="square" lIns="0" tIns="0" rIns="0" bIns="0" rtlCol="0" anchor="t"/>
          <a:lstStyle/>
          <a:p>
            <a:pPr indent="0" marL="0">
              <a:buNone/>
            </a:pPr>
            <a:r>
              <a:rPr lang="en-US" sz="1900" b="1" dirty="0">
                <a:solidFill>
                  <a:srgbClr val="0B1F33"/>
                </a:solidFill>
                <a:latin typeface="Cambria" pitchFamily="34" charset="0"/>
                <a:ea typeface="Cambria" pitchFamily="34" charset="-122"/>
                <a:cs typeface="Cambria" pitchFamily="34" charset="-120"/>
              </a:rPr>
              <a:t>Complexity</a:t>
            </a:r>
            <a:endParaRPr lang="en-US" sz="1900" dirty="0"/>
          </a:p>
        </p:txBody>
      </p:sp>
      <p:sp>
        <p:nvSpPr>
          <p:cNvPr id="17" name="Text 13"/>
          <p:cNvSpPr txBox="1"/>
          <p:nvPr/>
        </p:nvSpPr>
        <p:spPr>
          <a:xfrm>
            <a:off x="4572000" y="3337560"/>
            <a:ext cx="2926080" cy="1097280"/>
          </a:xfrm>
          <a:prstGeom prst="rect">
            <a:avLst/>
          </a:prstGeom>
          <a:noFill/>
          <a:ln/>
        </p:spPr>
        <p:txBody>
          <a:bodyPr wrap="square" lIns="0" tIns="0" rIns="0" bIns="0" rtlCol="0" anchor="t"/>
          <a:lstStyle/>
          <a:p>
            <a:pPr indent="0" marL="0">
              <a:buNone/>
            </a:pPr>
            <a:r>
              <a:rPr lang="en-US" sz="1300" dirty="0">
                <a:solidFill>
                  <a:srgbClr val="1F2A36"/>
                </a:solidFill>
                <a:latin typeface="Arial" pitchFamily="34" charset="0"/>
                <a:ea typeface="Arial" pitchFamily="34" charset="-122"/>
                <a:cs typeface="Arial" pitchFamily="34" charset="-120"/>
              </a:rPr>
              <a:t>How intricate the work is: dependencies, integrations, edge cases and business rules.</a:t>
            </a:r>
            <a:endParaRPr lang="en-US" sz="1300" dirty="0"/>
          </a:p>
        </p:txBody>
      </p:sp>
      <p:sp>
        <p:nvSpPr>
          <p:cNvPr id="18" name="Text 14"/>
          <p:cNvSpPr txBox="1"/>
          <p:nvPr/>
        </p:nvSpPr>
        <p:spPr>
          <a:xfrm>
            <a:off x="4572000" y="4480560"/>
            <a:ext cx="2926080" cy="457200"/>
          </a:xfrm>
          <a:prstGeom prst="rect">
            <a:avLst/>
          </a:prstGeom>
          <a:noFill/>
          <a:ln/>
        </p:spPr>
        <p:txBody>
          <a:bodyPr wrap="square" lIns="0" tIns="0" rIns="0" bIns="0" rtlCol="0" anchor="t"/>
          <a:lstStyle/>
          <a:p>
            <a:pPr indent="0" marL="0">
              <a:buNone/>
            </a:pPr>
            <a:r>
              <a:rPr lang="en-US" sz="1200" i="1" dirty="0">
                <a:solidFill>
                  <a:srgbClr val="0A8F8F"/>
                </a:solidFill>
                <a:latin typeface="Arial" pitchFamily="34" charset="0"/>
                <a:ea typeface="Arial" pitchFamily="34" charset="-122"/>
                <a:cs typeface="Arial" pitchFamily="34" charset="-120"/>
              </a:rPr>
              <a:t>e.g. a simple form vs a multi-step workflow</a:t>
            </a:r>
            <a:endParaRPr lang="en-US" sz="1200" dirty="0"/>
          </a:p>
        </p:txBody>
      </p:sp>
      <p:sp>
        <p:nvSpPr>
          <p:cNvPr id="19" name="Shape 15"/>
          <p:cNvSpPr/>
          <p:nvPr/>
        </p:nvSpPr>
        <p:spPr>
          <a:xfrm>
            <a:off x="8046720" y="1783080"/>
            <a:ext cx="3474720" cy="3383280"/>
          </a:xfrm>
          <a:prstGeom prst="rect">
            <a:avLst/>
          </a:prstGeom>
          <a:solidFill>
            <a:srgbClr val="FFFFFF"/>
          </a:solidFill>
          <a:ln w="9525">
            <a:solidFill>
              <a:srgbClr val="C9D3DC"/>
            </a:solidFill>
            <a:prstDash val="solid"/>
          </a:ln>
          <a:effectLst>
            <a:outerShdw sx="100000" sy="100000" kx="0" ky="0" algn="bl" rotWithShape="0" blurRad="76200" dist="19050" dir="5400000">
              <a:srgbClr val="000000">
                <a:alpha val="12000"/>
              </a:srgbClr>
            </a:outerShdw>
          </a:effectLst>
        </p:spPr>
      </p:sp>
      <p:sp>
        <p:nvSpPr>
          <p:cNvPr id="20" name="Shape 16"/>
          <p:cNvSpPr/>
          <p:nvPr/>
        </p:nvSpPr>
        <p:spPr>
          <a:xfrm>
            <a:off x="8321040" y="2057400"/>
            <a:ext cx="685800" cy="685800"/>
          </a:xfrm>
          <a:prstGeom prst="ellipse">
            <a:avLst/>
          </a:prstGeom>
          <a:solidFill>
            <a:srgbClr val="0A8F8F"/>
          </a:solidFill>
          <a:ln w="12700">
            <a:solidFill>
              <a:srgbClr val="0A8F8F"/>
            </a:solidFill>
            <a:prstDash val="solid"/>
          </a:ln>
        </p:spPr>
      </p:sp>
      <p:pic>
        <p:nvPicPr>
          <p:cNvPr id="21" name="Image 2" descr="preencoded.png">    </p:cNvPr>
          <p:cNvPicPr>
            <a:picLocks noChangeAspect="1"/>
          </p:cNvPicPr>
          <p:nvPr/>
        </p:nvPicPr>
        <p:blipFill>
          <a:blip r:embed="rId3"/>
          <a:stretch>
            <a:fillRect/>
          </a:stretch>
        </p:blipFill>
        <p:spPr>
          <a:xfrm>
            <a:off x="8492490" y="2228850"/>
            <a:ext cx="342900" cy="342900"/>
          </a:xfrm>
          <a:prstGeom prst="rect">
            <a:avLst/>
          </a:prstGeom>
        </p:spPr>
      </p:pic>
      <p:sp>
        <p:nvSpPr>
          <p:cNvPr id="22" name="Text 17"/>
          <p:cNvSpPr txBox="1"/>
          <p:nvPr/>
        </p:nvSpPr>
        <p:spPr>
          <a:xfrm>
            <a:off x="8321040" y="2880360"/>
            <a:ext cx="2926080" cy="411480"/>
          </a:xfrm>
          <a:prstGeom prst="rect">
            <a:avLst/>
          </a:prstGeom>
          <a:noFill/>
          <a:ln/>
        </p:spPr>
        <p:txBody>
          <a:bodyPr wrap="square" lIns="0" tIns="0" rIns="0" bIns="0" rtlCol="0" anchor="t"/>
          <a:lstStyle/>
          <a:p>
            <a:pPr indent="0" marL="0">
              <a:buNone/>
            </a:pPr>
            <a:r>
              <a:rPr lang="en-US" sz="1900" b="1" dirty="0">
                <a:solidFill>
                  <a:srgbClr val="0B1F33"/>
                </a:solidFill>
                <a:latin typeface="Cambria" pitchFamily="34" charset="0"/>
                <a:ea typeface="Cambria" pitchFamily="34" charset="-122"/>
                <a:cs typeface="Cambria" pitchFamily="34" charset="-120"/>
              </a:rPr>
              <a:t>Uncertainty</a:t>
            </a:r>
            <a:endParaRPr lang="en-US" sz="1900" dirty="0"/>
          </a:p>
        </p:txBody>
      </p:sp>
      <p:sp>
        <p:nvSpPr>
          <p:cNvPr id="23" name="Text 18"/>
          <p:cNvSpPr txBox="1"/>
          <p:nvPr/>
        </p:nvSpPr>
        <p:spPr>
          <a:xfrm>
            <a:off x="8321040" y="3337560"/>
            <a:ext cx="2926080" cy="1097280"/>
          </a:xfrm>
          <a:prstGeom prst="rect">
            <a:avLst/>
          </a:prstGeom>
          <a:noFill/>
          <a:ln/>
        </p:spPr>
        <p:txBody>
          <a:bodyPr wrap="square" lIns="0" tIns="0" rIns="0" bIns="0" rtlCol="0" anchor="t"/>
          <a:lstStyle/>
          <a:p>
            <a:pPr indent="0" marL="0">
              <a:buNone/>
            </a:pPr>
            <a:r>
              <a:rPr lang="en-US" sz="1300" dirty="0">
                <a:solidFill>
                  <a:srgbClr val="1F2A36"/>
                </a:solidFill>
                <a:latin typeface="Arial" pitchFamily="34" charset="0"/>
                <a:ea typeface="Arial" pitchFamily="34" charset="-122"/>
                <a:cs typeface="Arial" pitchFamily="34" charset="-120"/>
              </a:rPr>
              <a:t>How much we do not yet know: new technology, unclear requirements, external parties.</a:t>
            </a:r>
            <a:endParaRPr lang="en-US" sz="1300" dirty="0"/>
          </a:p>
        </p:txBody>
      </p:sp>
      <p:sp>
        <p:nvSpPr>
          <p:cNvPr id="24" name="Text 19"/>
          <p:cNvSpPr txBox="1"/>
          <p:nvPr/>
        </p:nvSpPr>
        <p:spPr>
          <a:xfrm>
            <a:off x="8321040" y="4480560"/>
            <a:ext cx="2926080" cy="457200"/>
          </a:xfrm>
          <a:prstGeom prst="rect">
            <a:avLst/>
          </a:prstGeom>
          <a:noFill/>
          <a:ln/>
        </p:spPr>
        <p:txBody>
          <a:bodyPr wrap="square" lIns="0" tIns="0" rIns="0" bIns="0" rtlCol="0" anchor="t"/>
          <a:lstStyle/>
          <a:p>
            <a:pPr indent="0" marL="0">
              <a:buNone/>
            </a:pPr>
            <a:r>
              <a:rPr lang="en-US" sz="1200" i="1" dirty="0">
                <a:solidFill>
                  <a:srgbClr val="0A8F8F"/>
                </a:solidFill>
                <a:latin typeface="Arial" pitchFamily="34" charset="0"/>
                <a:ea typeface="Arial" pitchFamily="34" charset="-122"/>
                <a:cs typeface="Arial" pitchFamily="34" charset="-120"/>
              </a:rPr>
              <a:t>e.g. a familiar API vs an undocumented one</a:t>
            </a:r>
            <a:endParaRPr lang="en-US" sz="1200" dirty="0"/>
          </a:p>
        </p:txBody>
      </p:sp>
      <p:sp>
        <p:nvSpPr>
          <p:cNvPr id="25" name="Shape 20"/>
          <p:cNvSpPr/>
          <p:nvPr/>
        </p:nvSpPr>
        <p:spPr>
          <a:xfrm>
            <a:off x="548640" y="5440680"/>
            <a:ext cx="11064240" cy="640080"/>
          </a:xfrm>
          <a:prstGeom prst="rect">
            <a:avLst/>
          </a:prstGeom>
          <a:solidFill>
            <a:srgbClr val="DDF0F0"/>
          </a:solidFill>
          <a:ln w="12700">
            <a:solidFill>
              <a:srgbClr val="DDF0F0"/>
            </a:solidFill>
            <a:prstDash val="solid"/>
          </a:ln>
        </p:spPr>
      </p:sp>
      <p:sp>
        <p:nvSpPr>
          <p:cNvPr id="26" name="Text 21"/>
          <p:cNvSpPr txBox="1"/>
          <p:nvPr/>
        </p:nvSpPr>
        <p:spPr>
          <a:xfrm>
            <a:off x="777240" y="5440680"/>
            <a:ext cx="10607040" cy="640080"/>
          </a:xfrm>
          <a:prstGeom prst="rect">
            <a:avLst/>
          </a:prstGeom>
          <a:noFill/>
          <a:ln/>
        </p:spPr>
        <p:txBody>
          <a:bodyPr wrap="square" lIns="0" tIns="0" rIns="0" bIns="0" rtlCol="0" anchor="ctr"/>
          <a:lstStyle/>
          <a:p>
            <a:pPr indent="0" marL="0">
              <a:buNone/>
            </a:pPr>
            <a:r>
              <a:rPr lang="en-US" sz="1300" b="1" dirty="0">
                <a:solidFill>
                  <a:srgbClr val="0A8F8F"/>
                </a:solidFill>
                <a:latin typeface="Arial" pitchFamily="34" charset="0"/>
                <a:ea typeface="Arial" pitchFamily="34" charset="-122"/>
                <a:cs typeface="Arial" pitchFamily="34" charset="-120"/>
              </a:rPr>
              <a:t>Remember: </a:t>
            </a:r>
            <a:pPr indent="0" marL="0">
              <a:buNone/>
            </a:pPr>
            <a:r>
              <a:rPr lang="en-US" sz="1300" dirty="0">
                <a:solidFill>
                  <a:srgbClr val="1F2A36"/>
                </a:solidFill>
                <a:latin typeface="Arial" pitchFamily="34" charset="0"/>
                <a:ea typeface="Arial" pitchFamily="34" charset="-122"/>
                <a:cs typeface="Arial" pitchFamily="34" charset="-120"/>
              </a:rPr>
              <a:t>a story point is a unit of relative size, not a unit of time. Never convert points to hours per person.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THE SCALE</a:t>
            </a:r>
            <a:endParaRPr lang="en-US" sz="1000" dirty="0"/>
          </a:p>
        </p:txBody>
      </p:sp>
      <p:sp>
        <p:nvSpPr>
          <p:cNvPr id="3" name="Text 1"/>
          <p:cNvSpPr txBox="1"/>
          <p:nvPr/>
        </p:nvSpPr>
        <p:spPr>
          <a:xfrm>
            <a:off x="7040880" y="320040"/>
            <a:ext cx="45994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Estimating with Story Points  |  Team Training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A modified Fibonacci scale keeps debates short because the gaps grow with uncertainty</a:t>
            </a:r>
            <a:endParaRPr lang="en-US" sz="2400" dirty="0"/>
          </a:p>
        </p:txBody>
      </p:sp>
      <p:sp>
        <p:nvSpPr>
          <p:cNvPr id="5" name="Text 3"/>
          <p:cNvSpPr txBox="1"/>
          <p:nvPr/>
        </p:nvSpPr>
        <p:spPr>
          <a:xfrm>
            <a:off x="548640" y="6355080"/>
            <a:ext cx="1024128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M. Cohn, Agile Estimating and Planning (2005); team analysis</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5</a:t>
            </a:r>
            <a:endParaRPr lang="en-US" sz="900" dirty="0"/>
          </a:p>
        </p:txBody>
      </p:sp>
      <p:sp>
        <p:nvSpPr>
          <p:cNvPr id="7" name="Shape 5"/>
          <p:cNvSpPr/>
          <p:nvPr/>
        </p:nvSpPr>
        <p:spPr>
          <a:xfrm>
            <a:off x="548640" y="1828800"/>
            <a:ext cx="1261872" cy="1600200"/>
          </a:xfrm>
          <a:prstGeom prst="roundRect">
            <a:avLst>
              <a:gd name="adj" fmla="val 5797"/>
            </a:avLst>
          </a:prstGeom>
          <a:solidFill>
            <a:srgbClr val="12355B"/>
          </a:solidFill>
          <a:ln w="12700">
            <a:solidFill>
              <a:srgbClr val="12355B"/>
            </a:solidFill>
            <a:prstDash val="solid"/>
          </a:ln>
        </p:spPr>
      </p:sp>
      <p:sp>
        <p:nvSpPr>
          <p:cNvPr id="8" name="Text 6"/>
          <p:cNvSpPr txBox="1"/>
          <p:nvPr/>
        </p:nvSpPr>
        <p:spPr>
          <a:xfrm>
            <a:off x="548640" y="2011680"/>
            <a:ext cx="1261872"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Text 7"/>
          <p:cNvSpPr txBox="1"/>
          <p:nvPr/>
        </p:nvSpPr>
        <p:spPr>
          <a:xfrm>
            <a:off x="548640" y="3566160"/>
            <a:ext cx="1261872" cy="731520"/>
          </a:xfrm>
          <a:prstGeom prst="rect">
            <a:avLst/>
          </a:prstGeom>
          <a:noFill/>
          <a:ln/>
        </p:spPr>
        <p:txBody>
          <a:bodyPr wrap="square" lIns="0" tIns="0" rIns="0" bIns="0" rtlCol="0" anchor="t"/>
          <a:lstStyle/>
          <a:p>
            <a:pPr algn="ctr" indent="0" marL="0">
              <a:buNone/>
            </a:pPr>
            <a:r>
              <a:rPr lang="en-US" sz="1150" dirty="0">
                <a:solidFill>
                  <a:srgbClr val="1F2A36"/>
                </a:solidFill>
                <a:latin typeface="Arial" pitchFamily="34" charset="0"/>
                <a:ea typeface="Arial" pitchFamily="34" charset="-122"/>
                <a:cs typeface="Arial" pitchFamily="34" charset="-120"/>
              </a:rPr>
              <a:t>Trivial</a:t>
            </a:r>
            <a:endParaRPr lang="en-US" sz="1150" dirty="0"/>
          </a:p>
        </p:txBody>
      </p:sp>
      <p:sp>
        <p:nvSpPr>
          <p:cNvPr id="10" name="Shape 8"/>
          <p:cNvSpPr/>
          <p:nvPr/>
        </p:nvSpPr>
        <p:spPr>
          <a:xfrm>
            <a:off x="1947672" y="1828800"/>
            <a:ext cx="1261872" cy="1600200"/>
          </a:xfrm>
          <a:prstGeom prst="roundRect">
            <a:avLst>
              <a:gd name="adj" fmla="val 5797"/>
            </a:avLst>
          </a:prstGeom>
          <a:solidFill>
            <a:srgbClr val="12355B"/>
          </a:solidFill>
          <a:ln w="12700">
            <a:solidFill>
              <a:srgbClr val="12355B"/>
            </a:solidFill>
            <a:prstDash val="solid"/>
          </a:ln>
        </p:spPr>
      </p:sp>
      <p:sp>
        <p:nvSpPr>
          <p:cNvPr id="11" name="Text 9"/>
          <p:cNvSpPr txBox="1"/>
          <p:nvPr/>
        </p:nvSpPr>
        <p:spPr>
          <a:xfrm>
            <a:off x="1947672" y="2011680"/>
            <a:ext cx="1261872"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12" name="Text 10"/>
          <p:cNvSpPr txBox="1"/>
          <p:nvPr/>
        </p:nvSpPr>
        <p:spPr>
          <a:xfrm>
            <a:off x="1947672" y="3566160"/>
            <a:ext cx="1261872" cy="731520"/>
          </a:xfrm>
          <a:prstGeom prst="rect">
            <a:avLst/>
          </a:prstGeom>
          <a:noFill/>
          <a:ln/>
        </p:spPr>
        <p:txBody>
          <a:bodyPr wrap="square" lIns="0" tIns="0" rIns="0" bIns="0" rtlCol="0" anchor="t"/>
          <a:lstStyle/>
          <a:p>
            <a:pPr algn="ctr" indent="0" marL="0">
              <a:buNone/>
            </a:pPr>
            <a:r>
              <a:rPr lang="en-US" sz="1150" dirty="0">
                <a:solidFill>
                  <a:srgbClr val="1F2A36"/>
                </a:solidFill>
                <a:latin typeface="Arial" pitchFamily="34" charset="0"/>
                <a:ea typeface="Arial" pitchFamily="34" charset="-122"/>
                <a:cs typeface="Arial" pitchFamily="34" charset="-120"/>
              </a:rPr>
              <a:t>Small</a:t>
            </a:r>
            <a:endParaRPr lang="en-US" sz="1150" dirty="0"/>
          </a:p>
        </p:txBody>
      </p:sp>
      <p:sp>
        <p:nvSpPr>
          <p:cNvPr id="13" name="Shape 11"/>
          <p:cNvSpPr/>
          <p:nvPr/>
        </p:nvSpPr>
        <p:spPr>
          <a:xfrm>
            <a:off x="3346704" y="1828800"/>
            <a:ext cx="1261872" cy="1600200"/>
          </a:xfrm>
          <a:prstGeom prst="roundRect">
            <a:avLst>
              <a:gd name="adj" fmla="val 5797"/>
            </a:avLst>
          </a:prstGeom>
          <a:solidFill>
            <a:srgbClr val="12355B"/>
          </a:solidFill>
          <a:ln w="12700">
            <a:solidFill>
              <a:srgbClr val="12355B"/>
            </a:solidFill>
            <a:prstDash val="solid"/>
          </a:ln>
        </p:spPr>
      </p:sp>
      <p:sp>
        <p:nvSpPr>
          <p:cNvPr id="14" name="Text 12"/>
          <p:cNvSpPr txBox="1"/>
          <p:nvPr/>
        </p:nvSpPr>
        <p:spPr>
          <a:xfrm>
            <a:off x="3346704" y="2011680"/>
            <a:ext cx="1261872"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15" name="Text 13"/>
          <p:cNvSpPr txBox="1"/>
          <p:nvPr/>
        </p:nvSpPr>
        <p:spPr>
          <a:xfrm>
            <a:off x="3346704" y="3566160"/>
            <a:ext cx="1261872" cy="731520"/>
          </a:xfrm>
          <a:prstGeom prst="rect">
            <a:avLst/>
          </a:prstGeom>
          <a:noFill/>
          <a:ln/>
        </p:spPr>
        <p:txBody>
          <a:bodyPr wrap="square" lIns="0" tIns="0" rIns="0" bIns="0" rtlCol="0" anchor="t"/>
          <a:lstStyle/>
          <a:p>
            <a:pPr algn="ctr" indent="0" marL="0">
              <a:buNone/>
            </a:pPr>
            <a:r>
              <a:rPr lang="en-US" sz="1150" dirty="0">
                <a:solidFill>
                  <a:srgbClr val="1F2A36"/>
                </a:solidFill>
                <a:latin typeface="Arial" pitchFamily="34" charset="0"/>
                <a:ea typeface="Arial" pitchFamily="34" charset="-122"/>
                <a:cs typeface="Arial" pitchFamily="34" charset="-120"/>
              </a:rPr>
              <a:t>Small to medium</a:t>
            </a:r>
            <a:endParaRPr lang="en-US" sz="1150" dirty="0"/>
          </a:p>
        </p:txBody>
      </p:sp>
      <p:sp>
        <p:nvSpPr>
          <p:cNvPr id="16" name="Shape 14"/>
          <p:cNvSpPr/>
          <p:nvPr/>
        </p:nvSpPr>
        <p:spPr>
          <a:xfrm>
            <a:off x="4745736" y="1828800"/>
            <a:ext cx="1261872" cy="1600200"/>
          </a:xfrm>
          <a:prstGeom prst="roundRect">
            <a:avLst>
              <a:gd name="adj" fmla="val 5797"/>
            </a:avLst>
          </a:prstGeom>
          <a:solidFill>
            <a:srgbClr val="0A8F8F"/>
          </a:solidFill>
          <a:ln w="12700">
            <a:solidFill>
              <a:srgbClr val="0A8F8F"/>
            </a:solidFill>
            <a:prstDash val="solid"/>
          </a:ln>
        </p:spPr>
      </p:sp>
      <p:sp>
        <p:nvSpPr>
          <p:cNvPr id="17" name="Text 15"/>
          <p:cNvSpPr txBox="1"/>
          <p:nvPr/>
        </p:nvSpPr>
        <p:spPr>
          <a:xfrm>
            <a:off x="4745736" y="2011680"/>
            <a:ext cx="1261872"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18" name="Text 16"/>
          <p:cNvSpPr txBox="1"/>
          <p:nvPr/>
        </p:nvSpPr>
        <p:spPr>
          <a:xfrm>
            <a:off x="4745736" y="3566160"/>
            <a:ext cx="1261872" cy="731520"/>
          </a:xfrm>
          <a:prstGeom prst="rect">
            <a:avLst/>
          </a:prstGeom>
          <a:noFill/>
          <a:ln/>
        </p:spPr>
        <p:txBody>
          <a:bodyPr wrap="square" lIns="0" tIns="0" rIns="0" bIns="0" rtlCol="0" anchor="t"/>
          <a:lstStyle/>
          <a:p>
            <a:pPr algn="ctr" indent="0" marL="0">
              <a:buNone/>
            </a:pPr>
            <a:r>
              <a:rPr lang="en-US" sz="1150" dirty="0">
                <a:solidFill>
                  <a:srgbClr val="1F2A36"/>
                </a:solidFill>
                <a:latin typeface="Arial" pitchFamily="34" charset="0"/>
                <a:ea typeface="Arial" pitchFamily="34" charset="-122"/>
                <a:cs typeface="Arial" pitchFamily="34" charset="-120"/>
              </a:rPr>
              <a:t>Medium</a:t>
            </a:r>
            <a:endParaRPr lang="en-US" sz="1150" dirty="0"/>
          </a:p>
        </p:txBody>
      </p:sp>
      <p:sp>
        <p:nvSpPr>
          <p:cNvPr id="19" name="Shape 17"/>
          <p:cNvSpPr/>
          <p:nvPr/>
        </p:nvSpPr>
        <p:spPr>
          <a:xfrm>
            <a:off x="6144768" y="1828800"/>
            <a:ext cx="1261872" cy="1600200"/>
          </a:xfrm>
          <a:prstGeom prst="roundRect">
            <a:avLst>
              <a:gd name="adj" fmla="val 5797"/>
            </a:avLst>
          </a:prstGeom>
          <a:solidFill>
            <a:srgbClr val="12355B"/>
          </a:solidFill>
          <a:ln w="12700">
            <a:solidFill>
              <a:srgbClr val="12355B"/>
            </a:solidFill>
            <a:prstDash val="solid"/>
          </a:ln>
        </p:spPr>
      </p:sp>
      <p:sp>
        <p:nvSpPr>
          <p:cNvPr id="20" name="Text 18"/>
          <p:cNvSpPr txBox="1"/>
          <p:nvPr/>
        </p:nvSpPr>
        <p:spPr>
          <a:xfrm>
            <a:off x="6144768" y="2011680"/>
            <a:ext cx="1261872"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8</a:t>
            </a:r>
            <a:endParaRPr lang="en-US" sz="4000" dirty="0"/>
          </a:p>
        </p:txBody>
      </p:sp>
      <p:sp>
        <p:nvSpPr>
          <p:cNvPr id="21" name="Text 19"/>
          <p:cNvSpPr txBox="1"/>
          <p:nvPr/>
        </p:nvSpPr>
        <p:spPr>
          <a:xfrm>
            <a:off x="6144768" y="3566160"/>
            <a:ext cx="1261872" cy="731520"/>
          </a:xfrm>
          <a:prstGeom prst="rect">
            <a:avLst/>
          </a:prstGeom>
          <a:noFill/>
          <a:ln/>
        </p:spPr>
        <p:txBody>
          <a:bodyPr wrap="square" lIns="0" tIns="0" rIns="0" bIns="0" rtlCol="0" anchor="t"/>
          <a:lstStyle/>
          <a:p>
            <a:pPr algn="ctr" indent="0" marL="0">
              <a:buNone/>
            </a:pPr>
            <a:r>
              <a:rPr lang="en-US" sz="1150" dirty="0">
                <a:solidFill>
                  <a:srgbClr val="1F2A36"/>
                </a:solidFill>
                <a:latin typeface="Arial" pitchFamily="34" charset="0"/>
                <a:ea typeface="Arial" pitchFamily="34" charset="-122"/>
                <a:cs typeface="Arial" pitchFamily="34" charset="-120"/>
              </a:rPr>
              <a:t>Large</a:t>
            </a:r>
            <a:endParaRPr lang="en-US" sz="1150" dirty="0"/>
          </a:p>
        </p:txBody>
      </p:sp>
      <p:sp>
        <p:nvSpPr>
          <p:cNvPr id="22" name="Shape 20"/>
          <p:cNvSpPr/>
          <p:nvPr/>
        </p:nvSpPr>
        <p:spPr>
          <a:xfrm>
            <a:off x="7543800" y="1828800"/>
            <a:ext cx="1261872" cy="1600200"/>
          </a:xfrm>
          <a:prstGeom prst="roundRect">
            <a:avLst>
              <a:gd name="adj" fmla="val 5797"/>
            </a:avLst>
          </a:prstGeom>
          <a:solidFill>
            <a:srgbClr val="E6A23C"/>
          </a:solidFill>
          <a:ln w="12700">
            <a:solidFill>
              <a:srgbClr val="E6A23C"/>
            </a:solidFill>
            <a:prstDash val="solid"/>
          </a:ln>
        </p:spPr>
      </p:sp>
      <p:sp>
        <p:nvSpPr>
          <p:cNvPr id="23" name="Text 21"/>
          <p:cNvSpPr txBox="1"/>
          <p:nvPr/>
        </p:nvSpPr>
        <p:spPr>
          <a:xfrm>
            <a:off x="7543800" y="2011680"/>
            <a:ext cx="1261872"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13</a:t>
            </a:r>
            <a:endParaRPr lang="en-US" sz="4000" dirty="0"/>
          </a:p>
        </p:txBody>
      </p:sp>
      <p:sp>
        <p:nvSpPr>
          <p:cNvPr id="24" name="Text 22"/>
          <p:cNvSpPr txBox="1"/>
          <p:nvPr/>
        </p:nvSpPr>
        <p:spPr>
          <a:xfrm>
            <a:off x="7543800" y="3566160"/>
            <a:ext cx="1261872" cy="731520"/>
          </a:xfrm>
          <a:prstGeom prst="rect">
            <a:avLst/>
          </a:prstGeom>
          <a:noFill/>
          <a:ln/>
        </p:spPr>
        <p:txBody>
          <a:bodyPr wrap="square" lIns="0" tIns="0" rIns="0" bIns="0" rtlCol="0" anchor="t"/>
          <a:lstStyle/>
          <a:p>
            <a:pPr algn="ctr" indent="0" marL="0">
              <a:buNone/>
            </a:pPr>
            <a:r>
              <a:rPr lang="en-US" sz="1150" dirty="0">
                <a:solidFill>
                  <a:srgbClr val="1F2A36"/>
                </a:solidFill>
                <a:latin typeface="Arial" pitchFamily="34" charset="0"/>
                <a:ea typeface="Arial" pitchFamily="34" charset="-122"/>
                <a:cs typeface="Arial" pitchFamily="34" charset="-120"/>
              </a:rPr>
              <a:t>Very large; consider splitting</a:t>
            </a:r>
            <a:endParaRPr lang="en-US" sz="1150" dirty="0"/>
          </a:p>
        </p:txBody>
      </p:sp>
      <p:sp>
        <p:nvSpPr>
          <p:cNvPr id="25" name="Shape 23"/>
          <p:cNvSpPr/>
          <p:nvPr/>
        </p:nvSpPr>
        <p:spPr>
          <a:xfrm>
            <a:off x="8942832" y="1828800"/>
            <a:ext cx="1261872" cy="1600200"/>
          </a:xfrm>
          <a:prstGeom prst="roundRect">
            <a:avLst>
              <a:gd name="adj" fmla="val 5797"/>
            </a:avLst>
          </a:prstGeom>
          <a:solidFill>
            <a:srgbClr val="B04A3A"/>
          </a:solidFill>
          <a:ln w="12700">
            <a:solidFill>
              <a:srgbClr val="B04A3A"/>
            </a:solidFill>
            <a:prstDash val="solid"/>
          </a:ln>
        </p:spPr>
      </p:sp>
      <p:sp>
        <p:nvSpPr>
          <p:cNvPr id="26" name="Text 24"/>
          <p:cNvSpPr txBox="1"/>
          <p:nvPr/>
        </p:nvSpPr>
        <p:spPr>
          <a:xfrm>
            <a:off x="8942832" y="2011680"/>
            <a:ext cx="1261872"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20+</a:t>
            </a:r>
            <a:endParaRPr lang="en-US" sz="4000" dirty="0"/>
          </a:p>
        </p:txBody>
      </p:sp>
      <p:sp>
        <p:nvSpPr>
          <p:cNvPr id="27" name="Text 25"/>
          <p:cNvSpPr txBox="1"/>
          <p:nvPr/>
        </p:nvSpPr>
        <p:spPr>
          <a:xfrm>
            <a:off x="8942832" y="3566160"/>
            <a:ext cx="1261872" cy="731520"/>
          </a:xfrm>
          <a:prstGeom prst="rect">
            <a:avLst/>
          </a:prstGeom>
          <a:noFill/>
          <a:ln/>
        </p:spPr>
        <p:txBody>
          <a:bodyPr wrap="square" lIns="0" tIns="0" rIns="0" bIns="0" rtlCol="0" anchor="t"/>
          <a:lstStyle/>
          <a:p>
            <a:pPr algn="ctr" indent="0" marL="0">
              <a:buNone/>
            </a:pPr>
            <a:r>
              <a:rPr lang="en-US" sz="1150" dirty="0">
                <a:solidFill>
                  <a:srgbClr val="1F2A36"/>
                </a:solidFill>
                <a:latin typeface="Arial" pitchFamily="34" charset="0"/>
                <a:ea typeface="Arial" pitchFamily="34" charset="-122"/>
                <a:cs typeface="Arial" pitchFamily="34" charset="-120"/>
              </a:rPr>
              <a:t>Too big; split before a Sprint</a:t>
            </a:r>
            <a:endParaRPr lang="en-US" sz="1150" dirty="0"/>
          </a:p>
        </p:txBody>
      </p:sp>
      <p:sp>
        <p:nvSpPr>
          <p:cNvPr id="28" name="Shape 26"/>
          <p:cNvSpPr/>
          <p:nvPr/>
        </p:nvSpPr>
        <p:spPr>
          <a:xfrm>
            <a:off x="10341864" y="1828800"/>
            <a:ext cx="1261872" cy="1600200"/>
          </a:xfrm>
          <a:prstGeom prst="roundRect">
            <a:avLst>
              <a:gd name="adj" fmla="val 5797"/>
            </a:avLst>
          </a:prstGeom>
          <a:solidFill>
            <a:srgbClr val="5E6E7E"/>
          </a:solidFill>
          <a:ln w="12700">
            <a:solidFill>
              <a:srgbClr val="5E6E7E"/>
            </a:solidFill>
            <a:prstDash val="solid"/>
          </a:ln>
        </p:spPr>
      </p:sp>
      <p:sp>
        <p:nvSpPr>
          <p:cNvPr id="29" name="Text 27"/>
          <p:cNvSpPr txBox="1"/>
          <p:nvPr/>
        </p:nvSpPr>
        <p:spPr>
          <a:xfrm>
            <a:off x="10341864" y="2011680"/>
            <a:ext cx="1261872"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a:t>
            </a:r>
            <a:endParaRPr lang="en-US" sz="4000" dirty="0"/>
          </a:p>
        </p:txBody>
      </p:sp>
      <p:sp>
        <p:nvSpPr>
          <p:cNvPr id="30" name="Text 28"/>
          <p:cNvSpPr txBox="1"/>
          <p:nvPr/>
        </p:nvSpPr>
        <p:spPr>
          <a:xfrm>
            <a:off x="10341864" y="3566160"/>
            <a:ext cx="1261872" cy="731520"/>
          </a:xfrm>
          <a:prstGeom prst="rect">
            <a:avLst/>
          </a:prstGeom>
          <a:noFill/>
          <a:ln/>
        </p:spPr>
        <p:txBody>
          <a:bodyPr wrap="square" lIns="0" tIns="0" rIns="0" bIns="0" rtlCol="0" anchor="t"/>
          <a:lstStyle/>
          <a:p>
            <a:pPr algn="ctr" indent="0" marL="0">
              <a:buNone/>
            </a:pPr>
            <a:r>
              <a:rPr lang="en-US" sz="1150" dirty="0">
                <a:solidFill>
                  <a:srgbClr val="1F2A36"/>
                </a:solidFill>
                <a:latin typeface="Arial" pitchFamily="34" charset="0"/>
                <a:ea typeface="Arial" pitchFamily="34" charset="-122"/>
                <a:cs typeface="Arial" pitchFamily="34" charset="-120"/>
              </a:rPr>
              <a:t>Not enough information</a:t>
            </a:r>
            <a:endParaRPr lang="en-US" sz="1150" dirty="0"/>
          </a:p>
        </p:txBody>
      </p:sp>
      <p:sp>
        <p:nvSpPr>
          <p:cNvPr id="31" name="Text 29"/>
          <p:cNvSpPr txBox="1"/>
          <p:nvPr/>
        </p:nvSpPr>
        <p:spPr>
          <a:xfrm>
            <a:off x="548640" y="4526280"/>
            <a:ext cx="3474720" cy="365760"/>
          </a:xfrm>
          <a:prstGeom prst="rect">
            <a:avLst/>
          </a:prstGeom>
          <a:noFill/>
          <a:ln/>
        </p:spPr>
        <p:txBody>
          <a:bodyPr wrap="square" lIns="0" tIns="0" rIns="0" bIns="0" rtlCol="0" anchor="t"/>
          <a:lstStyle/>
          <a:p>
            <a:pPr indent="0" marL="0">
              <a:buNone/>
            </a:pPr>
            <a:r>
              <a:rPr lang="en-US" sz="1500" b="1" dirty="0">
                <a:solidFill>
                  <a:srgbClr val="0B1F33"/>
                </a:solidFill>
                <a:latin typeface="Arial" pitchFamily="34" charset="0"/>
                <a:ea typeface="Arial" pitchFamily="34" charset="-122"/>
                <a:cs typeface="Arial" pitchFamily="34" charset="-120"/>
              </a:rPr>
              <a:t>Why not 1 to 10?</a:t>
            </a:r>
            <a:endParaRPr lang="en-US" sz="1500" dirty="0"/>
          </a:p>
        </p:txBody>
      </p:sp>
      <p:sp>
        <p:nvSpPr>
          <p:cNvPr id="32" name="Text 30"/>
          <p:cNvSpPr txBox="1"/>
          <p:nvPr/>
        </p:nvSpPr>
        <p:spPr>
          <a:xfrm>
            <a:off x="548640" y="4919472"/>
            <a:ext cx="3474720" cy="822960"/>
          </a:xfrm>
          <a:prstGeom prst="rect">
            <a:avLst/>
          </a:prstGeom>
          <a:noFill/>
          <a:ln/>
        </p:spPr>
        <p:txBody>
          <a:bodyPr wrap="square" lIns="0" tIns="0" rIns="0" bIns="0" rtlCol="0" anchor="t"/>
          <a:lstStyle/>
          <a:p>
            <a:pPr indent="0" marL="0">
              <a:buNone/>
            </a:pPr>
            <a:r>
              <a:rPr lang="en-US" sz="1250" dirty="0">
                <a:solidFill>
                  <a:srgbClr val="1F2A36"/>
                </a:solidFill>
                <a:latin typeface="Arial" pitchFamily="34" charset="0"/>
                <a:ea typeface="Arial" pitchFamily="34" charset="-122"/>
                <a:cs typeface="Arial" pitchFamily="34" charset="-120"/>
              </a:rPr>
              <a:t>Nobody can reliably tell a 6 from a 7. Wider gaps force a clear choice.</a:t>
            </a:r>
            <a:endParaRPr lang="en-US" sz="1250" dirty="0"/>
          </a:p>
        </p:txBody>
      </p:sp>
      <p:sp>
        <p:nvSpPr>
          <p:cNvPr id="33" name="Text 31"/>
          <p:cNvSpPr txBox="1"/>
          <p:nvPr/>
        </p:nvSpPr>
        <p:spPr>
          <a:xfrm>
            <a:off x="4297680" y="4526280"/>
            <a:ext cx="3474720" cy="365760"/>
          </a:xfrm>
          <a:prstGeom prst="rect">
            <a:avLst/>
          </a:prstGeom>
          <a:noFill/>
          <a:ln/>
        </p:spPr>
        <p:txBody>
          <a:bodyPr wrap="square" lIns="0" tIns="0" rIns="0" bIns="0" rtlCol="0" anchor="t"/>
          <a:lstStyle/>
          <a:p>
            <a:pPr indent="0" marL="0">
              <a:buNone/>
            </a:pPr>
            <a:r>
              <a:rPr lang="en-US" sz="1500" b="1" dirty="0">
                <a:solidFill>
                  <a:srgbClr val="0B1F33"/>
                </a:solidFill>
                <a:latin typeface="Arial" pitchFamily="34" charset="0"/>
                <a:ea typeface="Arial" pitchFamily="34" charset="-122"/>
                <a:cs typeface="Arial" pitchFamily="34" charset="-120"/>
              </a:rPr>
              <a:t>Why do gaps grow?</a:t>
            </a:r>
            <a:endParaRPr lang="en-US" sz="1500" dirty="0"/>
          </a:p>
        </p:txBody>
      </p:sp>
      <p:sp>
        <p:nvSpPr>
          <p:cNvPr id="34" name="Text 32"/>
          <p:cNvSpPr txBox="1"/>
          <p:nvPr/>
        </p:nvSpPr>
        <p:spPr>
          <a:xfrm>
            <a:off x="4297680" y="4919472"/>
            <a:ext cx="3474720" cy="822960"/>
          </a:xfrm>
          <a:prstGeom prst="rect">
            <a:avLst/>
          </a:prstGeom>
          <a:noFill/>
          <a:ln/>
        </p:spPr>
        <p:txBody>
          <a:bodyPr wrap="square" lIns="0" tIns="0" rIns="0" bIns="0" rtlCol="0" anchor="t"/>
          <a:lstStyle/>
          <a:p>
            <a:pPr indent="0" marL="0">
              <a:buNone/>
            </a:pPr>
            <a:r>
              <a:rPr lang="en-US" sz="1250" dirty="0">
                <a:solidFill>
                  <a:srgbClr val="1F2A36"/>
                </a:solidFill>
                <a:latin typeface="Arial" pitchFamily="34" charset="0"/>
                <a:ea typeface="Arial" pitchFamily="34" charset="-122"/>
                <a:cs typeface="Arial" pitchFamily="34" charset="-120"/>
              </a:rPr>
              <a:t>Bigger items carry more uncertainty, so precision there is false comfort.</a:t>
            </a:r>
            <a:endParaRPr lang="en-US" sz="1250" dirty="0"/>
          </a:p>
        </p:txBody>
      </p:sp>
      <p:sp>
        <p:nvSpPr>
          <p:cNvPr id="35" name="Text 33"/>
          <p:cNvSpPr txBox="1"/>
          <p:nvPr/>
        </p:nvSpPr>
        <p:spPr>
          <a:xfrm>
            <a:off x="8046720" y="4526280"/>
            <a:ext cx="3474720" cy="365760"/>
          </a:xfrm>
          <a:prstGeom prst="rect">
            <a:avLst/>
          </a:prstGeom>
          <a:noFill/>
          <a:ln/>
        </p:spPr>
        <p:txBody>
          <a:bodyPr wrap="square" lIns="0" tIns="0" rIns="0" bIns="0" rtlCol="0" anchor="t"/>
          <a:lstStyle/>
          <a:p>
            <a:pPr indent="0" marL="0">
              <a:buNone/>
            </a:pPr>
            <a:r>
              <a:rPr lang="en-US" sz="1500" b="1" dirty="0">
                <a:solidFill>
                  <a:srgbClr val="0B1F33"/>
                </a:solidFill>
                <a:latin typeface="Arial" pitchFamily="34" charset="0"/>
                <a:ea typeface="Arial" pitchFamily="34" charset="-122"/>
                <a:cs typeface="Arial" pitchFamily="34" charset="-120"/>
              </a:rPr>
              <a:t>What about 0?</a:t>
            </a:r>
            <a:endParaRPr lang="en-US" sz="1500" dirty="0"/>
          </a:p>
        </p:txBody>
      </p:sp>
      <p:sp>
        <p:nvSpPr>
          <p:cNvPr id="36" name="Text 34"/>
          <p:cNvSpPr txBox="1"/>
          <p:nvPr/>
        </p:nvSpPr>
        <p:spPr>
          <a:xfrm>
            <a:off x="8046720" y="4919472"/>
            <a:ext cx="3474720" cy="822960"/>
          </a:xfrm>
          <a:prstGeom prst="rect">
            <a:avLst/>
          </a:prstGeom>
          <a:noFill/>
          <a:ln/>
        </p:spPr>
        <p:txBody>
          <a:bodyPr wrap="square" lIns="0" tIns="0" rIns="0" bIns="0" rtlCol="0" anchor="t"/>
          <a:lstStyle/>
          <a:p>
            <a:pPr indent="0" marL="0">
              <a:buNone/>
            </a:pPr>
            <a:r>
              <a:rPr lang="en-US" sz="1250" dirty="0">
                <a:solidFill>
                  <a:srgbClr val="1F2A36"/>
                </a:solidFill>
                <a:latin typeface="Arial" pitchFamily="34" charset="0"/>
                <a:ea typeface="Arial" pitchFamily="34" charset="-122"/>
                <a:cs typeface="Arial" pitchFamily="34" charset="-120"/>
              </a:rPr>
              <a:t>Keep it for items with negligible effort, such as a configuration switch.</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REFERENCE STORIES</a:t>
            </a:r>
            <a:endParaRPr lang="en-US" sz="1000" dirty="0"/>
          </a:p>
        </p:txBody>
      </p:sp>
      <p:sp>
        <p:nvSpPr>
          <p:cNvPr id="3" name="Text 1"/>
          <p:cNvSpPr txBox="1"/>
          <p:nvPr/>
        </p:nvSpPr>
        <p:spPr>
          <a:xfrm>
            <a:off x="7040880" y="320040"/>
            <a:ext cx="45994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Estimating with Story Points  |  Team Training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Anchor every estimate to a small set of real, completed stories the whole team remembers</a:t>
            </a:r>
            <a:endParaRPr lang="en-US" sz="2400" dirty="0"/>
          </a:p>
        </p:txBody>
      </p:sp>
      <p:sp>
        <p:nvSpPr>
          <p:cNvPr id="5" name="Text 3"/>
          <p:cNvSpPr txBox="1"/>
          <p:nvPr/>
        </p:nvSpPr>
        <p:spPr>
          <a:xfrm>
            <a:off x="548640" y="6355080"/>
            <a:ext cx="1024128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Team analysis. Story points are a complementary practice; the Scrum Guide (2020) does not prescribe an estimation technique</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6</a:t>
            </a:r>
            <a:endParaRPr lang="en-US" sz="900" dirty="0"/>
          </a:p>
        </p:txBody>
      </p:sp>
      <p:sp>
        <p:nvSpPr>
          <p:cNvPr id="7" name="Text 5"/>
          <p:cNvSpPr txBox="1"/>
          <p:nvPr/>
        </p:nvSpPr>
        <p:spPr>
          <a:xfrm>
            <a:off x="548640" y="1737360"/>
            <a:ext cx="6400800" cy="274320"/>
          </a:xfrm>
          <a:prstGeom prst="rect">
            <a:avLst/>
          </a:prstGeom>
          <a:noFill/>
          <a:ln/>
        </p:spPr>
        <p:txBody>
          <a:bodyPr wrap="square" lIns="0" tIns="0" rIns="0" bIns="0" rtlCol="0" anchor="t"/>
          <a:lstStyle/>
          <a:p>
            <a:pPr indent="0" marL="0">
              <a:buNone/>
            </a:pPr>
            <a:r>
              <a:rPr lang="en-US" sz="1000" b="1" spc="200" kern="0" dirty="0">
                <a:solidFill>
                  <a:srgbClr val="5E6E7E"/>
                </a:solidFill>
                <a:latin typeface="Arial" pitchFamily="34" charset="0"/>
                <a:ea typeface="Arial" pitchFamily="34" charset="-122"/>
                <a:cs typeface="Arial" pitchFamily="34" charset="-120"/>
              </a:rPr>
              <a:t>ILLUSTRATIVE REFERENCE LADDER</a:t>
            </a:r>
            <a:endParaRPr lang="en-US" sz="1000" dirty="0"/>
          </a:p>
        </p:txBody>
      </p:sp>
      <p:sp>
        <p:nvSpPr>
          <p:cNvPr id="8" name="Shape 6"/>
          <p:cNvSpPr/>
          <p:nvPr/>
        </p:nvSpPr>
        <p:spPr>
          <a:xfrm>
            <a:off x="548640" y="2103120"/>
            <a:ext cx="6766560" cy="1005840"/>
          </a:xfrm>
          <a:prstGeom prst="rect">
            <a:avLst/>
          </a:prstGeom>
          <a:solidFill>
            <a:srgbClr val="EEF3F6"/>
          </a:solidFill>
          <a:ln w="12700">
            <a:solidFill>
              <a:srgbClr val="EEF3F6"/>
            </a:solidFill>
            <a:prstDash val="solid"/>
          </a:ln>
        </p:spPr>
      </p:sp>
      <p:sp>
        <p:nvSpPr>
          <p:cNvPr id="9" name="Shape 7"/>
          <p:cNvSpPr/>
          <p:nvPr/>
        </p:nvSpPr>
        <p:spPr>
          <a:xfrm>
            <a:off x="731520" y="2267712"/>
            <a:ext cx="685800" cy="685800"/>
          </a:xfrm>
          <a:prstGeom prst="ellipse">
            <a:avLst/>
          </a:prstGeom>
          <a:solidFill>
            <a:srgbClr val="12355B"/>
          </a:solidFill>
          <a:ln w="12700">
            <a:solidFill>
              <a:srgbClr val="12355B"/>
            </a:solidFill>
            <a:prstDash val="solid"/>
          </a:ln>
        </p:spPr>
      </p:sp>
      <p:sp>
        <p:nvSpPr>
          <p:cNvPr id="10" name="Text 8"/>
          <p:cNvSpPr txBox="1"/>
          <p:nvPr/>
        </p:nvSpPr>
        <p:spPr>
          <a:xfrm>
            <a:off x="731520" y="2267712"/>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1" name="Text 9"/>
          <p:cNvSpPr txBox="1"/>
          <p:nvPr/>
        </p:nvSpPr>
        <p:spPr>
          <a:xfrm>
            <a:off x="1645920" y="2221992"/>
            <a:ext cx="5486400" cy="457200"/>
          </a:xfrm>
          <a:prstGeom prst="rect">
            <a:avLst/>
          </a:prstGeom>
          <a:noFill/>
          <a:ln/>
        </p:spPr>
        <p:txBody>
          <a:bodyPr wrap="square" lIns="0" tIns="0" rIns="0" bIns="0" rtlCol="0" anchor="t"/>
          <a:lstStyle/>
          <a:p>
            <a:pPr indent="0" marL="0">
              <a:buNone/>
            </a:pPr>
            <a:r>
              <a:rPr lang="en-US" sz="1350" b="1" dirty="0">
                <a:solidFill>
                  <a:srgbClr val="0B1F33"/>
                </a:solidFill>
                <a:latin typeface="Arial" pitchFamily="34" charset="0"/>
                <a:ea typeface="Arial" pitchFamily="34" charset="-122"/>
                <a:cs typeface="Arial" pitchFamily="34" charset="-120"/>
              </a:rPr>
              <a:t>Change the wording and styling of an error message on the login page</a:t>
            </a:r>
            <a:endParaRPr lang="en-US" sz="1350" dirty="0"/>
          </a:p>
        </p:txBody>
      </p:sp>
      <p:sp>
        <p:nvSpPr>
          <p:cNvPr id="12" name="Text 10"/>
          <p:cNvSpPr txBox="1"/>
          <p:nvPr/>
        </p:nvSpPr>
        <p:spPr>
          <a:xfrm>
            <a:off x="1645920" y="2697480"/>
            <a:ext cx="5486400" cy="320040"/>
          </a:xfrm>
          <a:prstGeom prst="rect">
            <a:avLst/>
          </a:prstGeom>
          <a:noFill/>
          <a:ln/>
        </p:spPr>
        <p:txBody>
          <a:bodyPr wrap="square" lIns="0" tIns="0" rIns="0" bIns="0" rtlCol="0" anchor="t"/>
          <a:lstStyle/>
          <a:p>
            <a:pPr indent="0" marL="0">
              <a:buNone/>
            </a:pPr>
            <a:r>
              <a:rPr lang="en-US" sz="1200" i="1" dirty="0">
                <a:solidFill>
                  <a:srgbClr val="5E6E7E"/>
                </a:solidFill>
                <a:latin typeface="Arial" pitchFamily="34" charset="0"/>
                <a:ea typeface="Arial" pitchFamily="34" charset="-122"/>
                <a:cs typeface="Arial" pitchFamily="34" charset="-120"/>
              </a:rPr>
              <a:t>One screen, no logic change, quick to test</a:t>
            </a:r>
            <a:endParaRPr lang="en-US" sz="1200" dirty="0"/>
          </a:p>
        </p:txBody>
      </p:sp>
      <p:sp>
        <p:nvSpPr>
          <p:cNvPr id="13" name="Shape 11"/>
          <p:cNvSpPr/>
          <p:nvPr/>
        </p:nvSpPr>
        <p:spPr>
          <a:xfrm>
            <a:off x="548640" y="3291840"/>
            <a:ext cx="6766560" cy="1005840"/>
          </a:xfrm>
          <a:prstGeom prst="rect">
            <a:avLst/>
          </a:prstGeom>
          <a:solidFill>
            <a:srgbClr val="EEF3F6"/>
          </a:solidFill>
          <a:ln w="12700">
            <a:solidFill>
              <a:srgbClr val="EEF3F6"/>
            </a:solidFill>
            <a:prstDash val="solid"/>
          </a:ln>
        </p:spPr>
      </p:sp>
      <p:sp>
        <p:nvSpPr>
          <p:cNvPr id="14" name="Shape 12"/>
          <p:cNvSpPr/>
          <p:nvPr/>
        </p:nvSpPr>
        <p:spPr>
          <a:xfrm>
            <a:off x="731520" y="3456432"/>
            <a:ext cx="685800" cy="685800"/>
          </a:xfrm>
          <a:prstGeom prst="ellipse">
            <a:avLst/>
          </a:prstGeom>
          <a:solidFill>
            <a:srgbClr val="0A8F8F"/>
          </a:solidFill>
          <a:ln w="12700">
            <a:solidFill>
              <a:srgbClr val="0A8F8F"/>
            </a:solidFill>
            <a:prstDash val="solid"/>
          </a:ln>
        </p:spPr>
      </p:sp>
      <p:sp>
        <p:nvSpPr>
          <p:cNvPr id="15" name="Text 13"/>
          <p:cNvSpPr txBox="1"/>
          <p:nvPr/>
        </p:nvSpPr>
        <p:spPr>
          <a:xfrm>
            <a:off x="731520" y="3456432"/>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1645920" y="3410712"/>
            <a:ext cx="5486400" cy="457200"/>
          </a:xfrm>
          <a:prstGeom prst="rect">
            <a:avLst/>
          </a:prstGeom>
          <a:noFill/>
          <a:ln/>
        </p:spPr>
        <p:txBody>
          <a:bodyPr wrap="square" lIns="0" tIns="0" rIns="0" bIns="0" rtlCol="0" anchor="t"/>
          <a:lstStyle/>
          <a:p>
            <a:pPr indent="0" marL="0">
              <a:buNone/>
            </a:pPr>
            <a:r>
              <a:rPr lang="en-US" sz="1350" b="1" dirty="0">
                <a:solidFill>
                  <a:srgbClr val="0B1F33"/>
                </a:solidFill>
                <a:latin typeface="Arial" pitchFamily="34" charset="0"/>
                <a:ea typeface="Arial" pitchFamily="34" charset="-122"/>
                <a:cs typeface="Arial" pitchFamily="34" charset="-120"/>
              </a:rPr>
              <a:t>Add a mandatory field to the customer form, with validation and storage</a:t>
            </a:r>
            <a:endParaRPr lang="en-US" sz="1350" dirty="0"/>
          </a:p>
        </p:txBody>
      </p:sp>
      <p:sp>
        <p:nvSpPr>
          <p:cNvPr id="17" name="Text 15"/>
          <p:cNvSpPr txBox="1"/>
          <p:nvPr/>
        </p:nvSpPr>
        <p:spPr>
          <a:xfrm>
            <a:off x="1645920" y="3886200"/>
            <a:ext cx="5486400" cy="320040"/>
          </a:xfrm>
          <a:prstGeom prst="rect">
            <a:avLst/>
          </a:prstGeom>
          <a:noFill/>
          <a:ln/>
        </p:spPr>
        <p:txBody>
          <a:bodyPr wrap="square" lIns="0" tIns="0" rIns="0" bIns="0" rtlCol="0" anchor="t"/>
          <a:lstStyle/>
          <a:p>
            <a:pPr indent="0" marL="0">
              <a:buNone/>
            </a:pPr>
            <a:r>
              <a:rPr lang="en-US" sz="1200" i="1" dirty="0">
                <a:solidFill>
                  <a:srgbClr val="5E6E7E"/>
                </a:solidFill>
                <a:latin typeface="Arial" pitchFamily="34" charset="0"/>
                <a:ea typeface="Arial" pitchFamily="34" charset="-122"/>
                <a:cs typeface="Arial" pitchFamily="34" charset="-120"/>
              </a:rPr>
              <a:t>Front end, back end and database; well understood</a:t>
            </a:r>
            <a:endParaRPr lang="en-US" sz="1200" dirty="0"/>
          </a:p>
        </p:txBody>
      </p:sp>
      <p:sp>
        <p:nvSpPr>
          <p:cNvPr id="18" name="Shape 16"/>
          <p:cNvSpPr/>
          <p:nvPr/>
        </p:nvSpPr>
        <p:spPr>
          <a:xfrm>
            <a:off x="548640" y="4480560"/>
            <a:ext cx="6766560" cy="1005840"/>
          </a:xfrm>
          <a:prstGeom prst="rect">
            <a:avLst/>
          </a:prstGeom>
          <a:solidFill>
            <a:srgbClr val="EEF3F6"/>
          </a:solidFill>
          <a:ln w="12700">
            <a:solidFill>
              <a:srgbClr val="EEF3F6"/>
            </a:solidFill>
            <a:prstDash val="solid"/>
          </a:ln>
        </p:spPr>
      </p:sp>
      <p:sp>
        <p:nvSpPr>
          <p:cNvPr id="19" name="Shape 17"/>
          <p:cNvSpPr/>
          <p:nvPr/>
        </p:nvSpPr>
        <p:spPr>
          <a:xfrm>
            <a:off x="731520" y="4645152"/>
            <a:ext cx="685800" cy="685800"/>
          </a:xfrm>
          <a:prstGeom prst="ellipse">
            <a:avLst/>
          </a:prstGeom>
          <a:solidFill>
            <a:srgbClr val="12355B"/>
          </a:solidFill>
          <a:ln w="12700">
            <a:solidFill>
              <a:srgbClr val="12355B"/>
            </a:solidFill>
            <a:prstDash val="solid"/>
          </a:ln>
        </p:spPr>
      </p:sp>
      <p:sp>
        <p:nvSpPr>
          <p:cNvPr id="20" name="Text 18"/>
          <p:cNvSpPr txBox="1"/>
          <p:nvPr/>
        </p:nvSpPr>
        <p:spPr>
          <a:xfrm>
            <a:off x="731520" y="4645152"/>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8</a:t>
            </a:r>
            <a:endParaRPr lang="en-US" sz="2200" dirty="0"/>
          </a:p>
        </p:txBody>
      </p:sp>
      <p:sp>
        <p:nvSpPr>
          <p:cNvPr id="21" name="Text 19"/>
          <p:cNvSpPr txBox="1"/>
          <p:nvPr/>
        </p:nvSpPr>
        <p:spPr>
          <a:xfrm>
            <a:off x="1645920" y="4599432"/>
            <a:ext cx="5486400" cy="457200"/>
          </a:xfrm>
          <a:prstGeom prst="rect">
            <a:avLst/>
          </a:prstGeom>
          <a:noFill/>
          <a:ln/>
        </p:spPr>
        <p:txBody>
          <a:bodyPr wrap="square" lIns="0" tIns="0" rIns="0" bIns="0" rtlCol="0" anchor="t"/>
          <a:lstStyle/>
          <a:p>
            <a:pPr indent="0" marL="0">
              <a:buNone/>
            </a:pPr>
            <a:r>
              <a:rPr lang="en-US" sz="1350" b="1" dirty="0">
                <a:solidFill>
                  <a:srgbClr val="0B1F33"/>
                </a:solidFill>
                <a:latin typeface="Arial" pitchFamily="34" charset="0"/>
                <a:ea typeface="Arial" pitchFamily="34" charset="-122"/>
                <a:cs typeface="Arial" pitchFamily="34" charset="-120"/>
              </a:rPr>
              <a:t>Integrate a new payment provider through its public API</a:t>
            </a:r>
            <a:endParaRPr lang="en-US" sz="1350" dirty="0"/>
          </a:p>
        </p:txBody>
      </p:sp>
      <p:sp>
        <p:nvSpPr>
          <p:cNvPr id="22" name="Text 20"/>
          <p:cNvSpPr txBox="1"/>
          <p:nvPr/>
        </p:nvSpPr>
        <p:spPr>
          <a:xfrm>
            <a:off x="1645920" y="5074920"/>
            <a:ext cx="5486400" cy="320040"/>
          </a:xfrm>
          <a:prstGeom prst="rect">
            <a:avLst/>
          </a:prstGeom>
          <a:noFill/>
          <a:ln/>
        </p:spPr>
        <p:txBody>
          <a:bodyPr wrap="square" lIns="0" tIns="0" rIns="0" bIns="0" rtlCol="0" anchor="t"/>
          <a:lstStyle/>
          <a:p>
            <a:pPr indent="0" marL="0">
              <a:buNone/>
            </a:pPr>
            <a:r>
              <a:rPr lang="en-US" sz="1200" i="1" dirty="0">
                <a:solidFill>
                  <a:srgbClr val="5E6E7E"/>
                </a:solidFill>
                <a:latin typeface="Arial" pitchFamily="34" charset="0"/>
                <a:ea typeface="Arial" pitchFamily="34" charset="-122"/>
                <a:cs typeface="Arial" pitchFamily="34" charset="-120"/>
              </a:rPr>
              <a:t>Several components, external dependency, some unknowns</a:t>
            </a:r>
            <a:endParaRPr lang="en-US" sz="1200" dirty="0"/>
          </a:p>
        </p:txBody>
      </p:sp>
      <p:sp>
        <p:nvSpPr>
          <p:cNvPr id="23" name="Shape 21"/>
          <p:cNvSpPr/>
          <p:nvPr/>
        </p:nvSpPr>
        <p:spPr>
          <a:xfrm>
            <a:off x="7772400" y="1737360"/>
            <a:ext cx="3840480" cy="4389120"/>
          </a:xfrm>
          <a:prstGeom prst="rect">
            <a:avLst/>
          </a:prstGeom>
          <a:solidFill>
            <a:srgbClr val="0B1F33"/>
          </a:solidFill>
          <a:ln w="12700">
            <a:solidFill>
              <a:srgbClr val="0B1F33"/>
            </a:solidFill>
            <a:prstDash val="solid"/>
          </a:ln>
        </p:spPr>
      </p:sp>
      <p:sp>
        <p:nvSpPr>
          <p:cNvPr id="24" name="Text 22"/>
          <p:cNvSpPr txBox="1"/>
          <p:nvPr/>
        </p:nvSpPr>
        <p:spPr>
          <a:xfrm>
            <a:off x="8092440" y="1965960"/>
            <a:ext cx="3200400" cy="274320"/>
          </a:xfrm>
          <a:prstGeom prst="rect">
            <a:avLst/>
          </a:prstGeom>
          <a:noFill/>
          <a:ln/>
        </p:spPr>
        <p:txBody>
          <a:bodyPr wrap="square" lIns="0" tIns="0" rIns="0" bIns="0" rtlCol="0" anchor="t"/>
          <a:lstStyle/>
          <a:p>
            <a:pPr indent="0" marL="0">
              <a:buNone/>
            </a:pPr>
            <a:r>
              <a:rPr lang="en-US" sz="1000" b="1" spc="200" kern="0" dirty="0">
                <a:solidFill>
                  <a:srgbClr val="7FD1D1"/>
                </a:solidFill>
                <a:latin typeface="Arial" pitchFamily="34" charset="0"/>
                <a:ea typeface="Arial" pitchFamily="34" charset="-122"/>
                <a:cs typeface="Arial" pitchFamily="34" charset="-120"/>
              </a:rPr>
              <a:t>HOW TO BUILD YOURS</a:t>
            </a:r>
            <a:endParaRPr lang="en-US" sz="1000" dirty="0"/>
          </a:p>
        </p:txBody>
      </p:sp>
      <p:sp>
        <p:nvSpPr>
          <p:cNvPr id="25" name="Text 23"/>
          <p:cNvSpPr txBox="1"/>
          <p:nvPr/>
        </p:nvSpPr>
        <p:spPr>
          <a:xfrm>
            <a:off x="8092440" y="2377440"/>
            <a:ext cx="3291840" cy="356616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FFFFFF"/>
                </a:solidFill>
                <a:latin typeface="Arial" pitchFamily="34" charset="0"/>
                <a:ea typeface="Arial" pitchFamily="34" charset="-122"/>
                <a:cs typeface="Arial" pitchFamily="34" charset="-120"/>
              </a:rPr>
              <a:t>Pick 3 to 5 completed stories the whole team worked on</a:t>
            </a:r>
            <a:endParaRPr lang="en-US" sz="1300" dirty="0"/>
          </a:p>
          <a:p>
            <a:pPr marL="342900" indent="-342900">
              <a:spcAft>
                <a:spcPts val="1000"/>
              </a:spcAft>
              <a:buSzPct val="100000"/>
              <a:buChar char="•"/>
            </a:pPr>
            <a:r>
              <a:rPr lang="en-US" sz="1300" dirty="0">
                <a:solidFill>
                  <a:srgbClr val="FFFFFF"/>
                </a:solidFill>
                <a:latin typeface="Arial" pitchFamily="34" charset="0"/>
                <a:ea typeface="Arial" pitchFamily="34" charset="-122"/>
                <a:cs typeface="Arial" pitchFamily="34" charset="-120"/>
              </a:rPr>
              <a:t>Agree their sizes together, spanning 1 to 8 points</a:t>
            </a:r>
            <a:endParaRPr lang="en-US" sz="1300" dirty="0"/>
          </a:p>
          <a:p>
            <a:pPr marL="342900" indent="-342900">
              <a:spcAft>
                <a:spcPts val="1000"/>
              </a:spcAft>
              <a:buSzPct val="100000"/>
              <a:buChar char="•"/>
            </a:pPr>
            <a:r>
              <a:rPr lang="en-US" sz="1300" dirty="0">
                <a:solidFill>
                  <a:srgbClr val="FFFFFF"/>
                </a:solidFill>
                <a:latin typeface="Arial" pitchFamily="34" charset="0"/>
                <a:ea typeface="Arial" pitchFamily="34" charset="-122"/>
                <a:cs typeface="Arial" pitchFamily="34" charset="-120"/>
              </a:rPr>
              <a:t>Display them at every refinement session</a:t>
            </a:r>
            <a:endParaRPr lang="en-US" sz="1300" dirty="0"/>
          </a:p>
          <a:p>
            <a:pPr marL="342900" indent="-342900">
              <a:spcAft>
                <a:spcPts val="1000"/>
              </a:spcAft>
              <a:buSzPct val="100000"/>
              <a:buChar char="•"/>
            </a:pPr>
            <a:r>
              <a:rPr lang="en-US" sz="1300" dirty="0">
                <a:solidFill>
                  <a:srgbClr val="FFFFFF"/>
                </a:solidFill>
                <a:latin typeface="Arial" pitchFamily="34" charset="0"/>
                <a:ea typeface="Arial" pitchFamily="34" charset="-122"/>
                <a:cs typeface="Arial" pitchFamily="34" charset="-120"/>
              </a:rPr>
              <a:t>Ask "is this bigger or smaller than our 3?"</a:t>
            </a:r>
            <a:endParaRPr lang="en-US" sz="1300" dirty="0"/>
          </a:p>
          <a:p>
            <a:pPr marL="342900" indent="-342900">
              <a:spcAft>
                <a:spcPts val="1000"/>
              </a:spcAft>
              <a:buSzPct val="100000"/>
              <a:buChar char="•"/>
            </a:pPr>
            <a:r>
              <a:rPr lang="en-US" sz="1300" dirty="0">
                <a:solidFill>
                  <a:srgbClr val="FFFFFF"/>
                </a:solidFill>
                <a:latin typeface="Arial" pitchFamily="34" charset="0"/>
                <a:ea typeface="Arial" pitchFamily="34" charset="-122"/>
                <a:cs typeface="Arial" pitchFamily="34" charset="-120"/>
              </a:rPr>
              <a:t>Revisit the set when the team or product changes significantly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PLANNING POKER, STEP BY STEP</a:t>
            </a:r>
            <a:endParaRPr lang="en-US" sz="1000" dirty="0"/>
          </a:p>
        </p:txBody>
      </p:sp>
      <p:sp>
        <p:nvSpPr>
          <p:cNvPr id="3" name="Text 1"/>
          <p:cNvSpPr txBox="1"/>
          <p:nvPr/>
        </p:nvSpPr>
        <p:spPr>
          <a:xfrm>
            <a:off x="7040880" y="320040"/>
            <a:ext cx="45994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Estimating with Story Points  |  Team Training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Planning Poker gives every Developer an equal voice and surfaces hidden assumptions in minutes</a:t>
            </a:r>
            <a:endParaRPr lang="en-US" sz="2400" dirty="0"/>
          </a:p>
        </p:txBody>
      </p:sp>
      <p:sp>
        <p:nvSpPr>
          <p:cNvPr id="5" name="Text 3"/>
          <p:cNvSpPr txBox="1"/>
          <p:nvPr/>
        </p:nvSpPr>
        <p:spPr>
          <a:xfrm>
            <a:off x="548640" y="6355080"/>
            <a:ext cx="1024128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M. Cohn, Agile Estimating and Planning (2005); team analysis</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7</a:t>
            </a:r>
            <a:endParaRPr lang="en-US" sz="900" dirty="0"/>
          </a:p>
        </p:txBody>
      </p:sp>
      <p:sp>
        <p:nvSpPr>
          <p:cNvPr id="7" name="Shape 5"/>
          <p:cNvSpPr/>
          <p:nvPr/>
        </p:nvSpPr>
        <p:spPr>
          <a:xfrm>
            <a:off x="548640" y="1874520"/>
            <a:ext cx="1920240" cy="2103120"/>
          </a:xfrm>
          <a:prstGeom prst="roundRect">
            <a:avLst>
              <a:gd name="adj" fmla="val 3810"/>
            </a:avLst>
          </a:prstGeom>
          <a:solidFill>
            <a:srgbClr val="EEF3F6"/>
          </a:solidFill>
          <a:ln w="12700">
            <a:solidFill>
              <a:srgbClr val="EEF3F6"/>
            </a:solidFill>
            <a:prstDash val="solid"/>
          </a:ln>
        </p:spPr>
      </p:sp>
      <p:sp>
        <p:nvSpPr>
          <p:cNvPr id="8" name="Text 6"/>
          <p:cNvSpPr txBox="1"/>
          <p:nvPr/>
        </p:nvSpPr>
        <p:spPr>
          <a:xfrm>
            <a:off x="731520" y="2011680"/>
            <a:ext cx="914400" cy="548640"/>
          </a:xfrm>
          <a:prstGeom prst="rect">
            <a:avLst/>
          </a:prstGeom>
          <a:noFill/>
          <a:ln/>
        </p:spPr>
        <p:txBody>
          <a:bodyPr wrap="square" lIns="0" tIns="0" rIns="0" bIns="0" rtlCol="0" anchor="t"/>
          <a:lstStyle/>
          <a:p>
            <a:pPr indent="0" marL="0">
              <a:buNone/>
            </a:pPr>
            <a:r>
              <a:rPr lang="en-US" sz="2800" b="1" dirty="0">
                <a:solidFill>
                  <a:srgbClr val="0A8F8F"/>
                </a:solidFill>
                <a:latin typeface="Cambria" pitchFamily="34" charset="0"/>
                <a:ea typeface="Cambria" pitchFamily="34" charset="-122"/>
                <a:cs typeface="Cambria" pitchFamily="34" charset="-120"/>
              </a:rPr>
              <a:t>1</a:t>
            </a:r>
            <a:endParaRPr lang="en-US" sz="2800" dirty="0"/>
          </a:p>
        </p:txBody>
      </p:sp>
      <p:sp>
        <p:nvSpPr>
          <p:cNvPr id="9" name="Text 7"/>
          <p:cNvSpPr txBox="1"/>
          <p:nvPr/>
        </p:nvSpPr>
        <p:spPr>
          <a:xfrm>
            <a:off x="731520" y="2606040"/>
            <a:ext cx="1600200" cy="365760"/>
          </a:xfrm>
          <a:prstGeom prst="rect">
            <a:avLst/>
          </a:prstGeom>
          <a:noFill/>
          <a:ln/>
        </p:spPr>
        <p:txBody>
          <a:bodyPr wrap="square" lIns="0" tIns="0" rIns="0" bIns="0" rtlCol="0" anchor="t"/>
          <a:lstStyle/>
          <a:p>
            <a:pPr indent="0" marL="0">
              <a:buNone/>
            </a:pPr>
            <a:r>
              <a:rPr lang="en-US" sz="1500" b="1" dirty="0">
                <a:solidFill>
                  <a:srgbClr val="0B1F33"/>
                </a:solidFill>
                <a:latin typeface="Arial" pitchFamily="34" charset="0"/>
                <a:ea typeface="Arial" pitchFamily="34" charset="-122"/>
                <a:cs typeface="Arial" pitchFamily="34" charset="-120"/>
              </a:rPr>
              <a:t>Present</a:t>
            </a:r>
            <a:endParaRPr lang="en-US" sz="1500" dirty="0"/>
          </a:p>
        </p:txBody>
      </p:sp>
      <p:sp>
        <p:nvSpPr>
          <p:cNvPr id="10" name="Text 8"/>
          <p:cNvSpPr txBox="1"/>
          <p:nvPr/>
        </p:nvSpPr>
        <p:spPr>
          <a:xfrm>
            <a:off x="731520" y="3017520"/>
            <a:ext cx="1600200" cy="868680"/>
          </a:xfrm>
          <a:prstGeom prst="rect">
            <a:avLst/>
          </a:prstGeom>
          <a:noFill/>
          <a:ln/>
        </p:spPr>
        <p:txBody>
          <a:bodyPr wrap="square" lIns="0" tIns="0" rIns="0" bIns="0" rtlCol="0" anchor="t"/>
          <a:lstStyle/>
          <a:p>
            <a:pPr indent="0" marL="0">
              <a:buNone/>
            </a:pPr>
            <a:r>
              <a:rPr lang="en-US" sz="1150" dirty="0">
                <a:solidFill>
                  <a:srgbClr val="0B1F33"/>
                </a:solidFill>
                <a:latin typeface="Arial" pitchFamily="34" charset="0"/>
                <a:ea typeface="Arial" pitchFamily="34" charset="-122"/>
                <a:cs typeface="Arial" pitchFamily="34" charset="-120"/>
              </a:rPr>
              <a:t>Product Owner reads the item and its acceptance criteria</a:t>
            </a:r>
            <a:endParaRPr lang="en-US" sz="1150" dirty="0"/>
          </a:p>
        </p:txBody>
      </p:sp>
      <p:sp>
        <p:nvSpPr>
          <p:cNvPr id="11" name="Shape 9"/>
          <p:cNvSpPr/>
          <p:nvPr/>
        </p:nvSpPr>
        <p:spPr>
          <a:xfrm>
            <a:off x="2496312" y="2926080"/>
            <a:ext cx="310896" cy="0"/>
          </a:xfrm>
          <a:prstGeom prst="line">
            <a:avLst/>
          </a:prstGeom>
          <a:noFill/>
          <a:ln w="19050">
            <a:solidFill>
              <a:srgbClr val="5E6E7E"/>
            </a:solidFill>
            <a:prstDash val="solid"/>
            <a:tailEnd type="triangle"/>
          </a:ln>
        </p:spPr>
      </p:sp>
      <p:sp>
        <p:nvSpPr>
          <p:cNvPr id="12" name="Shape 10"/>
          <p:cNvSpPr/>
          <p:nvPr/>
        </p:nvSpPr>
        <p:spPr>
          <a:xfrm>
            <a:off x="2834640" y="1874520"/>
            <a:ext cx="1920240" cy="2103120"/>
          </a:xfrm>
          <a:prstGeom prst="roundRect">
            <a:avLst>
              <a:gd name="adj" fmla="val 3810"/>
            </a:avLst>
          </a:prstGeom>
          <a:solidFill>
            <a:srgbClr val="EEF3F6"/>
          </a:solidFill>
          <a:ln w="12700">
            <a:solidFill>
              <a:srgbClr val="EEF3F6"/>
            </a:solidFill>
            <a:prstDash val="solid"/>
          </a:ln>
        </p:spPr>
      </p:sp>
      <p:sp>
        <p:nvSpPr>
          <p:cNvPr id="13" name="Text 11"/>
          <p:cNvSpPr txBox="1"/>
          <p:nvPr/>
        </p:nvSpPr>
        <p:spPr>
          <a:xfrm>
            <a:off x="3017520" y="2011680"/>
            <a:ext cx="914400" cy="548640"/>
          </a:xfrm>
          <a:prstGeom prst="rect">
            <a:avLst/>
          </a:prstGeom>
          <a:noFill/>
          <a:ln/>
        </p:spPr>
        <p:txBody>
          <a:bodyPr wrap="square" lIns="0" tIns="0" rIns="0" bIns="0" rtlCol="0" anchor="t"/>
          <a:lstStyle/>
          <a:p>
            <a:pPr indent="0" marL="0">
              <a:buNone/>
            </a:pPr>
            <a:r>
              <a:rPr lang="en-US" sz="2800" b="1" dirty="0">
                <a:solidFill>
                  <a:srgbClr val="0A8F8F"/>
                </a:solidFill>
                <a:latin typeface="Cambria" pitchFamily="34" charset="0"/>
                <a:ea typeface="Cambria" pitchFamily="34" charset="-122"/>
                <a:cs typeface="Cambria" pitchFamily="34" charset="-120"/>
              </a:rPr>
              <a:t>2</a:t>
            </a:r>
            <a:endParaRPr lang="en-US" sz="2800" dirty="0"/>
          </a:p>
        </p:txBody>
      </p:sp>
      <p:sp>
        <p:nvSpPr>
          <p:cNvPr id="14" name="Text 12"/>
          <p:cNvSpPr txBox="1"/>
          <p:nvPr/>
        </p:nvSpPr>
        <p:spPr>
          <a:xfrm>
            <a:off x="3017520" y="2606040"/>
            <a:ext cx="1600200" cy="365760"/>
          </a:xfrm>
          <a:prstGeom prst="rect">
            <a:avLst/>
          </a:prstGeom>
          <a:noFill/>
          <a:ln/>
        </p:spPr>
        <p:txBody>
          <a:bodyPr wrap="square" lIns="0" tIns="0" rIns="0" bIns="0" rtlCol="0" anchor="t"/>
          <a:lstStyle/>
          <a:p>
            <a:pPr indent="0" marL="0">
              <a:buNone/>
            </a:pPr>
            <a:r>
              <a:rPr lang="en-US" sz="1500" b="1" dirty="0">
                <a:solidFill>
                  <a:srgbClr val="0B1F33"/>
                </a:solidFill>
                <a:latin typeface="Arial" pitchFamily="34" charset="0"/>
                <a:ea typeface="Arial" pitchFamily="34" charset="-122"/>
                <a:cs typeface="Arial" pitchFamily="34" charset="-120"/>
              </a:rPr>
              <a:t>Clarify</a:t>
            </a:r>
            <a:endParaRPr lang="en-US" sz="1500" dirty="0"/>
          </a:p>
        </p:txBody>
      </p:sp>
      <p:sp>
        <p:nvSpPr>
          <p:cNvPr id="15" name="Text 13"/>
          <p:cNvSpPr txBox="1"/>
          <p:nvPr/>
        </p:nvSpPr>
        <p:spPr>
          <a:xfrm>
            <a:off x="3017520" y="3017520"/>
            <a:ext cx="1600200" cy="868680"/>
          </a:xfrm>
          <a:prstGeom prst="rect">
            <a:avLst/>
          </a:prstGeom>
          <a:noFill/>
          <a:ln/>
        </p:spPr>
        <p:txBody>
          <a:bodyPr wrap="square" lIns="0" tIns="0" rIns="0" bIns="0" rtlCol="0" anchor="t"/>
          <a:lstStyle/>
          <a:p>
            <a:pPr indent="0" marL="0">
              <a:buNone/>
            </a:pPr>
            <a:r>
              <a:rPr lang="en-US" sz="1150" dirty="0">
                <a:solidFill>
                  <a:srgbClr val="0B1F33"/>
                </a:solidFill>
                <a:latin typeface="Arial" pitchFamily="34" charset="0"/>
                <a:ea typeface="Arial" pitchFamily="34" charset="-122"/>
                <a:cs typeface="Arial" pitchFamily="34" charset="-120"/>
              </a:rPr>
              <a:t>Developers ask questions; timebox to about 2 minutes</a:t>
            </a:r>
            <a:endParaRPr lang="en-US" sz="1150" dirty="0"/>
          </a:p>
        </p:txBody>
      </p:sp>
      <p:sp>
        <p:nvSpPr>
          <p:cNvPr id="16" name="Shape 14"/>
          <p:cNvSpPr/>
          <p:nvPr/>
        </p:nvSpPr>
        <p:spPr>
          <a:xfrm>
            <a:off x="4782312" y="2926080"/>
            <a:ext cx="310896" cy="0"/>
          </a:xfrm>
          <a:prstGeom prst="line">
            <a:avLst/>
          </a:prstGeom>
          <a:noFill/>
          <a:ln w="19050">
            <a:solidFill>
              <a:srgbClr val="5E6E7E"/>
            </a:solidFill>
            <a:prstDash val="solid"/>
            <a:tailEnd type="triangle"/>
          </a:ln>
        </p:spPr>
      </p:sp>
      <p:sp>
        <p:nvSpPr>
          <p:cNvPr id="17" name="Shape 15"/>
          <p:cNvSpPr/>
          <p:nvPr/>
        </p:nvSpPr>
        <p:spPr>
          <a:xfrm>
            <a:off x="5120640" y="1874520"/>
            <a:ext cx="1920240" cy="2103120"/>
          </a:xfrm>
          <a:prstGeom prst="roundRect">
            <a:avLst>
              <a:gd name="adj" fmla="val 3810"/>
            </a:avLst>
          </a:prstGeom>
          <a:solidFill>
            <a:srgbClr val="0A8F8F"/>
          </a:solidFill>
          <a:ln w="12700">
            <a:solidFill>
              <a:srgbClr val="0A8F8F"/>
            </a:solidFill>
            <a:prstDash val="solid"/>
          </a:ln>
        </p:spPr>
      </p:sp>
      <p:sp>
        <p:nvSpPr>
          <p:cNvPr id="18" name="Text 16"/>
          <p:cNvSpPr txBox="1"/>
          <p:nvPr/>
        </p:nvSpPr>
        <p:spPr>
          <a:xfrm>
            <a:off x="5303520" y="2011680"/>
            <a:ext cx="914400" cy="5486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9" name="Text 17"/>
          <p:cNvSpPr txBox="1"/>
          <p:nvPr/>
        </p:nvSpPr>
        <p:spPr>
          <a:xfrm>
            <a:off x="5303520" y="2606040"/>
            <a:ext cx="160020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Vote</a:t>
            </a:r>
            <a:endParaRPr lang="en-US" sz="1500" dirty="0"/>
          </a:p>
        </p:txBody>
      </p:sp>
      <p:sp>
        <p:nvSpPr>
          <p:cNvPr id="20" name="Text 18"/>
          <p:cNvSpPr txBox="1"/>
          <p:nvPr/>
        </p:nvSpPr>
        <p:spPr>
          <a:xfrm>
            <a:off x="5303520" y="3017520"/>
            <a:ext cx="1600200" cy="86868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Everyone chooses a card privately, then all reveal together</a:t>
            </a:r>
            <a:endParaRPr lang="en-US" sz="1150" dirty="0"/>
          </a:p>
        </p:txBody>
      </p:sp>
      <p:sp>
        <p:nvSpPr>
          <p:cNvPr id="21" name="Shape 19"/>
          <p:cNvSpPr/>
          <p:nvPr/>
        </p:nvSpPr>
        <p:spPr>
          <a:xfrm>
            <a:off x="7068312" y="2926080"/>
            <a:ext cx="310896" cy="0"/>
          </a:xfrm>
          <a:prstGeom prst="line">
            <a:avLst/>
          </a:prstGeom>
          <a:noFill/>
          <a:ln w="19050">
            <a:solidFill>
              <a:srgbClr val="5E6E7E"/>
            </a:solidFill>
            <a:prstDash val="solid"/>
            <a:tailEnd type="triangle"/>
          </a:ln>
        </p:spPr>
      </p:sp>
      <p:sp>
        <p:nvSpPr>
          <p:cNvPr id="22" name="Shape 20"/>
          <p:cNvSpPr/>
          <p:nvPr/>
        </p:nvSpPr>
        <p:spPr>
          <a:xfrm>
            <a:off x="7406640" y="1874520"/>
            <a:ext cx="1920240" cy="2103120"/>
          </a:xfrm>
          <a:prstGeom prst="roundRect">
            <a:avLst>
              <a:gd name="adj" fmla="val 3810"/>
            </a:avLst>
          </a:prstGeom>
          <a:solidFill>
            <a:srgbClr val="EEF3F6"/>
          </a:solidFill>
          <a:ln w="12700">
            <a:solidFill>
              <a:srgbClr val="EEF3F6"/>
            </a:solidFill>
            <a:prstDash val="solid"/>
          </a:ln>
        </p:spPr>
      </p:sp>
      <p:sp>
        <p:nvSpPr>
          <p:cNvPr id="23" name="Text 21"/>
          <p:cNvSpPr txBox="1"/>
          <p:nvPr/>
        </p:nvSpPr>
        <p:spPr>
          <a:xfrm>
            <a:off x="7589520" y="2011680"/>
            <a:ext cx="914400" cy="548640"/>
          </a:xfrm>
          <a:prstGeom prst="rect">
            <a:avLst/>
          </a:prstGeom>
          <a:noFill/>
          <a:ln/>
        </p:spPr>
        <p:txBody>
          <a:bodyPr wrap="square" lIns="0" tIns="0" rIns="0" bIns="0" rtlCol="0" anchor="t"/>
          <a:lstStyle/>
          <a:p>
            <a:pPr indent="0" marL="0">
              <a:buNone/>
            </a:pPr>
            <a:r>
              <a:rPr lang="en-US" sz="2800" b="1" dirty="0">
                <a:solidFill>
                  <a:srgbClr val="0A8F8F"/>
                </a:solidFill>
                <a:latin typeface="Cambria" pitchFamily="34" charset="0"/>
                <a:ea typeface="Cambria" pitchFamily="34" charset="-122"/>
                <a:cs typeface="Cambria" pitchFamily="34" charset="-120"/>
              </a:rPr>
              <a:t>4</a:t>
            </a:r>
            <a:endParaRPr lang="en-US" sz="2800" dirty="0"/>
          </a:p>
        </p:txBody>
      </p:sp>
      <p:sp>
        <p:nvSpPr>
          <p:cNvPr id="24" name="Text 22"/>
          <p:cNvSpPr txBox="1"/>
          <p:nvPr/>
        </p:nvSpPr>
        <p:spPr>
          <a:xfrm>
            <a:off x="7589520" y="2606040"/>
            <a:ext cx="1600200" cy="365760"/>
          </a:xfrm>
          <a:prstGeom prst="rect">
            <a:avLst/>
          </a:prstGeom>
          <a:noFill/>
          <a:ln/>
        </p:spPr>
        <p:txBody>
          <a:bodyPr wrap="square" lIns="0" tIns="0" rIns="0" bIns="0" rtlCol="0" anchor="t"/>
          <a:lstStyle/>
          <a:p>
            <a:pPr indent="0" marL="0">
              <a:buNone/>
            </a:pPr>
            <a:r>
              <a:rPr lang="en-US" sz="1500" b="1" dirty="0">
                <a:solidFill>
                  <a:srgbClr val="0B1F33"/>
                </a:solidFill>
                <a:latin typeface="Arial" pitchFamily="34" charset="0"/>
                <a:ea typeface="Arial" pitchFamily="34" charset="-122"/>
                <a:cs typeface="Arial" pitchFamily="34" charset="-120"/>
              </a:rPr>
              <a:t>Discuss</a:t>
            </a:r>
            <a:endParaRPr lang="en-US" sz="1500" dirty="0"/>
          </a:p>
        </p:txBody>
      </p:sp>
      <p:sp>
        <p:nvSpPr>
          <p:cNvPr id="25" name="Text 23"/>
          <p:cNvSpPr txBox="1"/>
          <p:nvPr/>
        </p:nvSpPr>
        <p:spPr>
          <a:xfrm>
            <a:off x="7589520" y="3017520"/>
            <a:ext cx="1600200" cy="868680"/>
          </a:xfrm>
          <a:prstGeom prst="rect">
            <a:avLst/>
          </a:prstGeom>
          <a:noFill/>
          <a:ln/>
        </p:spPr>
        <p:txBody>
          <a:bodyPr wrap="square" lIns="0" tIns="0" rIns="0" bIns="0" rtlCol="0" anchor="t"/>
          <a:lstStyle/>
          <a:p>
            <a:pPr indent="0" marL="0">
              <a:buNone/>
            </a:pPr>
            <a:r>
              <a:rPr lang="en-US" sz="1150" dirty="0">
                <a:solidFill>
                  <a:srgbClr val="0B1F33"/>
                </a:solidFill>
                <a:latin typeface="Arial" pitchFamily="34" charset="0"/>
                <a:ea typeface="Arial" pitchFamily="34" charset="-122"/>
                <a:cs typeface="Arial" pitchFamily="34" charset="-120"/>
              </a:rPr>
              <a:t>Highest and lowest voters explain their reasoning</a:t>
            </a:r>
            <a:endParaRPr lang="en-US" sz="1150" dirty="0"/>
          </a:p>
        </p:txBody>
      </p:sp>
      <p:sp>
        <p:nvSpPr>
          <p:cNvPr id="26" name="Shape 24"/>
          <p:cNvSpPr/>
          <p:nvPr/>
        </p:nvSpPr>
        <p:spPr>
          <a:xfrm>
            <a:off x="9354312" y="2926080"/>
            <a:ext cx="310896" cy="0"/>
          </a:xfrm>
          <a:prstGeom prst="line">
            <a:avLst/>
          </a:prstGeom>
          <a:noFill/>
          <a:ln w="19050">
            <a:solidFill>
              <a:srgbClr val="5E6E7E"/>
            </a:solidFill>
            <a:prstDash val="solid"/>
            <a:tailEnd type="triangle"/>
          </a:ln>
        </p:spPr>
      </p:sp>
      <p:sp>
        <p:nvSpPr>
          <p:cNvPr id="27" name="Shape 25"/>
          <p:cNvSpPr/>
          <p:nvPr/>
        </p:nvSpPr>
        <p:spPr>
          <a:xfrm>
            <a:off x="9692640" y="1874520"/>
            <a:ext cx="1920240" cy="2103120"/>
          </a:xfrm>
          <a:prstGeom prst="roundRect">
            <a:avLst>
              <a:gd name="adj" fmla="val 3810"/>
            </a:avLst>
          </a:prstGeom>
          <a:solidFill>
            <a:srgbClr val="12355B"/>
          </a:solidFill>
          <a:ln w="12700">
            <a:solidFill>
              <a:srgbClr val="12355B"/>
            </a:solidFill>
            <a:prstDash val="solid"/>
          </a:ln>
        </p:spPr>
      </p:sp>
      <p:sp>
        <p:nvSpPr>
          <p:cNvPr id="28" name="Text 26"/>
          <p:cNvSpPr txBox="1"/>
          <p:nvPr/>
        </p:nvSpPr>
        <p:spPr>
          <a:xfrm>
            <a:off x="9875520" y="2011680"/>
            <a:ext cx="914400" cy="5486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5</a:t>
            </a:r>
            <a:endParaRPr lang="en-US" sz="2800" dirty="0"/>
          </a:p>
        </p:txBody>
      </p:sp>
      <p:sp>
        <p:nvSpPr>
          <p:cNvPr id="29" name="Text 27"/>
          <p:cNvSpPr txBox="1"/>
          <p:nvPr/>
        </p:nvSpPr>
        <p:spPr>
          <a:xfrm>
            <a:off x="9875520" y="2606040"/>
            <a:ext cx="160020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Converge</a:t>
            </a:r>
            <a:endParaRPr lang="en-US" sz="1500" dirty="0"/>
          </a:p>
        </p:txBody>
      </p:sp>
      <p:sp>
        <p:nvSpPr>
          <p:cNvPr id="30" name="Text 28"/>
          <p:cNvSpPr txBox="1"/>
          <p:nvPr/>
        </p:nvSpPr>
        <p:spPr>
          <a:xfrm>
            <a:off x="9875520" y="3017520"/>
            <a:ext cx="1600200" cy="86868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Re-vote once; if still split, take the higher or park the item</a:t>
            </a:r>
            <a:endParaRPr lang="en-US" sz="1150" dirty="0"/>
          </a:p>
        </p:txBody>
      </p:sp>
      <p:pic>
        <p:nvPicPr>
          <p:cNvPr id="31" name="Image 0" descr="preencoded.png">    </p:cNvPr>
          <p:cNvPicPr>
            <a:picLocks noChangeAspect="1"/>
          </p:cNvPicPr>
          <p:nvPr/>
        </p:nvPicPr>
        <p:blipFill>
          <a:blip r:embed="rId1"/>
          <a:stretch>
            <a:fillRect/>
          </a:stretch>
        </p:blipFill>
        <p:spPr>
          <a:xfrm>
            <a:off x="548640" y="4389120"/>
            <a:ext cx="292608" cy="292608"/>
          </a:xfrm>
          <a:prstGeom prst="rect">
            <a:avLst/>
          </a:prstGeom>
        </p:spPr>
      </p:pic>
      <p:sp>
        <p:nvSpPr>
          <p:cNvPr id="32" name="Text 29"/>
          <p:cNvSpPr txBox="1"/>
          <p:nvPr/>
        </p:nvSpPr>
        <p:spPr>
          <a:xfrm>
            <a:off x="1005840" y="4343400"/>
            <a:ext cx="10607040" cy="411480"/>
          </a:xfrm>
          <a:prstGeom prst="rect">
            <a:avLst/>
          </a:prstGeom>
          <a:noFill/>
          <a:ln/>
        </p:spPr>
        <p:txBody>
          <a:bodyPr wrap="square" lIns="0" tIns="0" rIns="0" bIns="0" rtlCol="0" anchor="ctr"/>
          <a:lstStyle/>
          <a:p>
            <a:pPr indent="0" marL="0">
              <a:buNone/>
            </a:pPr>
            <a:r>
              <a:rPr lang="en-US" sz="1350" b="1" dirty="0">
                <a:solidFill>
                  <a:srgbClr val="0B1F33"/>
                </a:solidFill>
                <a:latin typeface="Arial" pitchFamily="34" charset="0"/>
                <a:ea typeface="Arial" pitchFamily="34" charset="-122"/>
                <a:cs typeface="Arial" pitchFamily="34" charset="-120"/>
              </a:rPr>
              <a:t>Simultaneous reveal </a:t>
            </a:r>
            <a:pPr indent="0" marL="0">
              <a:buNone/>
            </a:pPr>
            <a:r>
              <a:rPr lang="en-US" sz="1350" dirty="0">
                <a:solidFill>
                  <a:srgbClr val="1F2A36"/>
                </a:solidFill>
                <a:latin typeface="Arial" pitchFamily="34" charset="0"/>
                <a:ea typeface="Arial" pitchFamily="34" charset="-122"/>
                <a:cs typeface="Arial" pitchFamily="34" charset="-120"/>
              </a:rPr>
              <a:t>prevents anchoring on the most senior or loudest voice.</a:t>
            </a:r>
            <a:endParaRPr lang="en-US" sz="1350" dirty="0"/>
          </a:p>
        </p:txBody>
      </p:sp>
      <p:pic>
        <p:nvPicPr>
          <p:cNvPr id="33" name="Image 1" descr="preencoded.png">    </p:cNvPr>
          <p:cNvPicPr>
            <a:picLocks noChangeAspect="1"/>
          </p:cNvPicPr>
          <p:nvPr/>
        </p:nvPicPr>
        <p:blipFill>
          <a:blip r:embed="rId2"/>
          <a:stretch>
            <a:fillRect/>
          </a:stretch>
        </p:blipFill>
        <p:spPr>
          <a:xfrm>
            <a:off x="548640" y="4937760"/>
            <a:ext cx="292608" cy="292608"/>
          </a:xfrm>
          <a:prstGeom prst="rect">
            <a:avLst/>
          </a:prstGeom>
        </p:spPr>
      </p:pic>
      <p:sp>
        <p:nvSpPr>
          <p:cNvPr id="34" name="Text 30"/>
          <p:cNvSpPr txBox="1"/>
          <p:nvPr/>
        </p:nvSpPr>
        <p:spPr>
          <a:xfrm>
            <a:off x="1005840" y="4892040"/>
            <a:ext cx="10607040" cy="411480"/>
          </a:xfrm>
          <a:prstGeom prst="rect">
            <a:avLst/>
          </a:prstGeom>
          <a:noFill/>
          <a:ln/>
        </p:spPr>
        <p:txBody>
          <a:bodyPr wrap="square" lIns="0" tIns="0" rIns="0" bIns="0" rtlCol="0" anchor="ctr"/>
          <a:lstStyle/>
          <a:p>
            <a:pPr indent="0" marL="0">
              <a:buNone/>
            </a:pPr>
            <a:r>
              <a:rPr lang="en-US" sz="1350" b="1" dirty="0">
                <a:solidFill>
                  <a:srgbClr val="0B1F33"/>
                </a:solidFill>
                <a:latin typeface="Arial" pitchFamily="34" charset="0"/>
                <a:ea typeface="Arial" pitchFamily="34" charset="-122"/>
                <a:cs typeface="Arial" pitchFamily="34" charset="-120"/>
              </a:rPr>
              <a:t>Big spread (e.g. 2 and 13) </a:t>
            </a:r>
            <a:pPr indent="0" marL="0">
              <a:buNone/>
            </a:pPr>
            <a:r>
              <a:rPr lang="en-US" sz="1350" dirty="0">
                <a:solidFill>
                  <a:srgbClr val="1F2A36"/>
                </a:solidFill>
                <a:latin typeface="Arial" pitchFamily="34" charset="0"/>
                <a:ea typeface="Arial" pitchFamily="34" charset="-122"/>
                <a:cs typeface="Arial" pitchFamily="34" charset="-120"/>
              </a:rPr>
              <a:t>is valuable: someone knows something the others do not.</a:t>
            </a:r>
            <a:endParaRPr lang="en-US" sz="1350" dirty="0"/>
          </a:p>
        </p:txBody>
      </p:sp>
      <p:pic>
        <p:nvPicPr>
          <p:cNvPr id="35" name="Image 2" descr="preencoded.png">    </p:cNvPr>
          <p:cNvPicPr>
            <a:picLocks noChangeAspect="1"/>
          </p:cNvPicPr>
          <p:nvPr/>
        </p:nvPicPr>
        <p:blipFill>
          <a:blip r:embed="rId3"/>
          <a:stretch>
            <a:fillRect/>
          </a:stretch>
        </p:blipFill>
        <p:spPr>
          <a:xfrm>
            <a:off x="548640" y="5486400"/>
            <a:ext cx="292608" cy="292608"/>
          </a:xfrm>
          <a:prstGeom prst="rect">
            <a:avLst/>
          </a:prstGeom>
        </p:spPr>
      </p:pic>
      <p:sp>
        <p:nvSpPr>
          <p:cNvPr id="36" name="Text 31"/>
          <p:cNvSpPr txBox="1"/>
          <p:nvPr/>
        </p:nvSpPr>
        <p:spPr>
          <a:xfrm>
            <a:off x="1005840" y="5440680"/>
            <a:ext cx="10607040" cy="411480"/>
          </a:xfrm>
          <a:prstGeom prst="rect">
            <a:avLst/>
          </a:prstGeom>
          <a:noFill/>
          <a:ln/>
        </p:spPr>
        <p:txBody>
          <a:bodyPr wrap="square" lIns="0" tIns="0" rIns="0" bIns="0" rtlCol="0" anchor="ctr"/>
          <a:lstStyle/>
          <a:p>
            <a:pPr indent="0" marL="0">
              <a:buNone/>
            </a:pPr>
            <a:r>
              <a:rPr lang="en-US" sz="1350" b="1" dirty="0">
                <a:solidFill>
                  <a:srgbClr val="0B1F33"/>
                </a:solidFill>
                <a:latin typeface="Arial" pitchFamily="34" charset="0"/>
                <a:ea typeface="Arial" pitchFamily="34" charset="-122"/>
                <a:cs typeface="Arial" pitchFamily="34" charset="-120"/>
              </a:rPr>
              <a:t>Clear roles: </a:t>
            </a:r>
            <a:pPr indent="0" marL="0">
              <a:buNone/>
            </a:pPr>
            <a:r>
              <a:rPr lang="en-US" sz="1350" dirty="0">
                <a:solidFill>
                  <a:srgbClr val="1F2A36"/>
                </a:solidFill>
                <a:latin typeface="Arial" pitchFamily="34" charset="0"/>
                <a:ea typeface="Arial" pitchFamily="34" charset="-122"/>
                <a:cs typeface="Arial" pitchFamily="34" charset="-120"/>
              </a:rPr>
              <a:t>the Scrum Master facilitates, the Product Owner clarifies and only the Developers vote.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ESTIMATING AT SPEED</a:t>
            </a:r>
            <a:endParaRPr lang="en-US" sz="1000" dirty="0"/>
          </a:p>
        </p:txBody>
      </p:sp>
      <p:sp>
        <p:nvSpPr>
          <p:cNvPr id="3" name="Text 1"/>
          <p:cNvSpPr txBox="1"/>
          <p:nvPr/>
        </p:nvSpPr>
        <p:spPr>
          <a:xfrm>
            <a:off x="7040880" y="320040"/>
            <a:ext cx="45994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Estimating with Story Points  |  Team Training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Match the technique to the job: Planning Poker for detail, group sorting for volume</a:t>
            </a:r>
            <a:endParaRPr lang="en-US" sz="2400" dirty="0"/>
          </a:p>
        </p:txBody>
      </p:sp>
      <p:sp>
        <p:nvSpPr>
          <p:cNvPr id="5" name="Text 3"/>
          <p:cNvSpPr txBox="1"/>
          <p:nvPr/>
        </p:nvSpPr>
        <p:spPr>
          <a:xfrm>
            <a:off x="548640" y="6355080"/>
            <a:ext cx="1024128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Team analysis. Story points are a complementary practice; the Scrum Guide (2020) does not prescribe an estimation technique</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194560"/>
                <a:gridCol w="3931920"/>
                <a:gridCol w="3383280"/>
                <a:gridCol w="1554480"/>
              </a:tblGrid>
              <a:tr h="502920">
                <a:tc>
                  <a:txBody>
                    <a:bodyPr/>
                    <a:lstStyle/>
                    <a:p>
                      <a:pPr indent="0" marL="0">
                        <a:buNone/>
                      </a:pPr>
                      <a:r>
                        <a:rPr lang="en-US" sz="1250" b="1" dirty="0">
                          <a:solidFill>
                            <a:srgbClr val="FFFFFF"/>
                          </a:solidFill>
                          <a:latin typeface="Arial" pitchFamily="34" charset="0"/>
                          <a:ea typeface="Arial" pitchFamily="34" charset="-122"/>
                          <a:cs typeface="Arial" pitchFamily="34" charset="-120"/>
                        </a:rPr>
                        <a:t>Technique</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3"/>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How it works</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3"/>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Best used for</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3"/>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Relative pace</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3"/>
                    </a:solidFill>
                  </a:tcPr>
                </a:tc>
              </a:tr>
              <a:tr h="713232">
                <a:tc>
                  <a:txBody>
                    <a:bodyPr/>
                    <a:lstStyle/>
                    <a:p>
                      <a:pPr indent="0" marL="0">
                        <a:buNone/>
                      </a:pPr>
                      <a:r>
                        <a:rPr lang="en-US" sz="1250" b="1" dirty="0">
                          <a:solidFill>
                            <a:srgbClr val="0B1F33"/>
                          </a:solidFill>
                          <a:latin typeface="Arial" pitchFamily="34" charset="0"/>
                          <a:ea typeface="Arial" pitchFamily="34" charset="-122"/>
                          <a:cs typeface="Arial" pitchFamily="34" charset="-120"/>
                        </a:rPr>
                        <a:t>Planning Poker</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50" dirty="0">
                          <a:solidFill>
                            <a:srgbClr val="1F2A36"/>
                          </a:solidFill>
                          <a:latin typeface="Arial" pitchFamily="34" charset="0"/>
                          <a:ea typeface="Arial" pitchFamily="34" charset="-122"/>
                          <a:cs typeface="Arial" pitchFamily="34" charset="-120"/>
                        </a:rPr>
                        <a:t>Private vote, simultaneous reveal, short discussion</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50" dirty="0">
                          <a:solidFill>
                            <a:srgbClr val="1F2A36"/>
                          </a:solidFill>
                          <a:latin typeface="Arial" pitchFamily="34" charset="0"/>
                          <a:ea typeface="Arial" pitchFamily="34" charset="-122"/>
                          <a:cs typeface="Arial" pitchFamily="34" charset="-120"/>
                        </a:rPr>
                        <a:t>Near-term items needing shared understanding</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50" b="1" dirty="0">
                          <a:solidFill>
                            <a:srgbClr val="1F2A36"/>
                          </a:solidFill>
                          <a:latin typeface="Arial" pitchFamily="34" charset="0"/>
                          <a:ea typeface="Arial" pitchFamily="34" charset="-122"/>
                          <a:cs typeface="Arial" pitchFamily="34" charset="-120"/>
                        </a:rPr>
                        <a:t>Moderate</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r>
              <a:tr h="713232">
                <a:tc>
                  <a:txBody>
                    <a:bodyPr/>
                    <a:lstStyle/>
                    <a:p>
                      <a:pPr indent="0" marL="0">
                        <a:buNone/>
                      </a:pPr>
                      <a:r>
                        <a:rPr lang="en-US" sz="1250" b="1" dirty="0">
                          <a:solidFill>
                            <a:srgbClr val="0B1F33"/>
                          </a:solidFill>
                          <a:latin typeface="Arial" pitchFamily="34" charset="0"/>
                          <a:ea typeface="Arial" pitchFamily="34" charset="-122"/>
                          <a:cs typeface="Arial" pitchFamily="34" charset="-120"/>
                        </a:rPr>
                        <a:t>Affinity estimation</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Arial" pitchFamily="34" charset="0"/>
                          <a:ea typeface="Arial" pitchFamily="34" charset="-122"/>
                          <a:cs typeface="Arial" pitchFamily="34" charset="-120"/>
                        </a:rPr>
                        <a:t>Team silently sorts cards from smallest to largest, then assigns sizes to groups</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Arial" pitchFamily="34" charset="0"/>
                          <a:ea typeface="Arial" pitchFamily="34" charset="-122"/>
                          <a:cs typeface="Arial" pitchFamily="34" charset="-120"/>
                        </a:rPr>
                        <a:t>Refining 20 to 50 items in one session</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36"/>
                          </a:solidFill>
                          <a:latin typeface="Arial" pitchFamily="34" charset="0"/>
                          <a:ea typeface="Arial" pitchFamily="34" charset="-122"/>
                          <a:cs typeface="Arial" pitchFamily="34" charset="-120"/>
                        </a:rPr>
                        <a:t>Fast</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13232">
                <a:tc>
                  <a:txBody>
                    <a:bodyPr/>
                    <a:lstStyle/>
                    <a:p>
                      <a:pPr indent="0" marL="0">
                        <a:buNone/>
                      </a:pPr>
                      <a:r>
                        <a:rPr lang="en-US" sz="1250" b="1" dirty="0">
                          <a:solidFill>
                            <a:srgbClr val="0B1F33"/>
                          </a:solidFill>
                          <a:latin typeface="Arial" pitchFamily="34" charset="0"/>
                          <a:ea typeface="Arial" pitchFamily="34" charset="-122"/>
                          <a:cs typeface="Arial" pitchFamily="34" charset="-120"/>
                        </a:rPr>
                        <a:t>Bucket system</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50" dirty="0">
                          <a:solidFill>
                            <a:srgbClr val="1F2A36"/>
                          </a:solidFill>
                          <a:latin typeface="Arial" pitchFamily="34" charset="0"/>
                          <a:ea typeface="Arial" pitchFamily="34" charset="-122"/>
                          <a:cs typeface="Arial" pitchFamily="34" charset="-120"/>
                        </a:rPr>
                        <a:t>Items placed into labelled point buckets, then peer-checked</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50" dirty="0">
                          <a:solidFill>
                            <a:srgbClr val="1F2A36"/>
                          </a:solidFill>
                          <a:latin typeface="Arial" pitchFamily="34" charset="0"/>
                          <a:ea typeface="Arial" pitchFamily="34" charset="-122"/>
                          <a:cs typeface="Arial" pitchFamily="34" charset="-120"/>
                        </a:rPr>
                        <a:t>Very large backlogs, such as a new release</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50" b="1" dirty="0">
                          <a:solidFill>
                            <a:srgbClr val="1F2A36"/>
                          </a:solidFill>
                          <a:latin typeface="Arial" pitchFamily="34" charset="0"/>
                          <a:ea typeface="Arial" pitchFamily="34" charset="-122"/>
                          <a:cs typeface="Arial" pitchFamily="34" charset="-120"/>
                        </a:rPr>
                        <a:t>Very fast</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r>
              <a:tr h="713232">
                <a:tc>
                  <a:txBody>
                    <a:bodyPr/>
                    <a:lstStyle/>
                    <a:p>
                      <a:pPr indent="0" marL="0">
                        <a:buNone/>
                      </a:pPr>
                      <a:r>
                        <a:rPr lang="en-US" sz="1250" b="1" dirty="0">
                          <a:solidFill>
                            <a:srgbClr val="0B1F33"/>
                          </a:solidFill>
                          <a:latin typeface="Arial" pitchFamily="34" charset="0"/>
                          <a:ea typeface="Arial" pitchFamily="34" charset="-122"/>
                          <a:cs typeface="Arial" pitchFamily="34" charset="-120"/>
                        </a:rPr>
                        <a:t>T-shirt sizing</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Arial" pitchFamily="34" charset="0"/>
                          <a:ea typeface="Arial" pitchFamily="34" charset="-122"/>
                          <a:cs typeface="Arial" pitchFamily="34" charset="-120"/>
                        </a:rPr>
                        <a:t>XS to XL sizes, converted to points later if needed</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1F2A36"/>
                          </a:solidFill>
                          <a:latin typeface="Arial" pitchFamily="34" charset="0"/>
                          <a:ea typeface="Arial" pitchFamily="34" charset="-122"/>
                          <a:cs typeface="Arial" pitchFamily="34" charset="-120"/>
                        </a:rPr>
                        <a:t>Early roadmap and epic-level sizing</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36"/>
                          </a:solidFill>
                          <a:latin typeface="Arial" pitchFamily="34" charset="0"/>
                          <a:ea typeface="Arial" pitchFamily="34" charset="-122"/>
                          <a:cs typeface="Arial" pitchFamily="34" charset="-120"/>
                        </a:rPr>
                        <a:t>Very fast</a:t>
                      </a:r>
                      <a:endParaRPr lang="en-US" sz="125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440680"/>
            <a:ext cx="11064240" cy="640080"/>
          </a:xfrm>
          <a:prstGeom prst="rect">
            <a:avLst/>
          </a:prstGeom>
          <a:solidFill>
            <a:srgbClr val="DDF0F0"/>
          </a:solidFill>
          <a:ln w="12700">
            <a:solidFill>
              <a:srgbClr val="DDF0F0"/>
            </a:solidFill>
            <a:prstDash val="solid"/>
          </a:ln>
        </p:spPr>
      </p:sp>
      <p:sp>
        <p:nvSpPr>
          <p:cNvPr id="9" name="Text 6"/>
          <p:cNvSpPr txBox="1"/>
          <p:nvPr/>
        </p:nvSpPr>
        <p:spPr>
          <a:xfrm>
            <a:off x="777240" y="5440680"/>
            <a:ext cx="10607040" cy="640080"/>
          </a:xfrm>
          <a:prstGeom prst="rect">
            <a:avLst/>
          </a:prstGeom>
          <a:noFill/>
          <a:ln/>
        </p:spPr>
        <p:txBody>
          <a:bodyPr wrap="square" lIns="0" tIns="0" rIns="0" bIns="0" rtlCol="0" anchor="ctr"/>
          <a:lstStyle/>
          <a:p>
            <a:pPr indent="0" marL="0">
              <a:buNone/>
            </a:pPr>
            <a:r>
              <a:rPr lang="en-US" sz="1300" b="1" dirty="0">
                <a:solidFill>
                  <a:srgbClr val="0A8F8F"/>
                </a:solidFill>
                <a:latin typeface="Arial" pitchFamily="34" charset="0"/>
                <a:ea typeface="Arial" pitchFamily="34" charset="-122"/>
                <a:cs typeface="Arial" pitchFamily="34" charset="-120"/>
              </a:rPr>
              <a:t>Our default: </a:t>
            </a:r>
            <a:pPr indent="0" marL="0">
              <a:buNone/>
            </a:pPr>
            <a:r>
              <a:rPr lang="en-US" sz="1300" dirty="0">
                <a:solidFill>
                  <a:srgbClr val="1F2A36"/>
                </a:solidFill>
                <a:latin typeface="Arial" pitchFamily="34" charset="0"/>
                <a:ea typeface="Arial" pitchFamily="34" charset="-122"/>
                <a:cs typeface="Arial" pitchFamily="34" charset="-120"/>
              </a:rPr>
              <a:t>affinity estimation for new batches of items, then Planning Poker only for items where the team disagrees.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ESTIMATING AT SPEED</a:t>
            </a:r>
            <a:endParaRPr lang="en-US" sz="1000" dirty="0"/>
          </a:p>
        </p:txBody>
      </p:sp>
      <p:sp>
        <p:nvSpPr>
          <p:cNvPr id="3" name="Text 1"/>
          <p:cNvSpPr txBox="1"/>
          <p:nvPr/>
        </p:nvSpPr>
        <p:spPr>
          <a:xfrm>
            <a:off x="7040880" y="320040"/>
            <a:ext cx="45994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Estimating with Story Points  |  Team Training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Six working rules keep estimation short and prevent it from crowding out real work</a:t>
            </a:r>
            <a:endParaRPr lang="en-US" sz="2400" dirty="0"/>
          </a:p>
        </p:txBody>
      </p:sp>
      <p:sp>
        <p:nvSpPr>
          <p:cNvPr id="5" name="Text 3"/>
          <p:cNvSpPr txBox="1"/>
          <p:nvPr/>
        </p:nvSpPr>
        <p:spPr>
          <a:xfrm>
            <a:off x="548640" y="6355080"/>
            <a:ext cx="1024128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Team analysis. Story points are a complementary practice; the Scrum Guide (2020) does not prescribe an estimation technique</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9</a:t>
            </a:r>
            <a:endParaRPr lang="en-US" sz="900" dirty="0"/>
          </a:p>
        </p:txBody>
      </p:sp>
      <p:sp>
        <p:nvSpPr>
          <p:cNvPr id="7" name="Shape 5"/>
          <p:cNvSpPr/>
          <p:nvPr/>
        </p:nvSpPr>
        <p:spPr>
          <a:xfrm>
            <a:off x="548640" y="1783080"/>
            <a:ext cx="3474720" cy="1965960"/>
          </a:xfrm>
          <a:prstGeom prst="rect">
            <a:avLst/>
          </a:prstGeom>
          <a:solidFill>
            <a:srgbClr val="EEF3F6"/>
          </a:solidFill>
          <a:ln w="12700">
            <a:solidFill>
              <a:srgbClr val="EEF3F6"/>
            </a:solidFill>
            <a:prstDash val="solid"/>
          </a:ln>
        </p:spPr>
      </p:sp>
      <p:sp>
        <p:nvSpPr>
          <p:cNvPr id="8" name="Shape 6"/>
          <p:cNvSpPr/>
          <p:nvPr/>
        </p:nvSpPr>
        <p:spPr>
          <a:xfrm>
            <a:off x="822960" y="2039112"/>
            <a:ext cx="566928" cy="566928"/>
          </a:xfrm>
          <a:prstGeom prst="ellipse">
            <a:avLst/>
          </a:prstGeom>
          <a:solidFill>
            <a:srgbClr val="12355B"/>
          </a:solidFill>
          <a:ln w="12700">
            <a:solidFill>
              <a:srgbClr val="12355B"/>
            </a:solidFill>
            <a:prstDash val="solid"/>
          </a:ln>
        </p:spPr>
      </p:sp>
      <p:pic>
        <p:nvPicPr>
          <p:cNvPr id="9" name="Image 0" descr="preencoded.png">    </p:cNvPr>
          <p:cNvPicPr>
            <a:picLocks noChangeAspect="1"/>
          </p:cNvPicPr>
          <p:nvPr/>
        </p:nvPicPr>
        <p:blipFill>
          <a:blip r:embed="rId1"/>
          <a:stretch>
            <a:fillRect/>
          </a:stretch>
        </p:blipFill>
        <p:spPr>
          <a:xfrm>
            <a:off x="964692" y="2180844"/>
            <a:ext cx="283464" cy="283464"/>
          </a:xfrm>
          <a:prstGeom prst="rect">
            <a:avLst/>
          </a:prstGeom>
        </p:spPr>
      </p:pic>
      <p:sp>
        <p:nvSpPr>
          <p:cNvPr id="10" name="Text 7"/>
          <p:cNvSpPr txBox="1"/>
          <p:nvPr/>
        </p:nvSpPr>
        <p:spPr>
          <a:xfrm>
            <a:off x="1554480" y="2039112"/>
            <a:ext cx="2331720" cy="566928"/>
          </a:xfrm>
          <a:prstGeom prst="rect">
            <a:avLst/>
          </a:prstGeom>
          <a:noFill/>
          <a:ln/>
        </p:spPr>
        <p:txBody>
          <a:bodyPr wrap="square" lIns="0" tIns="0" rIns="0" bIns="0" rtlCol="0" anchor="ctr"/>
          <a:lstStyle/>
          <a:p>
            <a:pPr indent="0" marL="0">
              <a:buNone/>
            </a:pPr>
            <a:r>
              <a:rPr lang="en-US" sz="1500" b="1" dirty="0">
                <a:solidFill>
                  <a:srgbClr val="0B1F33"/>
                </a:solidFill>
                <a:latin typeface="Arial" pitchFamily="34" charset="0"/>
                <a:ea typeface="Arial" pitchFamily="34" charset="-122"/>
                <a:cs typeface="Arial" pitchFamily="34" charset="-120"/>
              </a:rPr>
              <a:t>Estimate in refinement</a:t>
            </a:r>
            <a:endParaRPr lang="en-US" sz="1500" dirty="0"/>
          </a:p>
        </p:txBody>
      </p:sp>
      <p:sp>
        <p:nvSpPr>
          <p:cNvPr id="11" name="Text 8"/>
          <p:cNvSpPr txBox="1"/>
          <p:nvPr/>
        </p:nvSpPr>
        <p:spPr>
          <a:xfrm>
            <a:off x="822960" y="2743200"/>
            <a:ext cx="2971800" cy="914400"/>
          </a:xfrm>
          <a:prstGeom prst="rect">
            <a:avLst/>
          </a:prstGeom>
          <a:noFill/>
          <a:ln/>
        </p:spPr>
        <p:txBody>
          <a:bodyPr wrap="square" lIns="0" tIns="0" rIns="0" bIns="0" rtlCol="0" anchor="t"/>
          <a:lstStyle/>
          <a:p>
            <a:pPr indent="0" marL="0">
              <a:buNone/>
            </a:pPr>
            <a:r>
              <a:rPr lang="en-US" sz="1250" dirty="0">
                <a:solidFill>
                  <a:srgbClr val="1F2A36"/>
                </a:solidFill>
                <a:latin typeface="Arial" pitchFamily="34" charset="0"/>
                <a:ea typeface="Arial" pitchFamily="34" charset="-122"/>
                <a:cs typeface="Arial" pitchFamily="34" charset="-120"/>
              </a:rPr>
              <a:t>Size items before Sprint Planning, so planning focuses on the Sprint Goal.</a:t>
            </a:r>
            <a:endParaRPr lang="en-US" sz="1250" dirty="0"/>
          </a:p>
        </p:txBody>
      </p:sp>
      <p:sp>
        <p:nvSpPr>
          <p:cNvPr id="12" name="Shape 9"/>
          <p:cNvSpPr/>
          <p:nvPr/>
        </p:nvSpPr>
        <p:spPr>
          <a:xfrm>
            <a:off x="4297680" y="1783080"/>
            <a:ext cx="3474720" cy="1965960"/>
          </a:xfrm>
          <a:prstGeom prst="rect">
            <a:avLst/>
          </a:prstGeom>
          <a:solidFill>
            <a:srgbClr val="EEF3F6"/>
          </a:solidFill>
          <a:ln w="12700">
            <a:solidFill>
              <a:srgbClr val="EEF3F6"/>
            </a:solidFill>
            <a:prstDash val="solid"/>
          </a:ln>
        </p:spPr>
      </p:sp>
      <p:sp>
        <p:nvSpPr>
          <p:cNvPr id="13" name="Shape 10"/>
          <p:cNvSpPr/>
          <p:nvPr/>
        </p:nvSpPr>
        <p:spPr>
          <a:xfrm>
            <a:off x="4572000" y="2039112"/>
            <a:ext cx="566928" cy="566928"/>
          </a:xfrm>
          <a:prstGeom prst="ellipse">
            <a:avLst/>
          </a:prstGeom>
          <a:solidFill>
            <a:srgbClr val="0A8F8F"/>
          </a:solidFill>
          <a:ln w="12700">
            <a:solidFill>
              <a:srgbClr val="0A8F8F"/>
            </a:solidFill>
            <a:prstDash val="solid"/>
          </a:ln>
        </p:spPr>
      </p:sp>
      <p:pic>
        <p:nvPicPr>
          <p:cNvPr id="14" name="Image 1" descr="preencoded.png">    </p:cNvPr>
          <p:cNvPicPr>
            <a:picLocks noChangeAspect="1"/>
          </p:cNvPicPr>
          <p:nvPr/>
        </p:nvPicPr>
        <p:blipFill>
          <a:blip r:embed="rId2"/>
          <a:stretch>
            <a:fillRect/>
          </a:stretch>
        </p:blipFill>
        <p:spPr>
          <a:xfrm>
            <a:off x="4713732" y="2180844"/>
            <a:ext cx="283464" cy="283464"/>
          </a:xfrm>
          <a:prstGeom prst="rect">
            <a:avLst/>
          </a:prstGeom>
        </p:spPr>
      </p:pic>
      <p:sp>
        <p:nvSpPr>
          <p:cNvPr id="15" name="Text 11"/>
          <p:cNvSpPr txBox="1"/>
          <p:nvPr/>
        </p:nvSpPr>
        <p:spPr>
          <a:xfrm>
            <a:off x="5303520" y="2039112"/>
            <a:ext cx="2331720" cy="566928"/>
          </a:xfrm>
          <a:prstGeom prst="rect">
            <a:avLst/>
          </a:prstGeom>
          <a:noFill/>
          <a:ln/>
        </p:spPr>
        <p:txBody>
          <a:bodyPr wrap="square" lIns="0" tIns="0" rIns="0" bIns="0" rtlCol="0" anchor="ctr"/>
          <a:lstStyle/>
          <a:p>
            <a:pPr indent="0" marL="0">
              <a:buNone/>
            </a:pPr>
            <a:r>
              <a:rPr lang="en-US" sz="1500" b="1" dirty="0">
                <a:solidFill>
                  <a:srgbClr val="0B1F33"/>
                </a:solidFill>
                <a:latin typeface="Arial" pitchFamily="34" charset="0"/>
                <a:ea typeface="Arial" pitchFamily="34" charset="-122"/>
                <a:cs typeface="Arial" pitchFamily="34" charset="-120"/>
              </a:rPr>
              <a:t>Timebox every item</a:t>
            </a:r>
            <a:endParaRPr lang="en-US" sz="1500" dirty="0"/>
          </a:p>
        </p:txBody>
      </p:sp>
      <p:sp>
        <p:nvSpPr>
          <p:cNvPr id="16" name="Text 12"/>
          <p:cNvSpPr txBox="1"/>
          <p:nvPr/>
        </p:nvSpPr>
        <p:spPr>
          <a:xfrm>
            <a:off x="4572000" y="2743200"/>
            <a:ext cx="2971800" cy="914400"/>
          </a:xfrm>
          <a:prstGeom prst="rect">
            <a:avLst/>
          </a:prstGeom>
          <a:noFill/>
          <a:ln/>
        </p:spPr>
        <p:txBody>
          <a:bodyPr wrap="square" lIns="0" tIns="0" rIns="0" bIns="0" rtlCol="0" anchor="t"/>
          <a:lstStyle/>
          <a:p>
            <a:pPr indent="0" marL="0">
              <a:buNone/>
            </a:pPr>
            <a:r>
              <a:rPr lang="en-US" sz="1250" dirty="0">
                <a:solidFill>
                  <a:srgbClr val="1F2A36"/>
                </a:solidFill>
                <a:latin typeface="Arial" pitchFamily="34" charset="0"/>
                <a:ea typeface="Arial" pitchFamily="34" charset="-122"/>
                <a:cs typeface="Arial" pitchFamily="34" charset="-120"/>
              </a:rPr>
              <a:t>Aim for 2 to 5 minutes. If it runs over, the item needs refining, not debating.</a:t>
            </a:r>
            <a:endParaRPr lang="en-US" sz="1250" dirty="0"/>
          </a:p>
        </p:txBody>
      </p:sp>
      <p:sp>
        <p:nvSpPr>
          <p:cNvPr id="17" name="Shape 13"/>
          <p:cNvSpPr/>
          <p:nvPr/>
        </p:nvSpPr>
        <p:spPr>
          <a:xfrm>
            <a:off x="8046720" y="1783080"/>
            <a:ext cx="3474720" cy="1965960"/>
          </a:xfrm>
          <a:prstGeom prst="rect">
            <a:avLst/>
          </a:prstGeom>
          <a:solidFill>
            <a:srgbClr val="EEF3F6"/>
          </a:solidFill>
          <a:ln w="12700">
            <a:solidFill>
              <a:srgbClr val="EEF3F6"/>
            </a:solidFill>
            <a:prstDash val="solid"/>
          </a:ln>
        </p:spPr>
      </p:sp>
      <p:sp>
        <p:nvSpPr>
          <p:cNvPr id="18" name="Shape 14"/>
          <p:cNvSpPr/>
          <p:nvPr/>
        </p:nvSpPr>
        <p:spPr>
          <a:xfrm>
            <a:off x="8321040" y="2039112"/>
            <a:ext cx="566928" cy="566928"/>
          </a:xfrm>
          <a:prstGeom prst="ellipse">
            <a:avLst/>
          </a:prstGeom>
          <a:solidFill>
            <a:srgbClr val="12355B"/>
          </a:solidFill>
          <a:ln w="12700">
            <a:solidFill>
              <a:srgbClr val="12355B"/>
            </a:solidFill>
            <a:prstDash val="solid"/>
          </a:ln>
        </p:spPr>
      </p:sp>
      <p:pic>
        <p:nvPicPr>
          <p:cNvPr id="19" name="Image 2" descr="preencoded.png">    </p:cNvPr>
          <p:cNvPicPr>
            <a:picLocks noChangeAspect="1"/>
          </p:cNvPicPr>
          <p:nvPr/>
        </p:nvPicPr>
        <p:blipFill>
          <a:blip r:embed="rId3"/>
          <a:stretch>
            <a:fillRect/>
          </a:stretch>
        </p:blipFill>
        <p:spPr>
          <a:xfrm>
            <a:off x="8462772" y="2180844"/>
            <a:ext cx="283464" cy="283464"/>
          </a:xfrm>
          <a:prstGeom prst="rect">
            <a:avLst/>
          </a:prstGeom>
        </p:spPr>
      </p:pic>
      <p:sp>
        <p:nvSpPr>
          <p:cNvPr id="20" name="Text 15"/>
          <p:cNvSpPr txBox="1"/>
          <p:nvPr/>
        </p:nvSpPr>
        <p:spPr>
          <a:xfrm>
            <a:off x="9052560" y="2039112"/>
            <a:ext cx="2331720" cy="566928"/>
          </a:xfrm>
          <a:prstGeom prst="rect">
            <a:avLst/>
          </a:prstGeom>
          <a:noFill/>
          <a:ln/>
        </p:spPr>
        <p:txBody>
          <a:bodyPr wrap="square" lIns="0" tIns="0" rIns="0" bIns="0" rtlCol="0" anchor="ctr"/>
          <a:lstStyle/>
          <a:p>
            <a:pPr indent="0" marL="0">
              <a:buNone/>
            </a:pPr>
            <a:r>
              <a:rPr lang="en-US" sz="1500" b="1" dirty="0">
                <a:solidFill>
                  <a:srgbClr val="0B1F33"/>
                </a:solidFill>
                <a:latin typeface="Arial" pitchFamily="34" charset="0"/>
                <a:ea typeface="Arial" pitchFamily="34" charset="-122"/>
                <a:cs typeface="Arial" pitchFamily="34" charset="-120"/>
              </a:rPr>
              <a:t>Split anything above 13</a:t>
            </a:r>
            <a:endParaRPr lang="en-US" sz="1500" dirty="0"/>
          </a:p>
        </p:txBody>
      </p:sp>
      <p:sp>
        <p:nvSpPr>
          <p:cNvPr id="21" name="Text 16"/>
          <p:cNvSpPr txBox="1"/>
          <p:nvPr/>
        </p:nvSpPr>
        <p:spPr>
          <a:xfrm>
            <a:off x="8321040" y="2743200"/>
            <a:ext cx="2971800" cy="914400"/>
          </a:xfrm>
          <a:prstGeom prst="rect">
            <a:avLst/>
          </a:prstGeom>
          <a:noFill/>
          <a:ln/>
        </p:spPr>
        <p:txBody>
          <a:bodyPr wrap="square" lIns="0" tIns="0" rIns="0" bIns="0" rtlCol="0" anchor="t"/>
          <a:lstStyle/>
          <a:p>
            <a:pPr indent="0" marL="0">
              <a:buNone/>
            </a:pPr>
            <a:r>
              <a:rPr lang="en-US" sz="1250" dirty="0">
                <a:solidFill>
                  <a:srgbClr val="1F2A36"/>
                </a:solidFill>
                <a:latin typeface="Arial" pitchFamily="34" charset="0"/>
                <a:ea typeface="Arial" pitchFamily="34" charset="-122"/>
                <a:cs typeface="Arial" pitchFamily="34" charset="-120"/>
              </a:rPr>
              <a:t>Large items hide risk. Split by workflow step, rule or data type.</a:t>
            </a:r>
            <a:endParaRPr lang="en-US" sz="1250" dirty="0"/>
          </a:p>
        </p:txBody>
      </p:sp>
      <p:sp>
        <p:nvSpPr>
          <p:cNvPr id="22" name="Shape 17"/>
          <p:cNvSpPr/>
          <p:nvPr/>
        </p:nvSpPr>
        <p:spPr>
          <a:xfrm>
            <a:off x="548640" y="3977640"/>
            <a:ext cx="3474720" cy="1965960"/>
          </a:xfrm>
          <a:prstGeom prst="rect">
            <a:avLst/>
          </a:prstGeom>
          <a:solidFill>
            <a:srgbClr val="EEF3F6"/>
          </a:solidFill>
          <a:ln w="12700">
            <a:solidFill>
              <a:srgbClr val="EEF3F6"/>
            </a:solidFill>
            <a:prstDash val="solid"/>
          </a:ln>
        </p:spPr>
      </p:sp>
      <p:sp>
        <p:nvSpPr>
          <p:cNvPr id="23" name="Shape 18"/>
          <p:cNvSpPr/>
          <p:nvPr/>
        </p:nvSpPr>
        <p:spPr>
          <a:xfrm>
            <a:off x="822960" y="4233672"/>
            <a:ext cx="566928" cy="566928"/>
          </a:xfrm>
          <a:prstGeom prst="ellipse">
            <a:avLst/>
          </a:prstGeom>
          <a:solidFill>
            <a:srgbClr val="0A8F8F"/>
          </a:solidFill>
          <a:ln w="12700">
            <a:solidFill>
              <a:srgbClr val="0A8F8F"/>
            </a:solidFill>
            <a:prstDash val="solid"/>
          </a:ln>
        </p:spPr>
      </p:sp>
      <p:pic>
        <p:nvPicPr>
          <p:cNvPr id="24" name="Image 3" descr="preencoded.png">    </p:cNvPr>
          <p:cNvPicPr>
            <a:picLocks noChangeAspect="1"/>
          </p:cNvPicPr>
          <p:nvPr/>
        </p:nvPicPr>
        <p:blipFill>
          <a:blip r:embed="rId4"/>
          <a:stretch>
            <a:fillRect/>
          </a:stretch>
        </p:blipFill>
        <p:spPr>
          <a:xfrm>
            <a:off x="964692" y="4375404"/>
            <a:ext cx="283464" cy="283464"/>
          </a:xfrm>
          <a:prstGeom prst="rect">
            <a:avLst/>
          </a:prstGeom>
        </p:spPr>
      </p:pic>
      <p:sp>
        <p:nvSpPr>
          <p:cNvPr id="25" name="Text 19"/>
          <p:cNvSpPr txBox="1"/>
          <p:nvPr/>
        </p:nvSpPr>
        <p:spPr>
          <a:xfrm>
            <a:off x="1554480" y="4233672"/>
            <a:ext cx="2331720" cy="566928"/>
          </a:xfrm>
          <a:prstGeom prst="rect">
            <a:avLst/>
          </a:prstGeom>
          <a:noFill/>
          <a:ln/>
        </p:spPr>
        <p:txBody>
          <a:bodyPr wrap="square" lIns="0" tIns="0" rIns="0" bIns="0" rtlCol="0" anchor="ctr"/>
          <a:lstStyle/>
          <a:p>
            <a:pPr indent="0" marL="0">
              <a:buNone/>
            </a:pPr>
            <a:r>
              <a:rPr lang="en-US" sz="1500" b="1" dirty="0">
                <a:solidFill>
                  <a:srgbClr val="0B1F33"/>
                </a:solidFill>
                <a:latin typeface="Arial" pitchFamily="34" charset="0"/>
                <a:ea typeface="Arial" pitchFamily="34" charset="-122"/>
                <a:cs typeface="Arial" pitchFamily="34" charset="-120"/>
              </a:rPr>
              <a:t>Adjacent votes? Move on</a:t>
            </a:r>
            <a:endParaRPr lang="en-US" sz="1500" dirty="0"/>
          </a:p>
        </p:txBody>
      </p:sp>
      <p:sp>
        <p:nvSpPr>
          <p:cNvPr id="26" name="Text 20"/>
          <p:cNvSpPr txBox="1"/>
          <p:nvPr/>
        </p:nvSpPr>
        <p:spPr>
          <a:xfrm>
            <a:off x="822960" y="4937760"/>
            <a:ext cx="2971800" cy="914400"/>
          </a:xfrm>
          <a:prstGeom prst="rect">
            <a:avLst/>
          </a:prstGeom>
          <a:noFill/>
          <a:ln/>
        </p:spPr>
        <p:txBody>
          <a:bodyPr wrap="square" lIns="0" tIns="0" rIns="0" bIns="0" rtlCol="0" anchor="t"/>
          <a:lstStyle/>
          <a:p>
            <a:pPr indent="0" marL="0">
              <a:buNone/>
            </a:pPr>
            <a:r>
              <a:rPr lang="en-US" sz="1250" dirty="0">
                <a:solidFill>
                  <a:srgbClr val="1F2A36"/>
                </a:solidFill>
                <a:latin typeface="Arial" pitchFamily="34" charset="0"/>
                <a:ea typeface="Arial" pitchFamily="34" charset="-122"/>
                <a:cs typeface="Arial" pitchFamily="34" charset="-120"/>
              </a:rPr>
              <a:t>If votes are 3 and 5, take the higher and continue. Precision here adds little.</a:t>
            </a:r>
            <a:endParaRPr lang="en-US" sz="1250" dirty="0"/>
          </a:p>
        </p:txBody>
      </p:sp>
      <p:sp>
        <p:nvSpPr>
          <p:cNvPr id="27" name="Shape 21"/>
          <p:cNvSpPr/>
          <p:nvPr/>
        </p:nvSpPr>
        <p:spPr>
          <a:xfrm>
            <a:off x="4297680" y="3977640"/>
            <a:ext cx="3474720" cy="1965960"/>
          </a:xfrm>
          <a:prstGeom prst="rect">
            <a:avLst/>
          </a:prstGeom>
          <a:solidFill>
            <a:srgbClr val="EEF3F6"/>
          </a:solidFill>
          <a:ln w="12700">
            <a:solidFill>
              <a:srgbClr val="EEF3F6"/>
            </a:solidFill>
            <a:prstDash val="solid"/>
          </a:ln>
        </p:spPr>
      </p:sp>
      <p:sp>
        <p:nvSpPr>
          <p:cNvPr id="28" name="Shape 22"/>
          <p:cNvSpPr/>
          <p:nvPr/>
        </p:nvSpPr>
        <p:spPr>
          <a:xfrm>
            <a:off x="4572000" y="4233672"/>
            <a:ext cx="566928" cy="566928"/>
          </a:xfrm>
          <a:prstGeom prst="ellipse">
            <a:avLst/>
          </a:prstGeom>
          <a:solidFill>
            <a:srgbClr val="12355B"/>
          </a:solidFill>
          <a:ln w="12700">
            <a:solidFill>
              <a:srgbClr val="12355B"/>
            </a:solidFill>
            <a:prstDash val="solid"/>
          </a:ln>
        </p:spPr>
      </p:sp>
      <p:pic>
        <p:nvPicPr>
          <p:cNvPr id="29" name="Image 4" descr="preencoded.png">    </p:cNvPr>
          <p:cNvPicPr>
            <a:picLocks noChangeAspect="1"/>
          </p:cNvPicPr>
          <p:nvPr/>
        </p:nvPicPr>
        <p:blipFill>
          <a:blip r:embed="rId5"/>
          <a:stretch>
            <a:fillRect/>
          </a:stretch>
        </p:blipFill>
        <p:spPr>
          <a:xfrm>
            <a:off x="4713732" y="4375404"/>
            <a:ext cx="283464" cy="283464"/>
          </a:xfrm>
          <a:prstGeom prst="rect">
            <a:avLst/>
          </a:prstGeom>
        </p:spPr>
      </p:pic>
      <p:sp>
        <p:nvSpPr>
          <p:cNvPr id="30" name="Text 23"/>
          <p:cNvSpPr txBox="1"/>
          <p:nvPr/>
        </p:nvSpPr>
        <p:spPr>
          <a:xfrm>
            <a:off x="5303520" y="4233672"/>
            <a:ext cx="2331720" cy="566928"/>
          </a:xfrm>
          <a:prstGeom prst="rect">
            <a:avLst/>
          </a:prstGeom>
          <a:noFill/>
          <a:ln/>
        </p:spPr>
        <p:txBody>
          <a:bodyPr wrap="square" lIns="0" tIns="0" rIns="0" bIns="0" rtlCol="0" anchor="ctr"/>
          <a:lstStyle/>
          <a:p>
            <a:pPr indent="0" marL="0">
              <a:buNone/>
            </a:pPr>
            <a:r>
              <a:rPr lang="en-US" sz="1500" b="1" dirty="0">
                <a:solidFill>
                  <a:srgbClr val="0B1F33"/>
                </a:solidFill>
                <a:latin typeface="Arial" pitchFamily="34" charset="0"/>
                <a:ea typeface="Arial" pitchFamily="34" charset="-122"/>
                <a:cs typeface="Arial" pitchFamily="34" charset="-120"/>
              </a:rPr>
              <a:t>Only Developers estimate</a:t>
            </a:r>
            <a:endParaRPr lang="en-US" sz="1500" dirty="0"/>
          </a:p>
        </p:txBody>
      </p:sp>
      <p:sp>
        <p:nvSpPr>
          <p:cNvPr id="31" name="Text 24"/>
          <p:cNvSpPr txBox="1"/>
          <p:nvPr/>
        </p:nvSpPr>
        <p:spPr>
          <a:xfrm>
            <a:off x="4572000" y="4937760"/>
            <a:ext cx="2971800" cy="914400"/>
          </a:xfrm>
          <a:prstGeom prst="rect">
            <a:avLst/>
          </a:prstGeom>
          <a:noFill/>
          <a:ln/>
        </p:spPr>
        <p:txBody>
          <a:bodyPr wrap="square" lIns="0" tIns="0" rIns="0" bIns="0" rtlCol="0" anchor="t"/>
          <a:lstStyle/>
          <a:p>
            <a:pPr indent="0" marL="0">
              <a:buNone/>
            </a:pPr>
            <a:r>
              <a:rPr lang="en-US" sz="1250" dirty="0">
                <a:solidFill>
                  <a:srgbClr val="1F2A36"/>
                </a:solidFill>
                <a:latin typeface="Arial" pitchFamily="34" charset="0"/>
                <a:ea typeface="Arial" pitchFamily="34" charset="-122"/>
                <a:cs typeface="Arial" pitchFamily="34" charset="-120"/>
              </a:rPr>
              <a:t>Those doing the work size it. Managers and the Product Owner do not vote.</a:t>
            </a:r>
            <a:endParaRPr lang="en-US" sz="1250" dirty="0"/>
          </a:p>
        </p:txBody>
      </p:sp>
      <p:sp>
        <p:nvSpPr>
          <p:cNvPr id="32" name="Shape 25"/>
          <p:cNvSpPr/>
          <p:nvPr/>
        </p:nvSpPr>
        <p:spPr>
          <a:xfrm>
            <a:off x="8046720" y="3977640"/>
            <a:ext cx="3474720" cy="1965960"/>
          </a:xfrm>
          <a:prstGeom prst="rect">
            <a:avLst/>
          </a:prstGeom>
          <a:solidFill>
            <a:srgbClr val="EEF3F6"/>
          </a:solidFill>
          <a:ln w="12700">
            <a:solidFill>
              <a:srgbClr val="EEF3F6"/>
            </a:solidFill>
            <a:prstDash val="solid"/>
          </a:ln>
        </p:spPr>
      </p:sp>
      <p:sp>
        <p:nvSpPr>
          <p:cNvPr id="33" name="Shape 26"/>
          <p:cNvSpPr/>
          <p:nvPr/>
        </p:nvSpPr>
        <p:spPr>
          <a:xfrm>
            <a:off x="8321040" y="4233672"/>
            <a:ext cx="566928" cy="566928"/>
          </a:xfrm>
          <a:prstGeom prst="ellipse">
            <a:avLst/>
          </a:prstGeom>
          <a:solidFill>
            <a:srgbClr val="0A8F8F"/>
          </a:solidFill>
          <a:ln w="12700">
            <a:solidFill>
              <a:srgbClr val="0A8F8F"/>
            </a:solidFill>
            <a:prstDash val="solid"/>
          </a:ln>
        </p:spPr>
      </p:sp>
      <p:pic>
        <p:nvPicPr>
          <p:cNvPr id="34" name="Image 5" descr="preencoded.png">    </p:cNvPr>
          <p:cNvPicPr>
            <a:picLocks noChangeAspect="1"/>
          </p:cNvPicPr>
          <p:nvPr/>
        </p:nvPicPr>
        <p:blipFill>
          <a:blip r:embed="rId6"/>
          <a:stretch>
            <a:fillRect/>
          </a:stretch>
        </p:blipFill>
        <p:spPr>
          <a:xfrm>
            <a:off x="8462772" y="4375404"/>
            <a:ext cx="283464" cy="283464"/>
          </a:xfrm>
          <a:prstGeom prst="rect">
            <a:avLst/>
          </a:prstGeom>
        </p:spPr>
      </p:pic>
      <p:sp>
        <p:nvSpPr>
          <p:cNvPr id="35" name="Text 27"/>
          <p:cNvSpPr txBox="1"/>
          <p:nvPr/>
        </p:nvSpPr>
        <p:spPr>
          <a:xfrm>
            <a:off x="9052560" y="4233672"/>
            <a:ext cx="2331720" cy="566928"/>
          </a:xfrm>
          <a:prstGeom prst="rect">
            <a:avLst/>
          </a:prstGeom>
          <a:noFill/>
          <a:ln/>
        </p:spPr>
        <p:txBody>
          <a:bodyPr wrap="square" lIns="0" tIns="0" rIns="0" bIns="0" rtlCol="0" anchor="ctr"/>
          <a:lstStyle/>
          <a:p>
            <a:pPr indent="0" marL="0">
              <a:buNone/>
            </a:pPr>
            <a:r>
              <a:rPr lang="en-US" sz="1500" b="1" dirty="0">
                <a:solidFill>
                  <a:srgbClr val="0B1F33"/>
                </a:solidFill>
                <a:latin typeface="Arial" pitchFamily="34" charset="0"/>
                <a:ea typeface="Arial" pitchFamily="34" charset="-122"/>
                <a:cs typeface="Arial" pitchFamily="34" charset="-120"/>
              </a:rPr>
              <a:t>Include everything in Done</a:t>
            </a:r>
            <a:endParaRPr lang="en-US" sz="1500" dirty="0"/>
          </a:p>
        </p:txBody>
      </p:sp>
      <p:sp>
        <p:nvSpPr>
          <p:cNvPr id="36" name="Text 28"/>
          <p:cNvSpPr txBox="1"/>
          <p:nvPr/>
        </p:nvSpPr>
        <p:spPr>
          <a:xfrm>
            <a:off x="8321040" y="4937760"/>
            <a:ext cx="2971800" cy="914400"/>
          </a:xfrm>
          <a:prstGeom prst="rect">
            <a:avLst/>
          </a:prstGeom>
          <a:noFill/>
          <a:ln/>
        </p:spPr>
        <p:txBody>
          <a:bodyPr wrap="square" lIns="0" tIns="0" rIns="0" bIns="0" rtlCol="0" anchor="t"/>
          <a:lstStyle/>
          <a:p>
            <a:pPr indent="0" marL="0">
              <a:buNone/>
            </a:pPr>
            <a:r>
              <a:rPr lang="en-US" sz="1250" dirty="0">
                <a:solidFill>
                  <a:srgbClr val="1F2A36"/>
                </a:solidFill>
                <a:latin typeface="Arial" pitchFamily="34" charset="0"/>
                <a:ea typeface="Arial" pitchFamily="34" charset="-122"/>
                <a:cs typeface="Arial" pitchFamily="34" charset="-120"/>
              </a:rPr>
              <a:t>Points cover testing, review and deployment, as per the Definition of Done.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USING THE NUMBERS</a:t>
            </a:r>
            <a:endParaRPr lang="en-US" sz="1000" dirty="0"/>
          </a:p>
        </p:txBody>
      </p:sp>
      <p:sp>
        <p:nvSpPr>
          <p:cNvPr id="3" name="Text 1"/>
          <p:cNvSpPr txBox="1"/>
          <p:nvPr/>
        </p:nvSpPr>
        <p:spPr>
          <a:xfrm>
            <a:off x="7040880" y="320040"/>
            <a:ext cx="45994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Estimating with Story Points  |  Team Training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Velocity turns estimates into a forecast range, which is more honest than a single date</a:t>
            </a:r>
            <a:endParaRPr lang="en-US" sz="2400" dirty="0"/>
          </a:p>
        </p:txBody>
      </p:sp>
      <p:sp>
        <p:nvSpPr>
          <p:cNvPr id="5" name="Text 3"/>
          <p:cNvSpPr txBox="1"/>
          <p:nvPr/>
        </p:nvSpPr>
        <p:spPr>
          <a:xfrm>
            <a:off x="548640" y="6355080"/>
            <a:ext cx="1024128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Illustrative data for a two-week Sprint cadence; team analysis</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10</a:t>
            </a:r>
            <a:endParaRPr lang="en-US" sz="900" dirty="0"/>
          </a:p>
        </p:txBody>
      </p:sp>
      <p:sp>
        <p:nvSpPr>
          <p:cNvPr id="7" name="Text 5"/>
          <p:cNvSpPr txBox="1"/>
          <p:nvPr/>
        </p:nvSpPr>
        <p:spPr>
          <a:xfrm>
            <a:off x="548640" y="1691640"/>
            <a:ext cx="1828800" cy="256032"/>
          </a:xfrm>
          <a:prstGeom prst="rect">
            <a:avLst/>
          </a:prstGeom>
          <a:noFill/>
          <a:ln/>
        </p:spPr>
        <p:txBody>
          <a:bodyPr wrap="square" lIns="0" tIns="0" rIns="0" bIns="0" rtlCol="0" anchor="t"/>
          <a:lstStyle/>
          <a:p>
            <a:pPr indent="0" marL="0">
              <a:buNone/>
            </a:pPr>
            <a:r>
              <a:rPr lang="en-US" sz="900" b="1" spc="200" kern="0" dirty="0">
                <a:solidFill>
                  <a:srgbClr val="5E6E7E"/>
                </a:solidFill>
                <a:latin typeface="Arial" pitchFamily="34" charset="0"/>
                <a:ea typeface="Arial" pitchFamily="34" charset="-122"/>
                <a:cs typeface="Arial" pitchFamily="34" charset="-120"/>
              </a:rPr>
              <a:t>ILLUSTRATIVE</a:t>
            </a:r>
            <a:endParaRPr lang="en-US" sz="900" dirty="0"/>
          </a:p>
        </p:txBody>
      </p:sp>
      <p:graphicFrame>
        <p:nvGraphicFramePr>
          <p:cNvPr id="8" name="Chart 0" descr=""/>
          <p:cNvGraphicFramePr/>
          <p:nvPr/>
        </p:nvGraphicFramePr>
        <p:xfrm>
          <a:off x="548640" y="1965960"/>
          <a:ext cx="6949440" cy="41605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863840" y="1965960"/>
            <a:ext cx="3749040" cy="1737360"/>
          </a:xfrm>
          <a:prstGeom prst="rect">
            <a:avLst/>
          </a:prstGeom>
          <a:solidFill>
            <a:srgbClr val="0A8F8F"/>
          </a:solidFill>
          <a:ln w="12700">
            <a:solidFill>
              <a:srgbClr val="0A8F8F"/>
            </a:solidFill>
            <a:prstDash val="solid"/>
          </a:ln>
        </p:spPr>
      </p:sp>
      <p:sp>
        <p:nvSpPr>
          <p:cNvPr id="10" name="Text 7"/>
          <p:cNvSpPr txBox="1"/>
          <p:nvPr/>
        </p:nvSpPr>
        <p:spPr>
          <a:xfrm>
            <a:off x="8092440" y="2103120"/>
            <a:ext cx="3291840" cy="274320"/>
          </a:xfrm>
          <a:prstGeom prst="rect">
            <a:avLst/>
          </a:prstGeom>
          <a:noFill/>
          <a:ln/>
        </p:spPr>
        <p:txBody>
          <a:bodyPr wrap="square" lIns="0" tIns="0" rIns="0" bIns="0" rtlCol="0" anchor="t"/>
          <a:lstStyle/>
          <a:p>
            <a:pPr indent="0" marL="0">
              <a:buNone/>
            </a:pPr>
            <a:r>
              <a:rPr lang="en-US" sz="1000" b="1" spc="200" kern="0" dirty="0">
                <a:solidFill>
                  <a:srgbClr val="FFFFFF"/>
                </a:solidFill>
                <a:latin typeface="Arial" pitchFamily="34" charset="0"/>
                <a:ea typeface="Arial" pitchFamily="34" charset="-122"/>
                <a:cs typeface="Arial" pitchFamily="34" charset="-120"/>
              </a:rPr>
              <a:t>FORECAST</a:t>
            </a:r>
            <a:endParaRPr lang="en-US" sz="1000" dirty="0"/>
          </a:p>
        </p:txBody>
      </p:sp>
      <p:sp>
        <p:nvSpPr>
          <p:cNvPr id="11" name="Text 8"/>
          <p:cNvSpPr txBox="1"/>
          <p:nvPr/>
        </p:nvSpPr>
        <p:spPr>
          <a:xfrm>
            <a:off x="8092440" y="2377440"/>
            <a:ext cx="3291840" cy="640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4–5 Sprints</a:t>
            </a:r>
            <a:endParaRPr lang="en-US" sz="3000" dirty="0"/>
          </a:p>
        </p:txBody>
      </p:sp>
      <p:sp>
        <p:nvSpPr>
          <p:cNvPr id="12" name="Text 9"/>
          <p:cNvSpPr txBox="1"/>
          <p:nvPr/>
        </p:nvSpPr>
        <p:spPr>
          <a:xfrm>
            <a:off x="8092440" y="3017520"/>
            <a:ext cx="3291840" cy="64008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to deliver a 120-point release, using the last three Sprints (28–31 points)</a:t>
            </a:r>
            <a:endParaRPr lang="en-US" sz="1150" dirty="0"/>
          </a:p>
        </p:txBody>
      </p:sp>
      <p:sp>
        <p:nvSpPr>
          <p:cNvPr id="13" name="Text 10"/>
          <p:cNvSpPr txBox="1"/>
          <p:nvPr/>
        </p:nvSpPr>
        <p:spPr>
          <a:xfrm>
            <a:off x="7863840" y="3977640"/>
            <a:ext cx="3749040" cy="21031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Use a range from recent Sprints, not a single average</a:t>
            </a:r>
            <a:endParaRPr lang="en-US" sz="1250" dirty="0"/>
          </a:p>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Velocity belongs to one team; never compare teams</a:t>
            </a:r>
            <a:endParaRPr lang="en-US" sz="1250" dirty="0"/>
          </a:p>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Expect it to stabilise after 3 to 4 Sprints</a:t>
            </a:r>
            <a:endParaRPr lang="en-US" sz="1250" dirty="0"/>
          </a:p>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Rising velocity is not a goal in itself</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PITFALLS</a:t>
            </a:r>
            <a:endParaRPr lang="en-US" sz="1000" dirty="0"/>
          </a:p>
        </p:txBody>
      </p:sp>
      <p:sp>
        <p:nvSpPr>
          <p:cNvPr id="3" name="Text 1"/>
          <p:cNvSpPr txBox="1"/>
          <p:nvPr/>
        </p:nvSpPr>
        <p:spPr>
          <a:xfrm>
            <a:off x="7040880" y="320040"/>
            <a:ext cx="45994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Estimating with Story Points  |  Team Training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Most estimation problems come from misusing points, not from the technique itself</a:t>
            </a:r>
            <a:endParaRPr lang="en-US" sz="2400" dirty="0"/>
          </a:p>
        </p:txBody>
      </p:sp>
      <p:sp>
        <p:nvSpPr>
          <p:cNvPr id="5" name="Text 3"/>
          <p:cNvSpPr txBox="1"/>
          <p:nvPr/>
        </p:nvSpPr>
        <p:spPr>
          <a:xfrm>
            <a:off x="548640" y="6355080"/>
            <a:ext cx="1024128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Team analysis. Story points are a complementary practice; the Scrum Guide (2020) does not prescribe an estimation technique</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11</a:t>
            </a:r>
            <a:endParaRPr lang="en-US" sz="900" dirty="0"/>
          </a:p>
        </p:txBody>
      </p:sp>
      <p:sp>
        <p:nvSpPr>
          <p:cNvPr id="7" name="Text 5"/>
          <p:cNvSpPr txBox="1"/>
          <p:nvPr/>
        </p:nvSpPr>
        <p:spPr>
          <a:xfrm>
            <a:off x="1097280" y="1737360"/>
            <a:ext cx="4572000" cy="274320"/>
          </a:xfrm>
          <a:prstGeom prst="rect">
            <a:avLst/>
          </a:prstGeom>
          <a:noFill/>
          <a:ln/>
        </p:spPr>
        <p:txBody>
          <a:bodyPr wrap="square" lIns="0" tIns="0" rIns="0" bIns="0" rtlCol="0" anchor="t"/>
          <a:lstStyle/>
          <a:p>
            <a:pPr indent="0" marL="0">
              <a:buNone/>
            </a:pPr>
            <a:r>
              <a:rPr lang="en-US" sz="1000" b="1" spc="200" kern="0" dirty="0">
                <a:solidFill>
                  <a:srgbClr val="B04A3A"/>
                </a:solidFill>
                <a:latin typeface="Arial" pitchFamily="34" charset="0"/>
                <a:ea typeface="Arial" pitchFamily="34" charset="-122"/>
                <a:cs typeface="Arial" pitchFamily="34" charset="-120"/>
              </a:rPr>
              <a:t>WHAT WE SOMETIMES SEE</a:t>
            </a:r>
            <a:endParaRPr lang="en-US" sz="1000" dirty="0"/>
          </a:p>
        </p:txBody>
      </p:sp>
      <p:sp>
        <p:nvSpPr>
          <p:cNvPr id="8" name="Text 6"/>
          <p:cNvSpPr txBox="1"/>
          <p:nvPr/>
        </p:nvSpPr>
        <p:spPr>
          <a:xfrm>
            <a:off x="6720840" y="1737360"/>
            <a:ext cx="45720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WHAT GOOD LOOKS LIKE</a:t>
            </a:r>
            <a:endParaRPr lang="en-US" sz="1000" dirty="0"/>
          </a:p>
        </p:txBody>
      </p:sp>
      <p:sp>
        <p:nvSpPr>
          <p:cNvPr id="9" name="Shape 7"/>
          <p:cNvSpPr/>
          <p:nvPr/>
        </p:nvSpPr>
        <p:spPr>
          <a:xfrm>
            <a:off x="6172200" y="2103120"/>
            <a:ext cx="5440680" cy="676656"/>
          </a:xfrm>
          <a:prstGeom prst="rect">
            <a:avLst/>
          </a:prstGeom>
          <a:solidFill>
            <a:srgbClr val="DDF0F0"/>
          </a:solidFill>
          <a:ln w="12700">
            <a:solidFill>
              <a:srgbClr val="DDF0F0"/>
            </a:solidFill>
            <a:prstDash val="solid"/>
          </a:ln>
        </p:spPr>
      </p:sp>
      <p:pic>
        <p:nvPicPr>
          <p:cNvPr id="10" name="Image 0" descr="preencoded.png">    </p:cNvPr>
          <p:cNvPicPr>
            <a:picLocks noChangeAspect="1"/>
          </p:cNvPicPr>
          <p:nvPr/>
        </p:nvPicPr>
        <p:blipFill>
          <a:blip r:embed="rId1"/>
          <a:stretch>
            <a:fillRect/>
          </a:stretch>
        </p:blipFill>
        <p:spPr>
          <a:xfrm>
            <a:off x="594360" y="2276856"/>
            <a:ext cx="329184" cy="329184"/>
          </a:xfrm>
          <a:prstGeom prst="rect">
            <a:avLst/>
          </a:prstGeom>
        </p:spPr>
      </p:pic>
      <p:sp>
        <p:nvSpPr>
          <p:cNvPr id="11" name="Text 8"/>
          <p:cNvSpPr txBox="1"/>
          <p:nvPr/>
        </p:nvSpPr>
        <p:spPr>
          <a:xfrm>
            <a:off x="1097280" y="2103120"/>
            <a:ext cx="4846320" cy="676656"/>
          </a:xfrm>
          <a:prstGeom prst="rect">
            <a:avLst/>
          </a:prstGeom>
          <a:noFill/>
          <a:ln/>
        </p:spPr>
        <p:txBody>
          <a:bodyPr wrap="square" lIns="0" tIns="0" rIns="0" bIns="0" rtlCol="0" anchor="ctr"/>
          <a:lstStyle/>
          <a:p>
            <a:pPr indent="0" marL="0">
              <a:buNone/>
            </a:pPr>
            <a:r>
              <a:rPr lang="en-US" sz="1250" dirty="0">
                <a:solidFill>
                  <a:srgbClr val="1F2A36"/>
                </a:solidFill>
                <a:latin typeface="Arial" pitchFamily="34" charset="0"/>
                <a:ea typeface="Arial" pitchFamily="34" charset="-122"/>
                <a:cs typeface="Arial" pitchFamily="34" charset="-120"/>
              </a:rPr>
              <a:t>Converting points to hours ("1 point = 1 day")</a:t>
            </a:r>
            <a:endParaRPr lang="en-US" sz="1250" dirty="0"/>
          </a:p>
        </p:txBody>
      </p:sp>
      <p:pic>
        <p:nvPicPr>
          <p:cNvPr id="12" name="Image 1" descr="preencoded.png">    </p:cNvPr>
          <p:cNvPicPr>
            <a:picLocks noChangeAspect="1"/>
          </p:cNvPicPr>
          <p:nvPr/>
        </p:nvPicPr>
        <p:blipFill>
          <a:blip r:embed="rId2"/>
          <a:stretch>
            <a:fillRect/>
          </a:stretch>
        </p:blipFill>
        <p:spPr>
          <a:xfrm>
            <a:off x="6355080" y="2276856"/>
            <a:ext cx="329184" cy="329184"/>
          </a:xfrm>
          <a:prstGeom prst="rect">
            <a:avLst/>
          </a:prstGeom>
        </p:spPr>
      </p:pic>
      <p:sp>
        <p:nvSpPr>
          <p:cNvPr id="13" name="Text 9"/>
          <p:cNvSpPr txBox="1"/>
          <p:nvPr/>
        </p:nvSpPr>
        <p:spPr>
          <a:xfrm>
            <a:off x="6812280" y="2103120"/>
            <a:ext cx="4663440" cy="676656"/>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Points stay relative; time comes from velocity, not conversion</a:t>
            </a:r>
            <a:endParaRPr lang="en-US" sz="1250" dirty="0"/>
          </a:p>
        </p:txBody>
      </p:sp>
      <p:sp>
        <p:nvSpPr>
          <p:cNvPr id="14" name="Shape 10"/>
          <p:cNvSpPr/>
          <p:nvPr/>
        </p:nvSpPr>
        <p:spPr>
          <a:xfrm>
            <a:off x="6172200" y="2889504"/>
            <a:ext cx="5440680" cy="676656"/>
          </a:xfrm>
          <a:prstGeom prst="rect">
            <a:avLst/>
          </a:prstGeom>
          <a:solidFill>
            <a:srgbClr val="DDF0F0"/>
          </a:solidFill>
          <a:ln w="12700">
            <a:solidFill>
              <a:srgbClr val="DDF0F0"/>
            </a:solidFill>
            <a:prstDash val="solid"/>
          </a:ln>
        </p:spPr>
      </p:sp>
      <p:pic>
        <p:nvPicPr>
          <p:cNvPr id="15" name="Image 2" descr="preencoded.png">    </p:cNvPr>
          <p:cNvPicPr>
            <a:picLocks noChangeAspect="1"/>
          </p:cNvPicPr>
          <p:nvPr/>
        </p:nvPicPr>
        <p:blipFill>
          <a:blip r:embed="rId3"/>
          <a:stretch>
            <a:fillRect/>
          </a:stretch>
        </p:blipFill>
        <p:spPr>
          <a:xfrm>
            <a:off x="594360" y="3063240"/>
            <a:ext cx="329184" cy="329184"/>
          </a:xfrm>
          <a:prstGeom prst="rect">
            <a:avLst/>
          </a:prstGeom>
        </p:spPr>
      </p:pic>
      <p:sp>
        <p:nvSpPr>
          <p:cNvPr id="16" name="Text 11"/>
          <p:cNvSpPr txBox="1"/>
          <p:nvPr/>
        </p:nvSpPr>
        <p:spPr>
          <a:xfrm>
            <a:off x="1097280" y="2889504"/>
            <a:ext cx="4846320" cy="676656"/>
          </a:xfrm>
          <a:prstGeom prst="rect">
            <a:avLst/>
          </a:prstGeom>
          <a:noFill/>
          <a:ln/>
        </p:spPr>
        <p:txBody>
          <a:bodyPr wrap="square" lIns="0" tIns="0" rIns="0" bIns="0" rtlCol="0" anchor="ctr"/>
          <a:lstStyle/>
          <a:p>
            <a:pPr indent="0" marL="0">
              <a:buNone/>
            </a:pPr>
            <a:r>
              <a:rPr lang="en-US" sz="1250" dirty="0">
                <a:solidFill>
                  <a:srgbClr val="1F2A36"/>
                </a:solidFill>
                <a:latin typeface="Arial" pitchFamily="34" charset="0"/>
                <a:ea typeface="Arial" pitchFamily="34" charset="-122"/>
                <a:cs typeface="Arial" pitchFamily="34" charset="-120"/>
              </a:rPr>
              <a:t>Comparing velocity between teams</a:t>
            </a:r>
            <a:endParaRPr lang="en-US" sz="1250" dirty="0"/>
          </a:p>
        </p:txBody>
      </p:sp>
      <p:pic>
        <p:nvPicPr>
          <p:cNvPr id="17" name="Image 3" descr="preencoded.png">    </p:cNvPr>
          <p:cNvPicPr>
            <a:picLocks noChangeAspect="1"/>
          </p:cNvPicPr>
          <p:nvPr/>
        </p:nvPicPr>
        <p:blipFill>
          <a:blip r:embed="rId4"/>
          <a:stretch>
            <a:fillRect/>
          </a:stretch>
        </p:blipFill>
        <p:spPr>
          <a:xfrm>
            <a:off x="6355080" y="3063240"/>
            <a:ext cx="329184" cy="329184"/>
          </a:xfrm>
          <a:prstGeom prst="rect">
            <a:avLst/>
          </a:prstGeom>
        </p:spPr>
      </p:pic>
      <p:sp>
        <p:nvSpPr>
          <p:cNvPr id="18" name="Text 12"/>
          <p:cNvSpPr txBox="1"/>
          <p:nvPr/>
        </p:nvSpPr>
        <p:spPr>
          <a:xfrm>
            <a:off x="6812280" y="2889504"/>
            <a:ext cx="4663440" cy="676656"/>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Each team's scale is its own; compare trends, not totals</a:t>
            </a:r>
            <a:endParaRPr lang="en-US" sz="1250" dirty="0"/>
          </a:p>
        </p:txBody>
      </p:sp>
      <p:sp>
        <p:nvSpPr>
          <p:cNvPr id="19" name="Shape 13"/>
          <p:cNvSpPr/>
          <p:nvPr/>
        </p:nvSpPr>
        <p:spPr>
          <a:xfrm>
            <a:off x="6172200" y="3675888"/>
            <a:ext cx="5440680" cy="676656"/>
          </a:xfrm>
          <a:prstGeom prst="rect">
            <a:avLst/>
          </a:prstGeom>
          <a:solidFill>
            <a:srgbClr val="DDF0F0"/>
          </a:solidFill>
          <a:ln w="12700">
            <a:solidFill>
              <a:srgbClr val="DDF0F0"/>
            </a:solidFill>
            <a:prstDash val="solid"/>
          </a:ln>
        </p:spPr>
      </p:sp>
      <p:pic>
        <p:nvPicPr>
          <p:cNvPr id="20" name="Image 4" descr="preencoded.png">    </p:cNvPr>
          <p:cNvPicPr>
            <a:picLocks noChangeAspect="1"/>
          </p:cNvPicPr>
          <p:nvPr/>
        </p:nvPicPr>
        <p:blipFill>
          <a:blip r:embed="rId5"/>
          <a:stretch>
            <a:fillRect/>
          </a:stretch>
        </p:blipFill>
        <p:spPr>
          <a:xfrm>
            <a:off x="594360" y="3849624"/>
            <a:ext cx="329184" cy="329184"/>
          </a:xfrm>
          <a:prstGeom prst="rect">
            <a:avLst/>
          </a:prstGeom>
        </p:spPr>
      </p:pic>
      <p:sp>
        <p:nvSpPr>
          <p:cNvPr id="21" name="Text 14"/>
          <p:cNvSpPr txBox="1"/>
          <p:nvPr/>
        </p:nvSpPr>
        <p:spPr>
          <a:xfrm>
            <a:off x="1097280" y="3675888"/>
            <a:ext cx="4846320" cy="676656"/>
          </a:xfrm>
          <a:prstGeom prst="rect">
            <a:avLst/>
          </a:prstGeom>
          <a:noFill/>
          <a:ln/>
        </p:spPr>
        <p:txBody>
          <a:bodyPr wrap="square" lIns="0" tIns="0" rIns="0" bIns="0" rtlCol="0" anchor="ctr"/>
          <a:lstStyle/>
          <a:p>
            <a:pPr indent="0" marL="0">
              <a:buNone/>
            </a:pPr>
            <a:r>
              <a:rPr lang="en-US" sz="1250" dirty="0">
                <a:solidFill>
                  <a:srgbClr val="1F2A36"/>
                </a:solidFill>
                <a:latin typeface="Arial" pitchFamily="34" charset="0"/>
                <a:ea typeface="Arial" pitchFamily="34" charset="-122"/>
                <a:cs typeface="Arial" pitchFamily="34" charset="-120"/>
              </a:rPr>
              <a:t>Setting velocity targets for the team</a:t>
            </a:r>
            <a:endParaRPr lang="en-US" sz="1250" dirty="0"/>
          </a:p>
        </p:txBody>
      </p:sp>
      <p:pic>
        <p:nvPicPr>
          <p:cNvPr id="22" name="Image 5" descr="preencoded.png">    </p:cNvPr>
          <p:cNvPicPr>
            <a:picLocks noChangeAspect="1"/>
          </p:cNvPicPr>
          <p:nvPr/>
        </p:nvPicPr>
        <p:blipFill>
          <a:blip r:embed="rId6"/>
          <a:stretch>
            <a:fillRect/>
          </a:stretch>
        </p:blipFill>
        <p:spPr>
          <a:xfrm>
            <a:off x="6355080" y="3849624"/>
            <a:ext cx="329184" cy="329184"/>
          </a:xfrm>
          <a:prstGeom prst="rect">
            <a:avLst/>
          </a:prstGeom>
        </p:spPr>
      </p:pic>
      <p:sp>
        <p:nvSpPr>
          <p:cNvPr id="23" name="Text 15"/>
          <p:cNvSpPr txBox="1"/>
          <p:nvPr/>
        </p:nvSpPr>
        <p:spPr>
          <a:xfrm>
            <a:off x="6812280" y="3675888"/>
            <a:ext cx="4663440" cy="676656"/>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Focus on the Sprint Goal and value delivered</a:t>
            </a:r>
            <a:endParaRPr lang="en-US" sz="1250" dirty="0"/>
          </a:p>
        </p:txBody>
      </p:sp>
      <p:sp>
        <p:nvSpPr>
          <p:cNvPr id="24" name="Shape 16"/>
          <p:cNvSpPr/>
          <p:nvPr/>
        </p:nvSpPr>
        <p:spPr>
          <a:xfrm>
            <a:off x="6172200" y="4462272"/>
            <a:ext cx="5440680" cy="676656"/>
          </a:xfrm>
          <a:prstGeom prst="rect">
            <a:avLst/>
          </a:prstGeom>
          <a:solidFill>
            <a:srgbClr val="DDF0F0"/>
          </a:solidFill>
          <a:ln w="12700">
            <a:solidFill>
              <a:srgbClr val="DDF0F0"/>
            </a:solidFill>
            <a:prstDash val="solid"/>
          </a:ln>
        </p:spPr>
      </p:sp>
      <p:pic>
        <p:nvPicPr>
          <p:cNvPr id="25" name="Image 6" descr="preencoded.png">    </p:cNvPr>
          <p:cNvPicPr>
            <a:picLocks noChangeAspect="1"/>
          </p:cNvPicPr>
          <p:nvPr/>
        </p:nvPicPr>
        <p:blipFill>
          <a:blip r:embed="rId7"/>
          <a:stretch>
            <a:fillRect/>
          </a:stretch>
        </p:blipFill>
        <p:spPr>
          <a:xfrm>
            <a:off x="594360" y="4636008"/>
            <a:ext cx="329184" cy="329184"/>
          </a:xfrm>
          <a:prstGeom prst="rect">
            <a:avLst/>
          </a:prstGeom>
        </p:spPr>
      </p:pic>
      <p:sp>
        <p:nvSpPr>
          <p:cNvPr id="26" name="Text 17"/>
          <p:cNvSpPr txBox="1"/>
          <p:nvPr/>
        </p:nvSpPr>
        <p:spPr>
          <a:xfrm>
            <a:off x="1097280" y="4462272"/>
            <a:ext cx="4846320" cy="676656"/>
          </a:xfrm>
          <a:prstGeom prst="rect">
            <a:avLst/>
          </a:prstGeom>
          <a:noFill/>
          <a:ln/>
        </p:spPr>
        <p:txBody>
          <a:bodyPr wrap="square" lIns="0" tIns="0" rIns="0" bIns="0" rtlCol="0" anchor="ctr"/>
          <a:lstStyle/>
          <a:p>
            <a:pPr indent="0" marL="0">
              <a:buNone/>
            </a:pPr>
            <a:r>
              <a:rPr lang="en-US" sz="1250" dirty="0">
                <a:solidFill>
                  <a:srgbClr val="1F2A36"/>
                </a:solidFill>
                <a:latin typeface="Arial" pitchFamily="34" charset="0"/>
                <a:ea typeface="Arial" pitchFamily="34" charset="-122"/>
                <a:cs typeface="Arial" pitchFamily="34" charset="-120"/>
              </a:rPr>
              <a:t>Re-estimating finished items to match actuals</a:t>
            </a:r>
            <a:endParaRPr lang="en-US" sz="1250" dirty="0"/>
          </a:p>
        </p:txBody>
      </p:sp>
      <p:pic>
        <p:nvPicPr>
          <p:cNvPr id="27" name="Image 7" descr="preencoded.png">    </p:cNvPr>
          <p:cNvPicPr>
            <a:picLocks noChangeAspect="1"/>
          </p:cNvPicPr>
          <p:nvPr/>
        </p:nvPicPr>
        <p:blipFill>
          <a:blip r:embed="rId8"/>
          <a:stretch>
            <a:fillRect/>
          </a:stretch>
        </p:blipFill>
        <p:spPr>
          <a:xfrm>
            <a:off x="6355080" y="4636008"/>
            <a:ext cx="329184" cy="329184"/>
          </a:xfrm>
          <a:prstGeom prst="rect">
            <a:avLst/>
          </a:prstGeom>
        </p:spPr>
      </p:pic>
      <p:sp>
        <p:nvSpPr>
          <p:cNvPr id="28" name="Text 18"/>
          <p:cNvSpPr txBox="1"/>
          <p:nvPr/>
        </p:nvSpPr>
        <p:spPr>
          <a:xfrm>
            <a:off x="6812280" y="4462272"/>
            <a:ext cx="4663440" cy="676656"/>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Keep the original estimate; discuss surprises at the Retrospective</a:t>
            </a:r>
            <a:endParaRPr lang="en-US" sz="1250" dirty="0"/>
          </a:p>
        </p:txBody>
      </p:sp>
      <p:sp>
        <p:nvSpPr>
          <p:cNvPr id="29" name="Shape 19"/>
          <p:cNvSpPr/>
          <p:nvPr/>
        </p:nvSpPr>
        <p:spPr>
          <a:xfrm>
            <a:off x="6172200" y="5248656"/>
            <a:ext cx="5440680" cy="676656"/>
          </a:xfrm>
          <a:prstGeom prst="rect">
            <a:avLst/>
          </a:prstGeom>
          <a:solidFill>
            <a:srgbClr val="DDF0F0"/>
          </a:solidFill>
          <a:ln w="12700">
            <a:solidFill>
              <a:srgbClr val="DDF0F0"/>
            </a:solidFill>
            <a:prstDash val="solid"/>
          </a:ln>
        </p:spPr>
      </p:sp>
      <p:pic>
        <p:nvPicPr>
          <p:cNvPr id="30" name="Image 8" descr="preencoded.png">    </p:cNvPr>
          <p:cNvPicPr>
            <a:picLocks noChangeAspect="1"/>
          </p:cNvPicPr>
          <p:nvPr/>
        </p:nvPicPr>
        <p:blipFill>
          <a:blip r:embed="rId9"/>
          <a:stretch>
            <a:fillRect/>
          </a:stretch>
        </p:blipFill>
        <p:spPr>
          <a:xfrm>
            <a:off x="594360" y="5422392"/>
            <a:ext cx="329184" cy="329184"/>
          </a:xfrm>
          <a:prstGeom prst="rect">
            <a:avLst/>
          </a:prstGeom>
        </p:spPr>
      </p:pic>
      <p:sp>
        <p:nvSpPr>
          <p:cNvPr id="31" name="Text 20"/>
          <p:cNvSpPr txBox="1"/>
          <p:nvPr/>
        </p:nvSpPr>
        <p:spPr>
          <a:xfrm>
            <a:off x="1097280" y="5248656"/>
            <a:ext cx="4846320" cy="676656"/>
          </a:xfrm>
          <a:prstGeom prst="rect">
            <a:avLst/>
          </a:prstGeom>
          <a:noFill/>
          <a:ln/>
        </p:spPr>
        <p:txBody>
          <a:bodyPr wrap="square" lIns="0" tIns="0" rIns="0" bIns="0" rtlCol="0" anchor="ctr"/>
          <a:lstStyle/>
          <a:p>
            <a:pPr indent="0" marL="0">
              <a:buNone/>
            </a:pPr>
            <a:r>
              <a:rPr lang="en-US" sz="1250" dirty="0">
                <a:solidFill>
                  <a:srgbClr val="1F2A36"/>
                </a:solidFill>
                <a:latin typeface="Arial" pitchFamily="34" charset="0"/>
                <a:ea typeface="Arial" pitchFamily="34" charset="-122"/>
                <a:cs typeface="Arial" pitchFamily="34" charset="-120"/>
              </a:rPr>
              <a:t>Senior voice speaks first and anchors the room</a:t>
            </a:r>
            <a:endParaRPr lang="en-US" sz="1250" dirty="0"/>
          </a:p>
        </p:txBody>
      </p:sp>
      <p:pic>
        <p:nvPicPr>
          <p:cNvPr id="32" name="Image 9" descr="preencoded.png">    </p:cNvPr>
          <p:cNvPicPr>
            <a:picLocks noChangeAspect="1"/>
          </p:cNvPicPr>
          <p:nvPr/>
        </p:nvPicPr>
        <p:blipFill>
          <a:blip r:embed="rId10"/>
          <a:stretch>
            <a:fillRect/>
          </a:stretch>
        </p:blipFill>
        <p:spPr>
          <a:xfrm>
            <a:off x="6355080" y="5422392"/>
            <a:ext cx="329184" cy="329184"/>
          </a:xfrm>
          <a:prstGeom prst="rect">
            <a:avLst/>
          </a:prstGeom>
        </p:spPr>
      </p:pic>
      <p:sp>
        <p:nvSpPr>
          <p:cNvPr id="33" name="Text 21"/>
          <p:cNvSpPr txBox="1"/>
          <p:nvPr/>
        </p:nvSpPr>
        <p:spPr>
          <a:xfrm>
            <a:off x="6812280" y="5248656"/>
            <a:ext cx="4663440" cy="676656"/>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Simultaneous reveal, then discussion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NEXT STEPS</a:t>
            </a:r>
            <a:endParaRPr lang="en-US" sz="1000" dirty="0"/>
          </a:p>
        </p:txBody>
      </p:sp>
      <p:sp>
        <p:nvSpPr>
          <p:cNvPr id="3" name="Text 1"/>
          <p:cNvSpPr txBox="1"/>
          <p:nvPr/>
        </p:nvSpPr>
        <p:spPr>
          <a:xfrm>
            <a:off x="7040880" y="320040"/>
            <a:ext cx="45994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Estimating with Story Points  |  Team Training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We can put this into practice from the next Sprint with four simple steps</a:t>
            </a:r>
            <a:endParaRPr lang="en-US" sz="2400" dirty="0"/>
          </a:p>
        </p:txBody>
      </p:sp>
      <p:sp>
        <p:nvSpPr>
          <p:cNvPr id="5" name="Text 3"/>
          <p:cNvSpPr txBox="1"/>
          <p:nvPr/>
        </p:nvSpPr>
        <p:spPr>
          <a:xfrm>
            <a:off x="548640" y="6355080"/>
            <a:ext cx="1024128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Team analysis. Story points are a complementary practice; the Scrum Guide (2020) does not prescribe an estimation technique</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12</a:t>
            </a:r>
            <a:endParaRPr lang="en-US" sz="900" dirty="0"/>
          </a:p>
        </p:txBody>
      </p:sp>
      <p:sp>
        <p:nvSpPr>
          <p:cNvPr id="7" name="Shape 5"/>
          <p:cNvSpPr/>
          <p:nvPr/>
        </p:nvSpPr>
        <p:spPr>
          <a:xfrm>
            <a:off x="822960" y="2240280"/>
            <a:ext cx="10515600" cy="0"/>
          </a:xfrm>
          <a:prstGeom prst="line">
            <a:avLst/>
          </a:prstGeom>
          <a:noFill/>
          <a:ln w="25400">
            <a:solidFill>
              <a:srgbClr val="C9D3DC"/>
            </a:solidFill>
            <a:prstDash val="solid"/>
          </a:ln>
        </p:spPr>
      </p:sp>
      <p:sp>
        <p:nvSpPr>
          <p:cNvPr id="8" name="Shape 6"/>
          <p:cNvSpPr/>
          <p:nvPr/>
        </p:nvSpPr>
        <p:spPr>
          <a:xfrm>
            <a:off x="640080" y="2011680"/>
            <a:ext cx="457200" cy="457200"/>
          </a:xfrm>
          <a:prstGeom prst="ellipse">
            <a:avLst/>
          </a:prstGeom>
          <a:solidFill>
            <a:srgbClr val="12355B"/>
          </a:solidFill>
          <a:ln w="25400">
            <a:solidFill>
              <a:srgbClr val="FFFFFF"/>
            </a:solidFill>
            <a:prstDash val="solid"/>
          </a:ln>
        </p:spPr>
      </p:sp>
      <p:sp>
        <p:nvSpPr>
          <p:cNvPr id="9" name="Text 7"/>
          <p:cNvSpPr txBox="1"/>
          <p:nvPr/>
        </p:nvSpPr>
        <p:spPr>
          <a:xfrm>
            <a:off x="548640" y="2651760"/>
            <a:ext cx="256032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STEP 1</a:t>
            </a:r>
            <a:endParaRPr lang="en-US" sz="1000" dirty="0"/>
          </a:p>
        </p:txBody>
      </p:sp>
      <p:sp>
        <p:nvSpPr>
          <p:cNvPr id="10" name="Text 8"/>
          <p:cNvSpPr txBox="1"/>
          <p:nvPr/>
        </p:nvSpPr>
        <p:spPr>
          <a:xfrm>
            <a:off x="548640" y="2926080"/>
            <a:ext cx="2560320" cy="457200"/>
          </a:xfrm>
          <a:prstGeom prst="rect">
            <a:avLst/>
          </a:prstGeom>
          <a:noFill/>
          <a:ln/>
        </p:spPr>
        <p:txBody>
          <a:bodyPr wrap="square" lIns="0" tIns="0" rIns="0" bIns="0" rtlCol="0" anchor="t"/>
          <a:lstStyle/>
          <a:p>
            <a:pPr indent="0" marL="0">
              <a:buNone/>
            </a:pPr>
            <a:r>
              <a:rPr lang="en-US" sz="2000" b="1" dirty="0">
                <a:solidFill>
                  <a:srgbClr val="0B1F33"/>
                </a:solidFill>
                <a:latin typeface="Cambria" pitchFamily="34" charset="0"/>
                <a:ea typeface="Cambria" pitchFamily="34" charset="-122"/>
                <a:cs typeface="Cambria" pitchFamily="34" charset="-120"/>
              </a:rPr>
              <a:t>Anchor</a:t>
            </a:r>
            <a:endParaRPr lang="en-US" sz="2000" dirty="0"/>
          </a:p>
        </p:txBody>
      </p:sp>
      <p:sp>
        <p:nvSpPr>
          <p:cNvPr id="11" name="Text 9"/>
          <p:cNvSpPr txBox="1"/>
          <p:nvPr/>
        </p:nvSpPr>
        <p:spPr>
          <a:xfrm>
            <a:off x="548640" y="3520440"/>
            <a:ext cx="2560320" cy="16459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Choose 3 to 5 reference stories</a:t>
            </a:r>
            <a:endParaRPr lang="en-US" sz="1250" dirty="0"/>
          </a:p>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Agree their sizes as a team</a:t>
            </a:r>
            <a:endParaRPr lang="en-US" sz="1250" dirty="0"/>
          </a:p>
        </p:txBody>
      </p:sp>
      <p:sp>
        <p:nvSpPr>
          <p:cNvPr id="12" name="Shape 10"/>
          <p:cNvSpPr/>
          <p:nvPr/>
        </p:nvSpPr>
        <p:spPr>
          <a:xfrm>
            <a:off x="3474720" y="2011680"/>
            <a:ext cx="457200" cy="457200"/>
          </a:xfrm>
          <a:prstGeom prst="ellipse">
            <a:avLst/>
          </a:prstGeom>
          <a:solidFill>
            <a:srgbClr val="12355B"/>
          </a:solidFill>
          <a:ln w="25400">
            <a:solidFill>
              <a:srgbClr val="FFFFFF"/>
            </a:solidFill>
            <a:prstDash val="solid"/>
          </a:ln>
        </p:spPr>
      </p:sp>
      <p:sp>
        <p:nvSpPr>
          <p:cNvPr id="13" name="Text 11"/>
          <p:cNvSpPr txBox="1"/>
          <p:nvPr/>
        </p:nvSpPr>
        <p:spPr>
          <a:xfrm>
            <a:off x="3383280" y="2651760"/>
            <a:ext cx="256032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STEP 2</a:t>
            </a:r>
            <a:endParaRPr lang="en-US" sz="1000" dirty="0"/>
          </a:p>
        </p:txBody>
      </p:sp>
      <p:sp>
        <p:nvSpPr>
          <p:cNvPr id="14" name="Text 12"/>
          <p:cNvSpPr txBox="1"/>
          <p:nvPr/>
        </p:nvSpPr>
        <p:spPr>
          <a:xfrm>
            <a:off x="3383280" y="2926080"/>
            <a:ext cx="2560320" cy="457200"/>
          </a:xfrm>
          <a:prstGeom prst="rect">
            <a:avLst/>
          </a:prstGeom>
          <a:noFill/>
          <a:ln/>
        </p:spPr>
        <p:txBody>
          <a:bodyPr wrap="square" lIns="0" tIns="0" rIns="0" bIns="0" rtlCol="0" anchor="t"/>
          <a:lstStyle/>
          <a:p>
            <a:pPr indent="0" marL="0">
              <a:buNone/>
            </a:pPr>
            <a:r>
              <a:rPr lang="en-US" sz="2000" b="1" dirty="0">
                <a:solidFill>
                  <a:srgbClr val="0B1F33"/>
                </a:solidFill>
                <a:latin typeface="Cambria" pitchFamily="34" charset="0"/>
                <a:ea typeface="Cambria" pitchFamily="34" charset="-122"/>
                <a:cs typeface="Cambria" pitchFamily="34" charset="-120"/>
              </a:rPr>
              <a:t>Refine</a:t>
            </a:r>
            <a:endParaRPr lang="en-US" sz="2000" dirty="0"/>
          </a:p>
        </p:txBody>
      </p:sp>
      <p:sp>
        <p:nvSpPr>
          <p:cNvPr id="15" name="Text 13"/>
          <p:cNvSpPr txBox="1"/>
          <p:nvPr/>
        </p:nvSpPr>
        <p:spPr>
          <a:xfrm>
            <a:off x="3383280" y="3520440"/>
            <a:ext cx="2560320" cy="16459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Affinity-sort the top of the backlog</a:t>
            </a:r>
            <a:endParaRPr lang="en-US" sz="1250" dirty="0"/>
          </a:p>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Planning Poker only for disagreements</a:t>
            </a:r>
            <a:endParaRPr lang="en-US" sz="1250" dirty="0"/>
          </a:p>
        </p:txBody>
      </p:sp>
      <p:sp>
        <p:nvSpPr>
          <p:cNvPr id="16" name="Shape 14"/>
          <p:cNvSpPr/>
          <p:nvPr/>
        </p:nvSpPr>
        <p:spPr>
          <a:xfrm>
            <a:off x="6309360" y="2011680"/>
            <a:ext cx="457200" cy="457200"/>
          </a:xfrm>
          <a:prstGeom prst="ellipse">
            <a:avLst/>
          </a:prstGeom>
          <a:solidFill>
            <a:srgbClr val="12355B"/>
          </a:solidFill>
          <a:ln w="25400">
            <a:solidFill>
              <a:srgbClr val="FFFFFF"/>
            </a:solidFill>
            <a:prstDash val="solid"/>
          </a:ln>
        </p:spPr>
      </p:sp>
      <p:sp>
        <p:nvSpPr>
          <p:cNvPr id="17" name="Text 15"/>
          <p:cNvSpPr txBox="1"/>
          <p:nvPr/>
        </p:nvSpPr>
        <p:spPr>
          <a:xfrm>
            <a:off x="6217920" y="2651760"/>
            <a:ext cx="256032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STEP 3</a:t>
            </a:r>
            <a:endParaRPr lang="en-US" sz="1000" dirty="0"/>
          </a:p>
        </p:txBody>
      </p:sp>
      <p:sp>
        <p:nvSpPr>
          <p:cNvPr id="18" name="Text 16"/>
          <p:cNvSpPr txBox="1"/>
          <p:nvPr/>
        </p:nvSpPr>
        <p:spPr>
          <a:xfrm>
            <a:off x="6217920" y="2926080"/>
            <a:ext cx="2560320" cy="457200"/>
          </a:xfrm>
          <a:prstGeom prst="rect">
            <a:avLst/>
          </a:prstGeom>
          <a:noFill/>
          <a:ln/>
        </p:spPr>
        <p:txBody>
          <a:bodyPr wrap="square" lIns="0" tIns="0" rIns="0" bIns="0" rtlCol="0" anchor="t"/>
          <a:lstStyle/>
          <a:p>
            <a:pPr indent="0" marL="0">
              <a:buNone/>
            </a:pPr>
            <a:r>
              <a:rPr lang="en-US" sz="2000" b="1" dirty="0">
                <a:solidFill>
                  <a:srgbClr val="0B1F33"/>
                </a:solidFill>
                <a:latin typeface="Cambria" pitchFamily="34" charset="0"/>
                <a:ea typeface="Cambria" pitchFamily="34" charset="-122"/>
                <a:cs typeface="Cambria" pitchFamily="34" charset="-120"/>
              </a:rPr>
              <a:t>Plan</a:t>
            </a:r>
            <a:endParaRPr lang="en-US" sz="2000" dirty="0"/>
          </a:p>
        </p:txBody>
      </p:sp>
      <p:sp>
        <p:nvSpPr>
          <p:cNvPr id="19" name="Text 17"/>
          <p:cNvSpPr txBox="1"/>
          <p:nvPr/>
        </p:nvSpPr>
        <p:spPr>
          <a:xfrm>
            <a:off x="6217920" y="3520440"/>
            <a:ext cx="2560320" cy="16459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Use the recent velocity range</a:t>
            </a:r>
            <a:endParaRPr lang="en-US" sz="1250" dirty="0"/>
          </a:p>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Commit to a Sprint Goal, not a number</a:t>
            </a:r>
            <a:endParaRPr lang="en-US" sz="1250" dirty="0"/>
          </a:p>
        </p:txBody>
      </p:sp>
      <p:sp>
        <p:nvSpPr>
          <p:cNvPr id="20" name="Shape 18"/>
          <p:cNvSpPr/>
          <p:nvPr/>
        </p:nvSpPr>
        <p:spPr>
          <a:xfrm>
            <a:off x="9144000" y="2011680"/>
            <a:ext cx="457200" cy="457200"/>
          </a:xfrm>
          <a:prstGeom prst="ellipse">
            <a:avLst/>
          </a:prstGeom>
          <a:solidFill>
            <a:srgbClr val="0A8F8F"/>
          </a:solidFill>
          <a:ln w="25400">
            <a:solidFill>
              <a:srgbClr val="FFFFFF"/>
            </a:solidFill>
            <a:prstDash val="solid"/>
          </a:ln>
        </p:spPr>
      </p:sp>
      <p:sp>
        <p:nvSpPr>
          <p:cNvPr id="21" name="Text 19"/>
          <p:cNvSpPr txBox="1"/>
          <p:nvPr/>
        </p:nvSpPr>
        <p:spPr>
          <a:xfrm>
            <a:off x="9052560" y="2651760"/>
            <a:ext cx="256032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STEP 4</a:t>
            </a:r>
            <a:endParaRPr lang="en-US" sz="1000" dirty="0"/>
          </a:p>
        </p:txBody>
      </p:sp>
      <p:sp>
        <p:nvSpPr>
          <p:cNvPr id="22" name="Text 20"/>
          <p:cNvSpPr txBox="1"/>
          <p:nvPr/>
        </p:nvSpPr>
        <p:spPr>
          <a:xfrm>
            <a:off x="9052560" y="2926080"/>
            <a:ext cx="2560320" cy="457200"/>
          </a:xfrm>
          <a:prstGeom prst="rect">
            <a:avLst/>
          </a:prstGeom>
          <a:noFill/>
          <a:ln/>
        </p:spPr>
        <p:txBody>
          <a:bodyPr wrap="square" lIns="0" tIns="0" rIns="0" bIns="0" rtlCol="0" anchor="t"/>
          <a:lstStyle/>
          <a:p>
            <a:pPr indent="0" marL="0">
              <a:buNone/>
            </a:pPr>
            <a:r>
              <a:rPr lang="en-US" sz="2000" b="1" dirty="0">
                <a:solidFill>
                  <a:srgbClr val="0B1F33"/>
                </a:solidFill>
                <a:latin typeface="Cambria" pitchFamily="34" charset="0"/>
                <a:ea typeface="Cambria" pitchFamily="34" charset="-122"/>
                <a:cs typeface="Cambria" pitchFamily="34" charset="-120"/>
              </a:rPr>
              <a:t>Inspect</a:t>
            </a:r>
            <a:endParaRPr lang="en-US" sz="2000" dirty="0"/>
          </a:p>
        </p:txBody>
      </p:sp>
      <p:sp>
        <p:nvSpPr>
          <p:cNvPr id="23" name="Text 21"/>
          <p:cNvSpPr txBox="1"/>
          <p:nvPr/>
        </p:nvSpPr>
        <p:spPr>
          <a:xfrm>
            <a:off x="9052560" y="3520440"/>
            <a:ext cx="2560320" cy="16459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Review surprises at the Retrospective</a:t>
            </a:r>
            <a:endParaRPr lang="en-US" sz="1250" dirty="0"/>
          </a:p>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Adjust reference stories if needed</a:t>
            </a:r>
            <a:endParaRPr lang="en-US" sz="1250" dirty="0"/>
          </a:p>
        </p:txBody>
      </p:sp>
      <p:sp>
        <p:nvSpPr>
          <p:cNvPr id="24" name="Shape 22"/>
          <p:cNvSpPr/>
          <p:nvPr/>
        </p:nvSpPr>
        <p:spPr>
          <a:xfrm>
            <a:off x="548640" y="5440680"/>
            <a:ext cx="11064240" cy="640080"/>
          </a:xfrm>
          <a:prstGeom prst="rect">
            <a:avLst/>
          </a:prstGeom>
          <a:solidFill>
            <a:srgbClr val="EEF3F6"/>
          </a:solidFill>
          <a:ln w="12700">
            <a:solidFill>
              <a:srgbClr val="EEF3F6"/>
            </a:solidFill>
            <a:prstDash val="solid"/>
          </a:ln>
        </p:spPr>
      </p:sp>
      <p:sp>
        <p:nvSpPr>
          <p:cNvPr id="25" name="Text 23"/>
          <p:cNvSpPr txBox="1"/>
          <p:nvPr/>
        </p:nvSpPr>
        <p:spPr>
          <a:xfrm>
            <a:off x="777240" y="5440680"/>
            <a:ext cx="10607040" cy="640080"/>
          </a:xfrm>
          <a:prstGeom prst="rect">
            <a:avLst/>
          </a:prstGeom>
          <a:noFill/>
          <a:ln/>
        </p:spPr>
        <p:txBody>
          <a:bodyPr wrap="square" lIns="0" tIns="0" rIns="0" bIns="0" rtlCol="0" anchor="ctr"/>
          <a:lstStyle/>
          <a:p>
            <a:pPr indent="0" marL="0">
              <a:buNone/>
            </a:pPr>
            <a:r>
              <a:rPr lang="en-US" sz="1300" b="1" dirty="0">
                <a:solidFill>
                  <a:srgbClr val="0A8F8F"/>
                </a:solidFill>
                <a:latin typeface="Arial" pitchFamily="34" charset="0"/>
                <a:ea typeface="Arial" pitchFamily="34" charset="-122"/>
                <a:cs typeface="Arial" pitchFamily="34" charset="-120"/>
              </a:rPr>
              <a:t>Target: </a:t>
            </a:r>
            <a:pPr indent="0" marL="0">
              <a:buNone/>
            </a:pPr>
            <a:r>
              <a:rPr lang="en-US" sz="1300" dirty="0">
                <a:solidFill>
                  <a:srgbClr val="1F2A36"/>
                </a:solidFill>
                <a:latin typeface="Arial" pitchFamily="34" charset="0"/>
                <a:ea typeface="Arial" pitchFamily="34" charset="-122"/>
                <a:cs typeface="Arial" pitchFamily="34" charset="-120"/>
              </a:rPr>
              <a:t>refinement sessions where most items are sized in under 3 minutes, and Sprint forecasts the team genuinely believes in.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731520" y="548640"/>
            <a:ext cx="5486400" cy="274320"/>
          </a:xfrm>
          <a:prstGeom prst="rect">
            <a:avLst/>
          </a:prstGeom>
          <a:noFill/>
          <a:ln/>
        </p:spPr>
        <p:txBody>
          <a:bodyPr wrap="square" lIns="0" tIns="0" rIns="0" bIns="0" rtlCol="0" anchor="t"/>
          <a:lstStyle/>
          <a:p>
            <a:pPr indent="0" marL="0">
              <a:buNone/>
            </a:pPr>
            <a:r>
              <a:rPr lang="en-US" sz="1100" b="1" spc="300" kern="0" dirty="0">
                <a:solidFill>
                  <a:srgbClr val="7FD1D1"/>
                </a:solidFill>
                <a:latin typeface="Arial" pitchFamily="34" charset="0"/>
                <a:ea typeface="Arial" pitchFamily="34" charset="-122"/>
                <a:cs typeface="Arial" pitchFamily="34" charset="-120"/>
              </a:rPr>
              <a:t>KEY TAKEAWAYS</a:t>
            </a:r>
            <a:endParaRPr lang="en-US" sz="1100" dirty="0"/>
          </a:p>
        </p:txBody>
      </p:sp>
      <p:sp>
        <p:nvSpPr>
          <p:cNvPr id="3" name="Text 1"/>
          <p:cNvSpPr txBox="1"/>
          <p:nvPr/>
        </p:nvSpPr>
        <p:spPr>
          <a:xfrm>
            <a:off x="731520" y="868680"/>
            <a:ext cx="10058400" cy="7315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Four things to remember from this session</a:t>
            </a:r>
            <a:endParaRPr lang="en-US" sz="3000" dirty="0"/>
          </a:p>
        </p:txBody>
      </p:sp>
      <p:sp>
        <p:nvSpPr>
          <p:cNvPr id="4" name="Text 2"/>
          <p:cNvSpPr txBox="1"/>
          <p:nvPr/>
        </p:nvSpPr>
        <p:spPr>
          <a:xfrm>
            <a:off x="731520" y="2011680"/>
            <a:ext cx="914400" cy="731520"/>
          </a:xfrm>
          <a:prstGeom prst="rect">
            <a:avLst/>
          </a:prstGeom>
          <a:noFill/>
          <a:ln/>
        </p:spPr>
        <p:txBody>
          <a:bodyPr wrap="square" lIns="0" tIns="0" rIns="0" bIns="0" rtlCol="0" anchor="t"/>
          <a:lstStyle/>
          <a:p>
            <a:pPr indent="0" marL="0">
              <a:buNone/>
            </a:pPr>
            <a:r>
              <a:rPr lang="en-US" sz="3600" b="1" dirty="0">
                <a:solidFill>
                  <a:srgbClr val="0A8F8F"/>
                </a:solidFill>
                <a:latin typeface="Cambria" pitchFamily="34" charset="0"/>
                <a:ea typeface="Cambria" pitchFamily="34" charset="-122"/>
                <a:cs typeface="Cambria" pitchFamily="34" charset="-120"/>
              </a:rPr>
              <a:t>01</a:t>
            </a:r>
            <a:endParaRPr lang="en-US" sz="3600" dirty="0"/>
          </a:p>
        </p:txBody>
      </p:sp>
      <p:sp>
        <p:nvSpPr>
          <p:cNvPr id="5" name="Text 3"/>
          <p:cNvSpPr txBox="1"/>
          <p:nvPr/>
        </p:nvSpPr>
        <p:spPr>
          <a:xfrm>
            <a:off x="1737360" y="2057400"/>
            <a:ext cx="411480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Compare, do not predict</a:t>
            </a:r>
            <a:endParaRPr lang="en-US" sz="1800" dirty="0"/>
          </a:p>
        </p:txBody>
      </p:sp>
      <p:sp>
        <p:nvSpPr>
          <p:cNvPr id="6" name="Text 4"/>
          <p:cNvSpPr txBox="1"/>
          <p:nvPr/>
        </p:nvSpPr>
        <p:spPr>
          <a:xfrm>
            <a:off x="1737360" y="2514600"/>
            <a:ext cx="4114800" cy="822960"/>
          </a:xfrm>
          <a:prstGeom prst="rect">
            <a:avLst/>
          </a:prstGeom>
          <a:noFill/>
          <a:ln/>
        </p:spPr>
        <p:txBody>
          <a:bodyPr wrap="square" lIns="0" tIns="0" rIns="0" bIns="0" rtlCol="0" anchor="t"/>
          <a:lstStyle/>
          <a:p>
            <a:pPr indent="0" marL="0">
              <a:buNone/>
            </a:pPr>
            <a:r>
              <a:rPr lang="en-US" sz="1300" dirty="0">
                <a:solidFill>
                  <a:srgbClr val="C8D6E3"/>
                </a:solidFill>
                <a:latin typeface="Arial" pitchFamily="34" charset="0"/>
                <a:ea typeface="Arial" pitchFamily="34" charset="-122"/>
                <a:cs typeface="Arial" pitchFamily="34" charset="-120"/>
              </a:rPr>
              <a:t>Size items against reference stories, not in hours.</a:t>
            </a:r>
            <a:endParaRPr lang="en-US" sz="1300" dirty="0"/>
          </a:p>
        </p:txBody>
      </p:sp>
      <p:sp>
        <p:nvSpPr>
          <p:cNvPr id="7" name="Text 5"/>
          <p:cNvSpPr txBox="1"/>
          <p:nvPr/>
        </p:nvSpPr>
        <p:spPr>
          <a:xfrm>
            <a:off x="6217920" y="2011680"/>
            <a:ext cx="914400" cy="731520"/>
          </a:xfrm>
          <a:prstGeom prst="rect">
            <a:avLst/>
          </a:prstGeom>
          <a:noFill/>
          <a:ln/>
        </p:spPr>
        <p:txBody>
          <a:bodyPr wrap="square" lIns="0" tIns="0" rIns="0" bIns="0" rtlCol="0" anchor="t"/>
          <a:lstStyle/>
          <a:p>
            <a:pPr indent="0" marL="0">
              <a:buNone/>
            </a:pPr>
            <a:r>
              <a:rPr lang="en-US" sz="3600" b="1" dirty="0">
                <a:solidFill>
                  <a:srgbClr val="0A8F8F"/>
                </a:solidFill>
                <a:latin typeface="Cambria" pitchFamily="34" charset="0"/>
                <a:ea typeface="Cambria" pitchFamily="34" charset="-122"/>
                <a:cs typeface="Cambria" pitchFamily="34" charset="-120"/>
              </a:rPr>
              <a:t>02</a:t>
            </a:r>
            <a:endParaRPr lang="en-US" sz="3600" dirty="0"/>
          </a:p>
        </p:txBody>
      </p:sp>
      <p:sp>
        <p:nvSpPr>
          <p:cNvPr id="8" name="Text 6"/>
          <p:cNvSpPr txBox="1"/>
          <p:nvPr/>
        </p:nvSpPr>
        <p:spPr>
          <a:xfrm>
            <a:off x="7223760" y="2057400"/>
            <a:ext cx="411480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Points mean size</a:t>
            </a:r>
            <a:endParaRPr lang="en-US" sz="1800" dirty="0"/>
          </a:p>
        </p:txBody>
      </p:sp>
      <p:sp>
        <p:nvSpPr>
          <p:cNvPr id="9" name="Text 7"/>
          <p:cNvSpPr txBox="1"/>
          <p:nvPr/>
        </p:nvSpPr>
        <p:spPr>
          <a:xfrm>
            <a:off x="7223760" y="2514600"/>
            <a:ext cx="4114800" cy="822960"/>
          </a:xfrm>
          <a:prstGeom prst="rect">
            <a:avLst/>
          </a:prstGeom>
          <a:noFill/>
          <a:ln/>
        </p:spPr>
        <p:txBody>
          <a:bodyPr wrap="square" lIns="0" tIns="0" rIns="0" bIns="0" rtlCol="0" anchor="t"/>
          <a:lstStyle/>
          <a:p>
            <a:pPr indent="0" marL="0">
              <a:buNone/>
            </a:pPr>
            <a:r>
              <a:rPr lang="en-US" sz="1300" dirty="0">
                <a:solidFill>
                  <a:srgbClr val="C8D6E3"/>
                </a:solidFill>
                <a:latin typeface="Arial" pitchFamily="34" charset="0"/>
                <a:ea typeface="Arial" pitchFamily="34" charset="-122"/>
                <a:cs typeface="Arial" pitchFamily="34" charset="-120"/>
              </a:rPr>
              <a:t>Effort, complexity and uncertainty, owned by the Developers.</a:t>
            </a:r>
            <a:endParaRPr lang="en-US" sz="1300" dirty="0"/>
          </a:p>
        </p:txBody>
      </p:sp>
      <p:sp>
        <p:nvSpPr>
          <p:cNvPr id="10" name="Text 8"/>
          <p:cNvSpPr txBox="1"/>
          <p:nvPr/>
        </p:nvSpPr>
        <p:spPr>
          <a:xfrm>
            <a:off x="731520" y="3794760"/>
            <a:ext cx="914400" cy="731520"/>
          </a:xfrm>
          <a:prstGeom prst="rect">
            <a:avLst/>
          </a:prstGeom>
          <a:noFill/>
          <a:ln/>
        </p:spPr>
        <p:txBody>
          <a:bodyPr wrap="square" lIns="0" tIns="0" rIns="0" bIns="0" rtlCol="0" anchor="t"/>
          <a:lstStyle/>
          <a:p>
            <a:pPr indent="0" marL="0">
              <a:buNone/>
            </a:pPr>
            <a:r>
              <a:rPr lang="en-US" sz="3600" b="1" dirty="0">
                <a:solidFill>
                  <a:srgbClr val="0A8F8F"/>
                </a:solidFill>
                <a:latin typeface="Cambria" pitchFamily="34" charset="0"/>
                <a:ea typeface="Cambria" pitchFamily="34" charset="-122"/>
                <a:cs typeface="Cambria" pitchFamily="34" charset="-120"/>
              </a:rPr>
              <a:t>03</a:t>
            </a:r>
            <a:endParaRPr lang="en-US" sz="3600" dirty="0"/>
          </a:p>
        </p:txBody>
      </p:sp>
      <p:sp>
        <p:nvSpPr>
          <p:cNvPr id="11" name="Text 9"/>
          <p:cNvSpPr txBox="1"/>
          <p:nvPr/>
        </p:nvSpPr>
        <p:spPr>
          <a:xfrm>
            <a:off x="1737360" y="3840480"/>
            <a:ext cx="411480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Speed comes from rules</a:t>
            </a:r>
            <a:endParaRPr lang="en-US" sz="1800" dirty="0"/>
          </a:p>
        </p:txBody>
      </p:sp>
      <p:sp>
        <p:nvSpPr>
          <p:cNvPr id="12" name="Text 10"/>
          <p:cNvSpPr txBox="1"/>
          <p:nvPr/>
        </p:nvSpPr>
        <p:spPr>
          <a:xfrm>
            <a:off x="1737360" y="4297680"/>
            <a:ext cx="4114800" cy="822960"/>
          </a:xfrm>
          <a:prstGeom prst="rect">
            <a:avLst/>
          </a:prstGeom>
          <a:noFill/>
          <a:ln/>
        </p:spPr>
        <p:txBody>
          <a:bodyPr wrap="square" lIns="0" tIns="0" rIns="0" bIns="0" rtlCol="0" anchor="t"/>
          <a:lstStyle/>
          <a:p>
            <a:pPr indent="0" marL="0">
              <a:buNone/>
            </a:pPr>
            <a:r>
              <a:rPr lang="en-US" sz="1300" dirty="0">
                <a:solidFill>
                  <a:srgbClr val="C8D6E3"/>
                </a:solidFill>
                <a:latin typeface="Arial" pitchFamily="34" charset="0"/>
                <a:ea typeface="Arial" pitchFamily="34" charset="-122"/>
                <a:cs typeface="Arial" pitchFamily="34" charset="-120"/>
              </a:rPr>
              <a:t>Timebox items, split big ones, and move on from adjacent votes.</a:t>
            </a:r>
            <a:endParaRPr lang="en-US" sz="1300" dirty="0"/>
          </a:p>
        </p:txBody>
      </p:sp>
      <p:sp>
        <p:nvSpPr>
          <p:cNvPr id="13" name="Text 11"/>
          <p:cNvSpPr txBox="1"/>
          <p:nvPr/>
        </p:nvSpPr>
        <p:spPr>
          <a:xfrm>
            <a:off x="6217920" y="3794760"/>
            <a:ext cx="914400" cy="731520"/>
          </a:xfrm>
          <a:prstGeom prst="rect">
            <a:avLst/>
          </a:prstGeom>
          <a:noFill/>
          <a:ln/>
        </p:spPr>
        <p:txBody>
          <a:bodyPr wrap="square" lIns="0" tIns="0" rIns="0" bIns="0" rtlCol="0" anchor="t"/>
          <a:lstStyle/>
          <a:p>
            <a:pPr indent="0" marL="0">
              <a:buNone/>
            </a:pPr>
            <a:r>
              <a:rPr lang="en-US" sz="3600" b="1" dirty="0">
                <a:solidFill>
                  <a:srgbClr val="0A8F8F"/>
                </a:solidFill>
                <a:latin typeface="Cambria" pitchFamily="34" charset="0"/>
                <a:ea typeface="Cambria" pitchFamily="34" charset="-122"/>
                <a:cs typeface="Cambria" pitchFamily="34" charset="-120"/>
              </a:rPr>
              <a:t>04</a:t>
            </a:r>
            <a:endParaRPr lang="en-US" sz="3600" dirty="0"/>
          </a:p>
        </p:txBody>
      </p:sp>
      <p:sp>
        <p:nvSpPr>
          <p:cNvPr id="14" name="Text 12"/>
          <p:cNvSpPr txBox="1"/>
          <p:nvPr/>
        </p:nvSpPr>
        <p:spPr>
          <a:xfrm>
            <a:off x="7223760" y="3840480"/>
            <a:ext cx="411480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Forecast in ranges</a:t>
            </a:r>
            <a:endParaRPr lang="en-US" sz="1800" dirty="0"/>
          </a:p>
        </p:txBody>
      </p:sp>
      <p:sp>
        <p:nvSpPr>
          <p:cNvPr id="15" name="Text 13"/>
          <p:cNvSpPr txBox="1"/>
          <p:nvPr/>
        </p:nvSpPr>
        <p:spPr>
          <a:xfrm>
            <a:off x="7223760" y="4297680"/>
            <a:ext cx="4114800" cy="822960"/>
          </a:xfrm>
          <a:prstGeom prst="rect">
            <a:avLst/>
          </a:prstGeom>
          <a:noFill/>
          <a:ln/>
        </p:spPr>
        <p:txBody>
          <a:bodyPr wrap="square" lIns="0" tIns="0" rIns="0" bIns="0" rtlCol="0" anchor="t"/>
          <a:lstStyle/>
          <a:p>
            <a:pPr indent="0" marL="0">
              <a:buNone/>
            </a:pPr>
            <a:r>
              <a:rPr lang="en-US" sz="1300" dirty="0">
                <a:solidFill>
                  <a:srgbClr val="C8D6E3"/>
                </a:solidFill>
                <a:latin typeface="Arial" pitchFamily="34" charset="0"/>
                <a:ea typeface="Arial" pitchFamily="34" charset="-122"/>
                <a:cs typeface="Arial" pitchFamily="34" charset="-120"/>
              </a:rPr>
              <a:t>Use recent velocity for credible forecasts; never as a target.</a:t>
            </a:r>
            <a:endParaRPr lang="en-US" sz="1300" dirty="0"/>
          </a:p>
        </p:txBody>
      </p:sp>
      <p:sp>
        <p:nvSpPr>
          <p:cNvPr id="16" name="Text 14"/>
          <p:cNvSpPr txBox="1"/>
          <p:nvPr/>
        </p:nvSpPr>
        <p:spPr>
          <a:xfrm>
            <a:off x="731520" y="5943600"/>
            <a:ext cx="10058400" cy="365760"/>
          </a:xfrm>
          <a:prstGeom prst="rect">
            <a:avLst/>
          </a:prstGeom>
          <a:noFill/>
          <a:ln/>
        </p:spPr>
        <p:txBody>
          <a:bodyPr wrap="square" lIns="0" tIns="0" rIns="0" bIns="0" rtlCol="0" anchor="t"/>
          <a:lstStyle/>
          <a:p>
            <a:pPr indent="0" marL="0">
              <a:buNone/>
            </a:pPr>
            <a:r>
              <a:rPr lang="en-US" sz="1200" dirty="0">
                <a:solidFill>
                  <a:srgbClr val="7FD1D1"/>
                </a:solidFill>
                <a:latin typeface="Arial" pitchFamily="34" charset="0"/>
                <a:ea typeface="Arial" pitchFamily="34" charset="-122"/>
                <a:cs typeface="Arial" pitchFamily="34" charset="-120"/>
              </a:rPr>
              <a:t>Questions? Speak to your Scrum Master  |  Further reading: M. Cohn, Agile Estimating and Planning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Estimating with Story Points</dc:title>
  <dc:subject>PptxGenJS Presentation</dc:subject>
  <dc:creator>PptxGenJS</dc:creator>
  <cp:lastModifiedBy>PptxGenJS</cp:lastModifiedBy>
  <cp:revision>1</cp:revision>
  <dcterms:created xsi:type="dcterms:W3CDTF">2026-09-23T17:32:55Z</dcterms:created>
  <dcterms:modified xsi:type="dcterms:W3CDTF">2026-09-23T17:32:55Z</dcterms:modified>
</cp:coreProperties>
</file>